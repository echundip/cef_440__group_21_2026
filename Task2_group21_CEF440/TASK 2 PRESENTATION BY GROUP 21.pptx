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C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35" d="100"/>
          <a:sy n="35" d="100"/>
        </p:scale>
        <p:origin x="54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2088F-9D36-8899-09B7-CE151640D4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M"/>
          </a:p>
        </p:txBody>
      </p:sp>
      <p:sp>
        <p:nvSpPr>
          <p:cNvPr id="3" name="Subtitle 2">
            <a:extLst>
              <a:ext uri="{FF2B5EF4-FFF2-40B4-BE49-F238E27FC236}">
                <a16:creationId xmlns:a16="http://schemas.microsoft.com/office/drawing/2014/main" id="{9EE93C49-657F-56DF-EE32-B15382FEBA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M"/>
          </a:p>
        </p:txBody>
      </p:sp>
      <p:sp>
        <p:nvSpPr>
          <p:cNvPr id="4" name="Date Placeholder 3">
            <a:extLst>
              <a:ext uri="{FF2B5EF4-FFF2-40B4-BE49-F238E27FC236}">
                <a16:creationId xmlns:a16="http://schemas.microsoft.com/office/drawing/2014/main" id="{70E8FE23-0C5B-5FE8-F49A-8F46975D6C26}"/>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5" name="Footer Placeholder 4">
            <a:extLst>
              <a:ext uri="{FF2B5EF4-FFF2-40B4-BE49-F238E27FC236}">
                <a16:creationId xmlns:a16="http://schemas.microsoft.com/office/drawing/2014/main" id="{BA6D2215-7ABA-BBFB-B3A3-295F23F1FB5F}"/>
              </a:ext>
            </a:extLst>
          </p:cNvPr>
          <p:cNvSpPr>
            <a:spLocks noGrp="1"/>
          </p:cNvSpPr>
          <p:nvPr>
            <p:ph type="ftr" sz="quarter" idx="11"/>
          </p:nvPr>
        </p:nvSpPr>
        <p:spPr/>
        <p:txBody>
          <a:bodyPr/>
          <a:lstStyle/>
          <a:p>
            <a:endParaRPr lang="en-CM"/>
          </a:p>
        </p:txBody>
      </p:sp>
      <p:sp>
        <p:nvSpPr>
          <p:cNvPr id="6" name="Slide Number Placeholder 5">
            <a:extLst>
              <a:ext uri="{FF2B5EF4-FFF2-40B4-BE49-F238E27FC236}">
                <a16:creationId xmlns:a16="http://schemas.microsoft.com/office/drawing/2014/main" id="{FD53010F-2773-2739-C0A4-5830D11E0957}"/>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3950025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966B-505F-D91F-53AF-609FE242A064}"/>
              </a:ext>
            </a:extLst>
          </p:cNvPr>
          <p:cNvSpPr>
            <a:spLocks noGrp="1"/>
          </p:cNvSpPr>
          <p:nvPr>
            <p:ph type="title"/>
          </p:nvPr>
        </p:nvSpPr>
        <p:spPr/>
        <p:txBody>
          <a:bodyPr/>
          <a:lstStyle/>
          <a:p>
            <a:r>
              <a:rPr lang="en-US"/>
              <a:t>Click to edit Master title style</a:t>
            </a:r>
            <a:endParaRPr lang="en-CM"/>
          </a:p>
        </p:txBody>
      </p:sp>
      <p:sp>
        <p:nvSpPr>
          <p:cNvPr id="3" name="Content Placeholder 2">
            <a:extLst>
              <a:ext uri="{FF2B5EF4-FFF2-40B4-BE49-F238E27FC236}">
                <a16:creationId xmlns:a16="http://schemas.microsoft.com/office/drawing/2014/main" id="{D1875DD2-7E54-8F60-CD5B-C26F61B087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4" name="Date Placeholder 3">
            <a:extLst>
              <a:ext uri="{FF2B5EF4-FFF2-40B4-BE49-F238E27FC236}">
                <a16:creationId xmlns:a16="http://schemas.microsoft.com/office/drawing/2014/main" id="{827A349A-74E4-4499-D27A-AD7C1632E14D}"/>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5" name="Footer Placeholder 4">
            <a:extLst>
              <a:ext uri="{FF2B5EF4-FFF2-40B4-BE49-F238E27FC236}">
                <a16:creationId xmlns:a16="http://schemas.microsoft.com/office/drawing/2014/main" id="{71C724BA-D478-DC92-18E6-E8E78D48ACCC}"/>
              </a:ext>
            </a:extLst>
          </p:cNvPr>
          <p:cNvSpPr>
            <a:spLocks noGrp="1"/>
          </p:cNvSpPr>
          <p:nvPr>
            <p:ph type="ftr" sz="quarter" idx="11"/>
          </p:nvPr>
        </p:nvSpPr>
        <p:spPr/>
        <p:txBody>
          <a:bodyPr/>
          <a:lstStyle/>
          <a:p>
            <a:endParaRPr lang="en-CM"/>
          </a:p>
        </p:txBody>
      </p:sp>
      <p:sp>
        <p:nvSpPr>
          <p:cNvPr id="6" name="Slide Number Placeholder 5">
            <a:extLst>
              <a:ext uri="{FF2B5EF4-FFF2-40B4-BE49-F238E27FC236}">
                <a16:creationId xmlns:a16="http://schemas.microsoft.com/office/drawing/2014/main" id="{FADD4A29-83B7-3E96-A179-98E8CDD3AEEE}"/>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91061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8E491-343B-736C-257C-FB69351BE1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M"/>
          </a:p>
        </p:txBody>
      </p:sp>
      <p:sp>
        <p:nvSpPr>
          <p:cNvPr id="3" name="Text Placeholder 2">
            <a:extLst>
              <a:ext uri="{FF2B5EF4-FFF2-40B4-BE49-F238E27FC236}">
                <a16:creationId xmlns:a16="http://schemas.microsoft.com/office/drawing/2014/main" id="{0CE917E2-929C-7248-CCF5-DEE824421E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A9127B-F69C-F934-C40E-18543C1C62A9}"/>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5" name="Footer Placeholder 4">
            <a:extLst>
              <a:ext uri="{FF2B5EF4-FFF2-40B4-BE49-F238E27FC236}">
                <a16:creationId xmlns:a16="http://schemas.microsoft.com/office/drawing/2014/main" id="{CBFE41FE-1A5D-4874-CDE3-80E477E1D786}"/>
              </a:ext>
            </a:extLst>
          </p:cNvPr>
          <p:cNvSpPr>
            <a:spLocks noGrp="1"/>
          </p:cNvSpPr>
          <p:nvPr>
            <p:ph type="ftr" sz="quarter" idx="11"/>
          </p:nvPr>
        </p:nvSpPr>
        <p:spPr/>
        <p:txBody>
          <a:bodyPr/>
          <a:lstStyle/>
          <a:p>
            <a:endParaRPr lang="en-CM"/>
          </a:p>
        </p:txBody>
      </p:sp>
      <p:sp>
        <p:nvSpPr>
          <p:cNvPr id="6" name="Slide Number Placeholder 5">
            <a:extLst>
              <a:ext uri="{FF2B5EF4-FFF2-40B4-BE49-F238E27FC236}">
                <a16:creationId xmlns:a16="http://schemas.microsoft.com/office/drawing/2014/main" id="{79C8AF61-77A3-9FE4-BC83-501E7B35CC27}"/>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580895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9096C-B3EA-E683-D25F-56B6D926E1EB}"/>
              </a:ext>
            </a:extLst>
          </p:cNvPr>
          <p:cNvSpPr>
            <a:spLocks noGrp="1"/>
          </p:cNvSpPr>
          <p:nvPr>
            <p:ph type="title"/>
          </p:nvPr>
        </p:nvSpPr>
        <p:spPr/>
        <p:txBody>
          <a:bodyPr/>
          <a:lstStyle/>
          <a:p>
            <a:r>
              <a:rPr lang="en-US"/>
              <a:t>Click to edit Master title style</a:t>
            </a:r>
            <a:endParaRPr lang="en-CM"/>
          </a:p>
        </p:txBody>
      </p:sp>
      <p:sp>
        <p:nvSpPr>
          <p:cNvPr id="3" name="Content Placeholder 2">
            <a:extLst>
              <a:ext uri="{FF2B5EF4-FFF2-40B4-BE49-F238E27FC236}">
                <a16:creationId xmlns:a16="http://schemas.microsoft.com/office/drawing/2014/main" id="{FAFD5566-68F1-AB05-B20F-10671C4F3D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4" name="Content Placeholder 3">
            <a:extLst>
              <a:ext uri="{FF2B5EF4-FFF2-40B4-BE49-F238E27FC236}">
                <a16:creationId xmlns:a16="http://schemas.microsoft.com/office/drawing/2014/main" id="{06DDD94E-7C5F-85C7-DE40-F21F628553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5" name="Date Placeholder 4">
            <a:extLst>
              <a:ext uri="{FF2B5EF4-FFF2-40B4-BE49-F238E27FC236}">
                <a16:creationId xmlns:a16="http://schemas.microsoft.com/office/drawing/2014/main" id="{DAE281AD-16CD-454A-7383-FD7EDD2E3D0D}"/>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6" name="Footer Placeholder 5">
            <a:extLst>
              <a:ext uri="{FF2B5EF4-FFF2-40B4-BE49-F238E27FC236}">
                <a16:creationId xmlns:a16="http://schemas.microsoft.com/office/drawing/2014/main" id="{C810D141-76E7-7605-9DD4-EE8248DAE1E6}"/>
              </a:ext>
            </a:extLst>
          </p:cNvPr>
          <p:cNvSpPr>
            <a:spLocks noGrp="1"/>
          </p:cNvSpPr>
          <p:nvPr>
            <p:ph type="ftr" sz="quarter" idx="11"/>
          </p:nvPr>
        </p:nvSpPr>
        <p:spPr/>
        <p:txBody>
          <a:bodyPr/>
          <a:lstStyle/>
          <a:p>
            <a:endParaRPr lang="en-CM"/>
          </a:p>
        </p:txBody>
      </p:sp>
      <p:sp>
        <p:nvSpPr>
          <p:cNvPr id="7" name="Slide Number Placeholder 6">
            <a:extLst>
              <a:ext uri="{FF2B5EF4-FFF2-40B4-BE49-F238E27FC236}">
                <a16:creationId xmlns:a16="http://schemas.microsoft.com/office/drawing/2014/main" id="{B7204AA4-BF24-F2C5-9FDD-D8EB2EB606F5}"/>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433000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AD18-8D30-075B-C9D7-054275E3960E}"/>
              </a:ext>
            </a:extLst>
          </p:cNvPr>
          <p:cNvSpPr>
            <a:spLocks noGrp="1"/>
          </p:cNvSpPr>
          <p:nvPr>
            <p:ph type="title"/>
          </p:nvPr>
        </p:nvSpPr>
        <p:spPr>
          <a:xfrm>
            <a:off x="839788" y="365125"/>
            <a:ext cx="10515600" cy="1325563"/>
          </a:xfrm>
        </p:spPr>
        <p:txBody>
          <a:bodyPr/>
          <a:lstStyle/>
          <a:p>
            <a:r>
              <a:rPr lang="en-US"/>
              <a:t>Click to edit Master title style</a:t>
            </a:r>
            <a:endParaRPr lang="en-CM"/>
          </a:p>
        </p:txBody>
      </p:sp>
      <p:sp>
        <p:nvSpPr>
          <p:cNvPr id="3" name="Text Placeholder 2">
            <a:extLst>
              <a:ext uri="{FF2B5EF4-FFF2-40B4-BE49-F238E27FC236}">
                <a16:creationId xmlns:a16="http://schemas.microsoft.com/office/drawing/2014/main" id="{639C19D0-5E56-BEA4-51FF-DC301B3C10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EF790E-B52C-9972-17EF-20621E81EF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5" name="Text Placeholder 4">
            <a:extLst>
              <a:ext uri="{FF2B5EF4-FFF2-40B4-BE49-F238E27FC236}">
                <a16:creationId xmlns:a16="http://schemas.microsoft.com/office/drawing/2014/main" id="{36B9FA53-0739-0BDB-868E-B14369D7B3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E1B7C4-DEFB-A79F-93AB-C01B6B9143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7" name="Date Placeholder 6">
            <a:extLst>
              <a:ext uri="{FF2B5EF4-FFF2-40B4-BE49-F238E27FC236}">
                <a16:creationId xmlns:a16="http://schemas.microsoft.com/office/drawing/2014/main" id="{A501E494-7EF8-9989-21FC-BA97E95A2219}"/>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8" name="Footer Placeholder 7">
            <a:extLst>
              <a:ext uri="{FF2B5EF4-FFF2-40B4-BE49-F238E27FC236}">
                <a16:creationId xmlns:a16="http://schemas.microsoft.com/office/drawing/2014/main" id="{8128B955-8AE4-21FF-6AEA-5957A548BDFF}"/>
              </a:ext>
            </a:extLst>
          </p:cNvPr>
          <p:cNvSpPr>
            <a:spLocks noGrp="1"/>
          </p:cNvSpPr>
          <p:nvPr>
            <p:ph type="ftr" sz="quarter" idx="11"/>
          </p:nvPr>
        </p:nvSpPr>
        <p:spPr/>
        <p:txBody>
          <a:bodyPr/>
          <a:lstStyle/>
          <a:p>
            <a:endParaRPr lang="en-CM"/>
          </a:p>
        </p:txBody>
      </p:sp>
      <p:sp>
        <p:nvSpPr>
          <p:cNvPr id="9" name="Slide Number Placeholder 8">
            <a:extLst>
              <a:ext uri="{FF2B5EF4-FFF2-40B4-BE49-F238E27FC236}">
                <a16:creationId xmlns:a16="http://schemas.microsoft.com/office/drawing/2014/main" id="{F01EEE89-E9DC-46ED-97A3-5CE5DBF55222}"/>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601056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9B0AD-54D2-9DA3-303F-5FB943E7A284}"/>
              </a:ext>
            </a:extLst>
          </p:cNvPr>
          <p:cNvSpPr>
            <a:spLocks noGrp="1"/>
          </p:cNvSpPr>
          <p:nvPr>
            <p:ph type="title"/>
          </p:nvPr>
        </p:nvSpPr>
        <p:spPr/>
        <p:txBody>
          <a:bodyPr/>
          <a:lstStyle/>
          <a:p>
            <a:r>
              <a:rPr lang="en-US"/>
              <a:t>Click to edit Master title style</a:t>
            </a:r>
            <a:endParaRPr lang="en-CM"/>
          </a:p>
        </p:txBody>
      </p:sp>
      <p:sp>
        <p:nvSpPr>
          <p:cNvPr id="3" name="Date Placeholder 2">
            <a:extLst>
              <a:ext uri="{FF2B5EF4-FFF2-40B4-BE49-F238E27FC236}">
                <a16:creationId xmlns:a16="http://schemas.microsoft.com/office/drawing/2014/main" id="{E5EA28D5-550A-698A-A7E8-F36CEDA085A1}"/>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4" name="Footer Placeholder 3">
            <a:extLst>
              <a:ext uri="{FF2B5EF4-FFF2-40B4-BE49-F238E27FC236}">
                <a16:creationId xmlns:a16="http://schemas.microsoft.com/office/drawing/2014/main" id="{D94FC1AA-4374-8677-96C6-CAB12E5BF7C5}"/>
              </a:ext>
            </a:extLst>
          </p:cNvPr>
          <p:cNvSpPr>
            <a:spLocks noGrp="1"/>
          </p:cNvSpPr>
          <p:nvPr>
            <p:ph type="ftr" sz="quarter" idx="11"/>
          </p:nvPr>
        </p:nvSpPr>
        <p:spPr/>
        <p:txBody>
          <a:bodyPr/>
          <a:lstStyle/>
          <a:p>
            <a:endParaRPr lang="en-CM"/>
          </a:p>
        </p:txBody>
      </p:sp>
      <p:sp>
        <p:nvSpPr>
          <p:cNvPr id="5" name="Slide Number Placeholder 4">
            <a:extLst>
              <a:ext uri="{FF2B5EF4-FFF2-40B4-BE49-F238E27FC236}">
                <a16:creationId xmlns:a16="http://schemas.microsoft.com/office/drawing/2014/main" id="{9D5C5816-157F-E28D-83EB-412D5EAB6F02}"/>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3239233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09695E-BF57-73AC-51B7-980C416A8DD1}"/>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3" name="Footer Placeholder 2">
            <a:extLst>
              <a:ext uri="{FF2B5EF4-FFF2-40B4-BE49-F238E27FC236}">
                <a16:creationId xmlns:a16="http://schemas.microsoft.com/office/drawing/2014/main" id="{E32A9F41-99C2-F84F-6967-3FF22C9C655E}"/>
              </a:ext>
            </a:extLst>
          </p:cNvPr>
          <p:cNvSpPr>
            <a:spLocks noGrp="1"/>
          </p:cNvSpPr>
          <p:nvPr>
            <p:ph type="ftr" sz="quarter" idx="11"/>
          </p:nvPr>
        </p:nvSpPr>
        <p:spPr/>
        <p:txBody>
          <a:bodyPr/>
          <a:lstStyle/>
          <a:p>
            <a:endParaRPr lang="en-CM"/>
          </a:p>
        </p:txBody>
      </p:sp>
      <p:sp>
        <p:nvSpPr>
          <p:cNvPr id="4" name="Slide Number Placeholder 3">
            <a:extLst>
              <a:ext uri="{FF2B5EF4-FFF2-40B4-BE49-F238E27FC236}">
                <a16:creationId xmlns:a16="http://schemas.microsoft.com/office/drawing/2014/main" id="{2D4A1E0F-A100-0CC2-CF74-2A6816E1D87B}"/>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2840663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8E655-CC5A-6B6E-BF65-844BD6BB6E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M"/>
          </a:p>
        </p:txBody>
      </p:sp>
      <p:sp>
        <p:nvSpPr>
          <p:cNvPr id="3" name="Content Placeholder 2">
            <a:extLst>
              <a:ext uri="{FF2B5EF4-FFF2-40B4-BE49-F238E27FC236}">
                <a16:creationId xmlns:a16="http://schemas.microsoft.com/office/drawing/2014/main" id="{D1A97FA3-069D-174A-7580-BDEBB3D820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4" name="Text Placeholder 3">
            <a:extLst>
              <a:ext uri="{FF2B5EF4-FFF2-40B4-BE49-F238E27FC236}">
                <a16:creationId xmlns:a16="http://schemas.microsoft.com/office/drawing/2014/main" id="{CB691336-A9CD-7EAB-AC3C-882AC7405A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515236-DB8E-1977-771F-CE858EBB718D}"/>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6" name="Footer Placeholder 5">
            <a:extLst>
              <a:ext uri="{FF2B5EF4-FFF2-40B4-BE49-F238E27FC236}">
                <a16:creationId xmlns:a16="http://schemas.microsoft.com/office/drawing/2014/main" id="{2BC2FCBE-0C12-5168-DF17-938ADE376C90}"/>
              </a:ext>
            </a:extLst>
          </p:cNvPr>
          <p:cNvSpPr>
            <a:spLocks noGrp="1"/>
          </p:cNvSpPr>
          <p:nvPr>
            <p:ph type="ftr" sz="quarter" idx="11"/>
          </p:nvPr>
        </p:nvSpPr>
        <p:spPr/>
        <p:txBody>
          <a:bodyPr/>
          <a:lstStyle/>
          <a:p>
            <a:endParaRPr lang="en-CM"/>
          </a:p>
        </p:txBody>
      </p:sp>
      <p:sp>
        <p:nvSpPr>
          <p:cNvPr id="7" name="Slide Number Placeholder 6">
            <a:extLst>
              <a:ext uri="{FF2B5EF4-FFF2-40B4-BE49-F238E27FC236}">
                <a16:creationId xmlns:a16="http://schemas.microsoft.com/office/drawing/2014/main" id="{8AB219C6-EB86-F012-B6D5-93CAB817D880}"/>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2410109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7DC94-D3B5-D7ED-BA5E-B1BA6B651A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M"/>
          </a:p>
        </p:txBody>
      </p:sp>
      <p:sp>
        <p:nvSpPr>
          <p:cNvPr id="3" name="Picture Placeholder 2">
            <a:extLst>
              <a:ext uri="{FF2B5EF4-FFF2-40B4-BE49-F238E27FC236}">
                <a16:creationId xmlns:a16="http://schemas.microsoft.com/office/drawing/2014/main" id="{F9486E50-2E48-0590-276D-D727C0866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M"/>
          </a:p>
        </p:txBody>
      </p:sp>
      <p:sp>
        <p:nvSpPr>
          <p:cNvPr id="4" name="Text Placeholder 3">
            <a:extLst>
              <a:ext uri="{FF2B5EF4-FFF2-40B4-BE49-F238E27FC236}">
                <a16:creationId xmlns:a16="http://schemas.microsoft.com/office/drawing/2014/main" id="{DCB636E7-158C-F7D3-5747-574D9A674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FA1865-B4AB-E9ED-C13B-CF3F9AD9D3AD}"/>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6" name="Footer Placeholder 5">
            <a:extLst>
              <a:ext uri="{FF2B5EF4-FFF2-40B4-BE49-F238E27FC236}">
                <a16:creationId xmlns:a16="http://schemas.microsoft.com/office/drawing/2014/main" id="{93CDFC8E-43EF-74F5-E4ED-713FC659D234}"/>
              </a:ext>
            </a:extLst>
          </p:cNvPr>
          <p:cNvSpPr>
            <a:spLocks noGrp="1"/>
          </p:cNvSpPr>
          <p:nvPr>
            <p:ph type="ftr" sz="quarter" idx="11"/>
          </p:nvPr>
        </p:nvSpPr>
        <p:spPr/>
        <p:txBody>
          <a:bodyPr/>
          <a:lstStyle/>
          <a:p>
            <a:endParaRPr lang="en-CM"/>
          </a:p>
        </p:txBody>
      </p:sp>
      <p:sp>
        <p:nvSpPr>
          <p:cNvPr id="7" name="Slide Number Placeholder 6">
            <a:extLst>
              <a:ext uri="{FF2B5EF4-FFF2-40B4-BE49-F238E27FC236}">
                <a16:creationId xmlns:a16="http://schemas.microsoft.com/office/drawing/2014/main" id="{27CD6BE7-D83F-3752-D5E5-27421E57A22C}"/>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887584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57BB4-FA5D-C90B-EB0C-9D7140380229}"/>
              </a:ext>
            </a:extLst>
          </p:cNvPr>
          <p:cNvSpPr>
            <a:spLocks noGrp="1"/>
          </p:cNvSpPr>
          <p:nvPr>
            <p:ph type="title"/>
          </p:nvPr>
        </p:nvSpPr>
        <p:spPr/>
        <p:txBody>
          <a:bodyPr/>
          <a:lstStyle/>
          <a:p>
            <a:r>
              <a:rPr lang="en-US"/>
              <a:t>Click to edit Master title style</a:t>
            </a:r>
            <a:endParaRPr lang="en-CM"/>
          </a:p>
        </p:txBody>
      </p:sp>
      <p:sp>
        <p:nvSpPr>
          <p:cNvPr id="3" name="Vertical Text Placeholder 2">
            <a:extLst>
              <a:ext uri="{FF2B5EF4-FFF2-40B4-BE49-F238E27FC236}">
                <a16:creationId xmlns:a16="http://schemas.microsoft.com/office/drawing/2014/main" id="{1606731A-3865-A3BC-C4E6-F68E9744DD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4" name="Date Placeholder 3">
            <a:extLst>
              <a:ext uri="{FF2B5EF4-FFF2-40B4-BE49-F238E27FC236}">
                <a16:creationId xmlns:a16="http://schemas.microsoft.com/office/drawing/2014/main" id="{9D96C279-4B4C-B4F3-DF70-DC28E1FFDE13}"/>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5" name="Footer Placeholder 4">
            <a:extLst>
              <a:ext uri="{FF2B5EF4-FFF2-40B4-BE49-F238E27FC236}">
                <a16:creationId xmlns:a16="http://schemas.microsoft.com/office/drawing/2014/main" id="{A7C60F75-3120-1AE0-293F-55CBDE59971D}"/>
              </a:ext>
            </a:extLst>
          </p:cNvPr>
          <p:cNvSpPr>
            <a:spLocks noGrp="1"/>
          </p:cNvSpPr>
          <p:nvPr>
            <p:ph type="ftr" sz="quarter" idx="11"/>
          </p:nvPr>
        </p:nvSpPr>
        <p:spPr/>
        <p:txBody>
          <a:bodyPr/>
          <a:lstStyle/>
          <a:p>
            <a:endParaRPr lang="en-CM"/>
          </a:p>
        </p:txBody>
      </p:sp>
      <p:sp>
        <p:nvSpPr>
          <p:cNvPr id="6" name="Slide Number Placeholder 5">
            <a:extLst>
              <a:ext uri="{FF2B5EF4-FFF2-40B4-BE49-F238E27FC236}">
                <a16:creationId xmlns:a16="http://schemas.microsoft.com/office/drawing/2014/main" id="{FE8B7FDB-FF7C-996C-E2E9-5734844A1102}"/>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3630533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7FDCFA-9BBD-5008-DB58-68608C1E33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M"/>
          </a:p>
        </p:txBody>
      </p:sp>
      <p:sp>
        <p:nvSpPr>
          <p:cNvPr id="3" name="Vertical Text Placeholder 2">
            <a:extLst>
              <a:ext uri="{FF2B5EF4-FFF2-40B4-BE49-F238E27FC236}">
                <a16:creationId xmlns:a16="http://schemas.microsoft.com/office/drawing/2014/main" id="{D9F0558B-A635-1EBF-0664-DAA7A00D8B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4" name="Date Placeholder 3">
            <a:extLst>
              <a:ext uri="{FF2B5EF4-FFF2-40B4-BE49-F238E27FC236}">
                <a16:creationId xmlns:a16="http://schemas.microsoft.com/office/drawing/2014/main" id="{6572DF89-C06B-D0B4-2E91-BBDFECD89422}"/>
              </a:ext>
            </a:extLst>
          </p:cNvPr>
          <p:cNvSpPr>
            <a:spLocks noGrp="1"/>
          </p:cNvSpPr>
          <p:nvPr>
            <p:ph type="dt" sz="half" idx="10"/>
          </p:nvPr>
        </p:nvSpPr>
        <p:spPr/>
        <p:txBody>
          <a:bodyPr/>
          <a:lstStyle/>
          <a:p>
            <a:fld id="{8C6E0C0D-D6F8-48DB-B4E9-B1C75DA7566E}" type="datetimeFigureOut">
              <a:rPr lang="en-CM" smtClean="0"/>
              <a:t>28/04/2026</a:t>
            </a:fld>
            <a:endParaRPr lang="en-CM"/>
          </a:p>
        </p:txBody>
      </p:sp>
      <p:sp>
        <p:nvSpPr>
          <p:cNvPr id="5" name="Footer Placeholder 4">
            <a:extLst>
              <a:ext uri="{FF2B5EF4-FFF2-40B4-BE49-F238E27FC236}">
                <a16:creationId xmlns:a16="http://schemas.microsoft.com/office/drawing/2014/main" id="{D6AAE638-528D-6D00-6FBE-4ECB3C3C4B6C}"/>
              </a:ext>
            </a:extLst>
          </p:cNvPr>
          <p:cNvSpPr>
            <a:spLocks noGrp="1"/>
          </p:cNvSpPr>
          <p:nvPr>
            <p:ph type="ftr" sz="quarter" idx="11"/>
          </p:nvPr>
        </p:nvSpPr>
        <p:spPr/>
        <p:txBody>
          <a:bodyPr/>
          <a:lstStyle/>
          <a:p>
            <a:endParaRPr lang="en-CM"/>
          </a:p>
        </p:txBody>
      </p:sp>
      <p:sp>
        <p:nvSpPr>
          <p:cNvPr id="6" name="Slide Number Placeholder 5">
            <a:extLst>
              <a:ext uri="{FF2B5EF4-FFF2-40B4-BE49-F238E27FC236}">
                <a16:creationId xmlns:a16="http://schemas.microsoft.com/office/drawing/2014/main" id="{C3C0856B-7C74-FFB0-2641-610A6043993D}"/>
              </a:ext>
            </a:extLst>
          </p:cNvPr>
          <p:cNvSpPr>
            <a:spLocks noGrp="1"/>
          </p:cNvSpPr>
          <p:nvPr>
            <p:ph type="sldNum" sz="quarter" idx="12"/>
          </p:nvPr>
        </p:nvSpPr>
        <p:spPr/>
        <p:txBody>
          <a:bodyPr/>
          <a:lstStyle/>
          <a:p>
            <a:fld id="{C030EC59-A6CA-48B2-BFF1-B3C528A6F061}" type="slidenum">
              <a:rPr lang="en-CM" smtClean="0"/>
              <a:t>‹#›</a:t>
            </a:fld>
            <a:endParaRPr lang="en-CM"/>
          </a:p>
        </p:txBody>
      </p:sp>
    </p:spTree>
    <p:extLst>
      <p:ext uri="{BB962C8B-B14F-4D97-AF65-F5344CB8AC3E}">
        <p14:creationId xmlns:p14="http://schemas.microsoft.com/office/powerpoint/2010/main" val="3289457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1B3B49-4271-E782-4B01-7036F8FDA5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M"/>
          </a:p>
        </p:txBody>
      </p:sp>
      <p:sp>
        <p:nvSpPr>
          <p:cNvPr id="3" name="Text Placeholder 2">
            <a:extLst>
              <a:ext uri="{FF2B5EF4-FFF2-40B4-BE49-F238E27FC236}">
                <a16:creationId xmlns:a16="http://schemas.microsoft.com/office/drawing/2014/main" id="{17E995D2-39FB-1189-9EE2-FFFF5C3DA1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4" name="Date Placeholder 3">
            <a:extLst>
              <a:ext uri="{FF2B5EF4-FFF2-40B4-BE49-F238E27FC236}">
                <a16:creationId xmlns:a16="http://schemas.microsoft.com/office/drawing/2014/main" id="{EC0EF157-62A5-1D5B-8582-C0267221A8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6E0C0D-D6F8-48DB-B4E9-B1C75DA7566E}" type="datetimeFigureOut">
              <a:rPr lang="en-CM" smtClean="0"/>
              <a:t>28/04/2026</a:t>
            </a:fld>
            <a:endParaRPr lang="en-CM"/>
          </a:p>
        </p:txBody>
      </p:sp>
      <p:sp>
        <p:nvSpPr>
          <p:cNvPr id="5" name="Footer Placeholder 4">
            <a:extLst>
              <a:ext uri="{FF2B5EF4-FFF2-40B4-BE49-F238E27FC236}">
                <a16:creationId xmlns:a16="http://schemas.microsoft.com/office/drawing/2014/main" id="{FC16DB59-EAF0-1E3E-56E7-7F14B437C6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M"/>
          </a:p>
        </p:txBody>
      </p:sp>
      <p:sp>
        <p:nvSpPr>
          <p:cNvPr id="6" name="Slide Number Placeholder 5">
            <a:extLst>
              <a:ext uri="{FF2B5EF4-FFF2-40B4-BE49-F238E27FC236}">
                <a16:creationId xmlns:a16="http://schemas.microsoft.com/office/drawing/2014/main" id="{50CEFE6C-9FE4-795E-C547-3538A33B06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30EC59-A6CA-48B2-BFF1-B3C528A6F061}" type="slidenum">
              <a:rPr lang="en-CM" smtClean="0"/>
              <a:t>‹#›</a:t>
            </a:fld>
            <a:endParaRPr lang="en-CM"/>
          </a:p>
        </p:txBody>
      </p:sp>
    </p:spTree>
    <p:extLst>
      <p:ext uri="{BB962C8B-B14F-4D97-AF65-F5344CB8AC3E}">
        <p14:creationId xmlns:p14="http://schemas.microsoft.com/office/powerpoint/2010/main" val="3491834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06790-EB04-B604-6651-1214915CF252}"/>
              </a:ext>
            </a:extLst>
          </p:cNvPr>
          <p:cNvSpPr>
            <a:spLocks noGrp="1"/>
          </p:cNvSpPr>
          <p:nvPr>
            <p:ph type="ctrTitle"/>
          </p:nvPr>
        </p:nvSpPr>
        <p:spPr>
          <a:xfrm>
            <a:off x="1524000" y="3182982"/>
            <a:ext cx="9144000" cy="2387600"/>
          </a:xfrm>
        </p:spPr>
        <p:txBody>
          <a:bodyPr>
            <a:normAutofit fontScale="90000"/>
          </a:bodyPr>
          <a:lstStyle/>
          <a:p>
            <a:r>
              <a:rPr lang="en-US" sz="3600" b="1" dirty="0">
                <a:latin typeface="Ink Free" panose="03080402000500000000" pitchFamily="66" charset="0"/>
              </a:rPr>
              <a:t>TASK 2 PRESENTATION BY GROUP 21</a:t>
            </a:r>
            <a:br>
              <a:rPr lang="en-US" sz="3600" b="1" dirty="0">
                <a:latin typeface="Ink Free" panose="03080402000500000000" pitchFamily="66" charset="0"/>
              </a:rPr>
            </a:br>
            <a:r>
              <a:rPr lang="en-US" sz="3600" b="1" dirty="0">
                <a:solidFill>
                  <a:schemeClr val="accent5">
                    <a:lumMod val="50000"/>
                  </a:schemeClr>
                </a:solidFill>
                <a:latin typeface="Ink Free" panose="03080402000500000000" pitchFamily="66" charset="0"/>
              </a:rPr>
              <a:t>Requirement Gathering</a:t>
            </a:r>
            <a:br>
              <a:rPr lang="en-US" sz="3600" b="1" dirty="0">
                <a:latin typeface="Ink Free" panose="03080402000500000000" pitchFamily="66" charset="0"/>
              </a:rPr>
            </a:br>
            <a:r>
              <a:rPr lang="en-US" sz="3600" b="1" dirty="0">
                <a:latin typeface="Ink Free" panose="03080402000500000000" pitchFamily="66" charset="0"/>
              </a:rPr>
              <a:t>CEF 440 </a:t>
            </a:r>
            <a:br>
              <a:rPr lang="en-US" sz="3600" b="1" dirty="0">
                <a:latin typeface="Ink Free" panose="03080402000500000000" pitchFamily="66" charset="0"/>
              </a:rPr>
            </a:br>
            <a:r>
              <a:rPr lang="en-US" sz="3600" b="1" dirty="0">
                <a:latin typeface="Ink Free" panose="03080402000500000000" pitchFamily="66" charset="0"/>
              </a:rPr>
              <a:t>Dr Nkemeni Valery</a:t>
            </a:r>
            <a:br>
              <a:rPr lang="en-US" b="1" dirty="0"/>
            </a:br>
            <a:endParaRPr lang="en-CM" dirty="0"/>
          </a:p>
        </p:txBody>
      </p:sp>
      <p:pic>
        <p:nvPicPr>
          <p:cNvPr id="5" name="Picture 4">
            <a:extLst>
              <a:ext uri="{FF2B5EF4-FFF2-40B4-BE49-F238E27FC236}">
                <a16:creationId xmlns:a16="http://schemas.microsoft.com/office/drawing/2014/main" id="{BDBF362F-B999-9300-CB9F-65EEF1064351}"/>
              </a:ext>
            </a:extLst>
          </p:cNvPr>
          <p:cNvPicPr>
            <a:picLocks noChangeAspect="1"/>
          </p:cNvPicPr>
          <p:nvPr/>
        </p:nvPicPr>
        <p:blipFill>
          <a:blip r:embed="rId2"/>
          <a:stretch>
            <a:fillRect/>
          </a:stretch>
        </p:blipFill>
        <p:spPr>
          <a:xfrm>
            <a:off x="4221252" y="891325"/>
            <a:ext cx="2847975" cy="1752600"/>
          </a:xfrm>
          <a:prstGeom prst="rect">
            <a:avLst/>
          </a:prstGeom>
        </p:spPr>
      </p:pic>
    </p:spTree>
    <p:extLst>
      <p:ext uri="{BB962C8B-B14F-4D97-AF65-F5344CB8AC3E}">
        <p14:creationId xmlns:p14="http://schemas.microsoft.com/office/powerpoint/2010/main" val="2237470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46A8-A8E8-5B07-1AD8-46B829FEC573}"/>
              </a:ext>
            </a:extLst>
          </p:cNvPr>
          <p:cNvSpPr>
            <a:spLocks noGrp="1"/>
          </p:cNvSpPr>
          <p:nvPr>
            <p:ph type="title"/>
          </p:nvPr>
        </p:nvSpPr>
        <p:spPr/>
        <p:txBody>
          <a:bodyPr/>
          <a:lstStyle/>
          <a:p>
            <a:r>
              <a:rPr lang="en-US" b="1" dirty="0">
                <a:solidFill>
                  <a:schemeClr val="accent5">
                    <a:lumMod val="75000"/>
                  </a:schemeClr>
                </a:solidFill>
              </a:rPr>
              <a:t>REQUIREMENT GATHERING</a:t>
            </a:r>
            <a:br>
              <a:rPr lang="en-US" dirty="0"/>
            </a:br>
            <a:r>
              <a:rPr lang="en-US" dirty="0"/>
              <a:t>Objectives:</a:t>
            </a:r>
            <a:endParaRPr lang="en-CM" dirty="0"/>
          </a:p>
        </p:txBody>
      </p:sp>
      <p:sp>
        <p:nvSpPr>
          <p:cNvPr id="3" name="Content Placeholder 2">
            <a:extLst>
              <a:ext uri="{FF2B5EF4-FFF2-40B4-BE49-F238E27FC236}">
                <a16:creationId xmlns:a16="http://schemas.microsoft.com/office/drawing/2014/main" id="{B505BB84-AA96-8F16-F11A-D784C67640CE}"/>
              </a:ext>
            </a:extLst>
          </p:cNvPr>
          <p:cNvSpPr>
            <a:spLocks noGrp="1"/>
          </p:cNvSpPr>
          <p:nvPr>
            <p:ph idx="1"/>
          </p:nvPr>
        </p:nvSpPr>
        <p:spPr/>
        <p:txBody>
          <a:bodyPr/>
          <a:lstStyle/>
          <a:p>
            <a:pPr marL="0" indent="0">
              <a:buNone/>
            </a:pPr>
            <a:r>
              <a:rPr lang="en-US" dirty="0"/>
              <a:t>A complete walk through on the Requirement process, as well as leaning on all the steps to complete the process.</a:t>
            </a:r>
          </a:p>
          <a:p>
            <a:pPr marL="514350" indent="-514350">
              <a:buAutoNum type="arabicPeriod"/>
            </a:pPr>
            <a:r>
              <a:rPr lang="en-US" dirty="0"/>
              <a:t>Defining stake holders</a:t>
            </a:r>
          </a:p>
          <a:p>
            <a:pPr marL="514350" indent="-514350">
              <a:buAutoNum type="arabicPeriod"/>
            </a:pPr>
            <a:r>
              <a:rPr lang="en-US" dirty="0"/>
              <a:t>Techniques for gathering data</a:t>
            </a:r>
          </a:p>
          <a:p>
            <a:pPr marL="514350" indent="-514350">
              <a:buAutoNum type="arabicPeriod"/>
            </a:pPr>
            <a:r>
              <a:rPr lang="en-US" dirty="0"/>
              <a:t>Data gathering process</a:t>
            </a:r>
          </a:p>
          <a:p>
            <a:pPr marL="514350" indent="-514350">
              <a:buAutoNum type="arabicPeriod"/>
            </a:pPr>
            <a:r>
              <a:rPr lang="en-US" dirty="0"/>
              <a:t>Data cleaning process</a:t>
            </a:r>
          </a:p>
          <a:p>
            <a:pPr marL="514350" indent="-514350">
              <a:buAutoNum type="arabicPeriod"/>
            </a:pPr>
            <a:r>
              <a:rPr lang="en-US" dirty="0"/>
              <a:t>User reluctance assessment</a:t>
            </a:r>
            <a:endParaRPr lang="en-CM" dirty="0"/>
          </a:p>
        </p:txBody>
      </p:sp>
      <p:pic>
        <p:nvPicPr>
          <p:cNvPr id="5" name="Picture 4">
            <a:extLst>
              <a:ext uri="{FF2B5EF4-FFF2-40B4-BE49-F238E27FC236}">
                <a16:creationId xmlns:a16="http://schemas.microsoft.com/office/drawing/2014/main" id="{92E07F56-9BF6-AF32-6F31-9BB06B849324}"/>
              </a:ext>
            </a:extLst>
          </p:cNvPr>
          <p:cNvPicPr>
            <a:picLocks noChangeAspect="1"/>
          </p:cNvPicPr>
          <p:nvPr/>
        </p:nvPicPr>
        <p:blipFill>
          <a:blip r:embed="rId2"/>
          <a:stretch>
            <a:fillRect/>
          </a:stretch>
        </p:blipFill>
        <p:spPr>
          <a:xfrm>
            <a:off x="8316864" y="2566484"/>
            <a:ext cx="2762636" cy="3610479"/>
          </a:xfrm>
          <a:prstGeom prst="rect">
            <a:avLst/>
          </a:prstGeom>
        </p:spPr>
      </p:pic>
    </p:spTree>
    <p:extLst>
      <p:ext uri="{BB962C8B-B14F-4D97-AF65-F5344CB8AC3E}">
        <p14:creationId xmlns:p14="http://schemas.microsoft.com/office/powerpoint/2010/main" val="2136931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7CA1F-33EA-93E4-69C7-6719F2BE142F}"/>
              </a:ext>
            </a:extLst>
          </p:cNvPr>
          <p:cNvSpPr>
            <a:spLocks noGrp="1"/>
          </p:cNvSpPr>
          <p:nvPr>
            <p:ph type="title"/>
          </p:nvPr>
        </p:nvSpPr>
        <p:spPr>
          <a:xfrm>
            <a:off x="633483" y="133113"/>
            <a:ext cx="10515600" cy="1325563"/>
          </a:xfrm>
        </p:spPr>
        <p:txBody>
          <a:bodyPr/>
          <a:lstStyle/>
          <a:p>
            <a:r>
              <a:rPr lang="en-US" dirty="0">
                <a:solidFill>
                  <a:schemeClr val="accent3">
                    <a:lumMod val="75000"/>
                  </a:schemeClr>
                </a:solidFill>
              </a:rPr>
              <a:t>Stake holder identification</a:t>
            </a:r>
            <a:r>
              <a:rPr lang="en-US" dirty="0"/>
              <a:t>:</a:t>
            </a:r>
            <a:endParaRPr lang="en-CM" dirty="0"/>
          </a:p>
        </p:txBody>
      </p:sp>
      <p:sp>
        <p:nvSpPr>
          <p:cNvPr id="3" name="Content Placeholder 2">
            <a:extLst>
              <a:ext uri="{FF2B5EF4-FFF2-40B4-BE49-F238E27FC236}">
                <a16:creationId xmlns:a16="http://schemas.microsoft.com/office/drawing/2014/main" id="{56F7BB84-A6D7-CFC1-0A43-564EC3C7666B}"/>
              </a:ext>
            </a:extLst>
          </p:cNvPr>
          <p:cNvSpPr>
            <a:spLocks noGrp="1"/>
          </p:cNvSpPr>
          <p:nvPr>
            <p:ph idx="1"/>
          </p:nvPr>
        </p:nvSpPr>
        <p:spPr>
          <a:xfrm>
            <a:off x="838200" y="1351128"/>
            <a:ext cx="10515600" cy="4825835"/>
          </a:xfrm>
        </p:spPr>
        <p:txBody>
          <a:bodyPr>
            <a:normAutofit fontScale="85000" lnSpcReduction="20000"/>
          </a:bodyPr>
          <a:lstStyle/>
          <a:p>
            <a:pPr marL="0" indent="0">
              <a:buNone/>
            </a:pPr>
            <a:r>
              <a:rPr lang="en-GB" dirty="0"/>
              <a:t>A stakeholder is any person, group, or organization that has an interest in a system, is affected by it, or can influence its success or failure.</a:t>
            </a:r>
          </a:p>
          <a:p>
            <a:pPr marL="0" indent="0">
              <a:buNone/>
            </a:pPr>
            <a:endParaRPr lang="en-GB" dirty="0"/>
          </a:p>
          <a:p>
            <a:pPr marL="0" indent="0">
              <a:buNone/>
            </a:pPr>
            <a:r>
              <a:rPr lang="en-GB" b="1" i="1" dirty="0"/>
              <a:t>Characteristics of stake holders:</a:t>
            </a:r>
          </a:p>
          <a:p>
            <a:pPr>
              <a:buFont typeface="Wingdings" panose="05000000000000000000" pitchFamily="2" charset="2"/>
              <a:buChar char="q"/>
            </a:pPr>
            <a:r>
              <a:rPr lang="en-GB" dirty="0"/>
              <a:t>Help in decision making</a:t>
            </a:r>
          </a:p>
          <a:p>
            <a:pPr>
              <a:buFont typeface="Wingdings" panose="05000000000000000000" pitchFamily="2" charset="2"/>
              <a:buChar char="q"/>
            </a:pPr>
            <a:r>
              <a:rPr lang="en-GB" dirty="0"/>
              <a:t>Use the system in real life</a:t>
            </a:r>
          </a:p>
          <a:p>
            <a:pPr>
              <a:buFont typeface="Wingdings" panose="05000000000000000000" pitchFamily="2" charset="2"/>
              <a:buChar char="q"/>
            </a:pPr>
            <a:r>
              <a:rPr lang="en-US" dirty="0"/>
              <a:t>Influence design, implementation, and evaluation.</a:t>
            </a:r>
          </a:p>
          <a:p>
            <a:pPr marL="0" indent="0">
              <a:buNone/>
            </a:pPr>
            <a:endParaRPr lang="en-US" dirty="0"/>
          </a:p>
          <a:p>
            <a:pPr marL="0" indent="0">
              <a:buNone/>
            </a:pPr>
            <a:r>
              <a:rPr lang="en-US" b="1" i="1" dirty="0"/>
              <a:t>Importance of stake holders:</a:t>
            </a:r>
          </a:p>
          <a:p>
            <a:pPr>
              <a:buFont typeface="Wingdings" panose="05000000000000000000" pitchFamily="2" charset="2"/>
              <a:buChar char="q"/>
            </a:pPr>
            <a:r>
              <a:rPr lang="en-US" dirty="0"/>
              <a:t>Improved communication and engagement</a:t>
            </a:r>
          </a:p>
          <a:p>
            <a:pPr>
              <a:buFont typeface="Wingdings" panose="05000000000000000000" pitchFamily="2" charset="2"/>
              <a:buChar char="q"/>
            </a:pPr>
            <a:r>
              <a:rPr lang="en-US" dirty="0"/>
              <a:t>Risk management</a:t>
            </a:r>
          </a:p>
          <a:p>
            <a:pPr>
              <a:buFont typeface="Wingdings" panose="05000000000000000000" pitchFamily="2" charset="2"/>
              <a:buChar char="q"/>
            </a:pPr>
            <a:r>
              <a:rPr lang="en-US" dirty="0"/>
              <a:t>Better Decision making</a:t>
            </a:r>
          </a:p>
          <a:p>
            <a:pPr marL="0" indent="0">
              <a:buNone/>
            </a:pPr>
            <a:endParaRPr lang="en-US" dirty="0"/>
          </a:p>
        </p:txBody>
      </p:sp>
      <p:pic>
        <p:nvPicPr>
          <p:cNvPr id="5" name="Picture 4">
            <a:extLst>
              <a:ext uri="{FF2B5EF4-FFF2-40B4-BE49-F238E27FC236}">
                <a16:creationId xmlns:a16="http://schemas.microsoft.com/office/drawing/2014/main" id="{66DE18A8-1310-F523-391D-535C96DDB600}"/>
              </a:ext>
            </a:extLst>
          </p:cNvPr>
          <p:cNvPicPr>
            <a:picLocks noChangeAspect="1"/>
          </p:cNvPicPr>
          <p:nvPr/>
        </p:nvPicPr>
        <p:blipFill>
          <a:blip r:embed="rId2"/>
          <a:stretch>
            <a:fillRect/>
          </a:stretch>
        </p:blipFill>
        <p:spPr>
          <a:xfrm>
            <a:off x="8424553" y="2401780"/>
            <a:ext cx="2724530" cy="2724530"/>
          </a:xfrm>
          <a:prstGeom prst="rect">
            <a:avLst/>
          </a:prstGeom>
        </p:spPr>
      </p:pic>
    </p:spTree>
    <p:extLst>
      <p:ext uri="{BB962C8B-B14F-4D97-AF65-F5344CB8AC3E}">
        <p14:creationId xmlns:p14="http://schemas.microsoft.com/office/powerpoint/2010/main" val="1756536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20EC-0C48-F00B-702F-7E356D6DF525}"/>
              </a:ext>
            </a:extLst>
          </p:cNvPr>
          <p:cNvSpPr>
            <a:spLocks noGrp="1"/>
          </p:cNvSpPr>
          <p:nvPr>
            <p:ph type="title"/>
          </p:nvPr>
        </p:nvSpPr>
        <p:spPr>
          <a:xfrm>
            <a:off x="430529" y="296226"/>
            <a:ext cx="10515600" cy="640715"/>
          </a:xfrm>
        </p:spPr>
        <p:txBody>
          <a:bodyPr>
            <a:normAutofit fontScale="90000"/>
          </a:bodyPr>
          <a:lstStyle/>
          <a:p>
            <a:r>
              <a:rPr lang="en-US" dirty="0"/>
              <a:t>Categories of stakeholders</a:t>
            </a:r>
            <a:br>
              <a:rPr lang="en-US" dirty="0"/>
            </a:br>
            <a:endParaRPr lang="en-CM" dirty="0"/>
          </a:p>
        </p:txBody>
      </p:sp>
      <p:sp>
        <p:nvSpPr>
          <p:cNvPr id="3" name="Content Placeholder 2">
            <a:extLst>
              <a:ext uri="{FF2B5EF4-FFF2-40B4-BE49-F238E27FC236}">
                <a16:creationId xmlns:a16="http://schemas.microsoft.com/office/drawing/2014/main" id="{F97AB5F0-F300-46FD-497A-115F6F08F136}"/>
              </a:ext>
            </a:extLst>
          </p:cNvPr>
          <p:cNvSpPr>
            <a:spLocks noGrp="1"/>
          </p:cNvSpPr>
          <p:nvPr>
            <p:ph idx="1"/>
          </p:nvPr>
        </p:nvSpPr>
        <p:spPr>
          <a:xfrm>
            <a:off x="2827020" y="913765"/>
            <a:ext cx="5722620" cy="640716"/>
          </a:xfrm>
        </p:spPr>
        <p:txBody>
          <a:bodyPr/>
          <a:lstStyle/>
          <a:p>
            <a:pPr marL="0" indent="0">
              <a:buNone/>
            </a:pPr>
            <a:r>
              <a:rPr lang="en-US" b="1" i="1" dirty="0"/>
              <a:t>Primary stakeholders or Direct users</a:t>
            </a:r>
          </a:p>
          <a:p>
            <a:pPr marL="0" indent="0">
              <a:buNone/>
            </a:pPr>
            <a:endParaRPr lang="en-CM" dirty="0"/>
          </a:p>
        </p:txBody>
      </p:sp>
      <p:sp>
        <p:nvSpPr>
          <p:cNvPr id="8" name="Oval 7">
            <a:extLst>
              <a:ext uri="{FF2B5EF4-FFF2-40B4-BE49-F238E27FC236}">
                <a16:creationId xmlns:a16="http://schemas.microsoft.com/office/drawing/2014/main" id="{DC8BDA88-9868-6996-C541-57B65651BF69}"/>
              </a:ext>
            </a:extLst>
          </p:cNvPr>
          <p:cNvSpPr/>
          <p:nvPr/>
        </p:nvSpPr>
        <p:spPr>
          <a:xfrm>
            <a:off x="2201228" y="1554480"/>
            <a:ext cx="1965960" cy="389256"/>
          </a:xfrm>
          <a:prstGeom prst="ellipse">
            <a:avLst/>
          </a:prstGeom>
          <a:ln>
            <a:solidFill>
              <a:schemeClr val="bg2">
                <a:lumMod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Students</a:t>
            </a:r>
            <a:endParaRPr lang="en-CM" dirty="0"/>
          </a:p>
        </p:txBody>
      </p:sp>
      <p:sp>
        <p:nvSpPr>
          <p:cNvPr id="10" name="Content Placeholder 2">
            <a:extLst>
              <a:ext uri="{FF2B5EF4-FFF2-40B4-BE49-F238E27FC236}">
                <a16:creationId xmlns:a16="http://schemas.microsoft.com/office/drawing/2014/main" id="{0E093A3C-9A46-CD76-D057-69F1EA44B8E1}"/>
              </a:ext>
            </a:extLst>
          </p:cNvPr>
          <p:cNvSpPr txBox="1">
            <a:spLocks/>
          </p:cNvSpPr>
          <p:nvPr/>
        </p:nvSpPr>
        <p:spPr>
          <a:xfrm>
            <a:off x="3534727" y="2492377"/>
            <a:ext cx="3888105" cy="6407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i="1" dirty="0"/>
              <a:t>Secondary stakeholders</a:t>
            </a:r>
          </a:p>
          <a:p>
            <a:pPr marL="0" indent="0">
              <a:buFont typeface="Arial" panose="020B0604020202020204" pitchFamily="34" charset="0"/>
              <a:buNone/>
            </a:pPr>
            <a:endParaRPr lang="en-CM" dirty="0"/>
          </a:p>
        </p:txBody>
      </p:sp>
      <p:sp>
        <p:nvSpPr>
          <p:cNvPr id="11" name="Oval 10">
            <a:extLst>
              <a:ext uri="{FF2B5EF4-FFF2-40B4-BE49-F238E27FC236}">
                <a16:creationId xmlns:a16="http://schemas.microsoft.com/office/drawing/2014/main" id="{70FC5A4A-B63B-F63F-5F6B-95152F7A6940}"/>
              </a:ext>
            </a:extLst>
          </p:cNvPr>
          <p:cNvSpPr/>
          <p:nvPr/>
        </p:nvSpPr>
        <p:spPr>
          <a:xfrm>
            <a:off x="5990272" y="1538687"/>
            <a:ext cx="1965960" cy="471803"/>
          </a:xfrm>
          <a:prstGeom prst="ellipse">
            <a:avLst/>
          </a:prstGeom>
          <a:ln>
            <a:solidFill>
              <a:schemeClr val="bg2">
                <a:lumMod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Instructors</a:t>
            </a:r>
            <a:endParaRPr lang="en-CM" dirty="0"/>
          </a:p>
        </p:txBody>
      </p:sp>
      <p:sp>
        <p:nvSpPr>
          <p:cNvPr id="12" name="Content Placeholder 2">
            <a:extLst>
              <a:ext uri="{FF2B5EF4-FFF2-40B4-BE49-F238E27FC236}">
                <a16:creationId xmlns:a16="http://schemas.microsoft.com/office/drawing/2014/main" id="{516F4FE8-F28B-F419-6B7A-C22466BEAE7E}"/>
              </a:ext>
            </a:extLst>
          </p:cNvPr>
          <p:cNvSpPr txBox="1">
            <a:spLocks/>
          </p:cNvSpPr>
          <p:nvPr/>
        </p:nvSpPr>
        <p:spPr>
          <a:xfrm>
            <a:off x="3744277" y="4027489"/>
            <a:ext cx="3888105" cy="6407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i="1" dirty="0"/>
              <a:t>External stakeholders</a:t>
            </a:r>
          </a:p>
          <a:p>
            <a:pPr marL="0" indent="0">
              <a:buFont typeface="Arial" panose="020B0604020202020204" pitchFamily="34" charset="0"/>
              <a:buNone/>
            </a:pPr>
            <a:endParaRPr lang="en-CM" dirty="0"/>
          </a:p>
        </p:txBody>
      </p:sp>
      <p:sp>
        <p:nvSpPr>
          <p:cNvPr id="13" name="Oval 12">
            <a:extLst>
              <a:ext uri="{FF2B5EF4-FFF2-40B4-BE49-F238E27FC236}">
                <a16:creationId xmlns:a16="http://schemas.microsoft.com/office/drawing/2014/main" id="{D237C928-830F-DAB4-E5D6-610802344313}"/>
              </a:ext>
            </a:extLst>
          </p:cNvPr>
          <p:cNvSpPr/>
          <p:nvPr/>
        </p:nvSpPr>
        <p:spPr>
          <a:xfrm>
            <a:off x="2284095" y="3065153"/>
            <a:ext cx="1965960" cy="640714"/>
          </a:xfrm>
          <a:prstGeom prst="ellipse">
            <a:avLst/>
          </a:prstGeom>
          <a:ln>
            <a:solidFill>
              <a:schemeClr val="bg2">
                <a:lumMod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System Admin</a:t>
            </a:r>
            <a:endParaRPr lang="en-CM" dirty="0"/>
          </a:p>
        </p:txBody>
      </p:sp>
      <p:sp>
        <p:nvSpPr>
          <p:cNvPr id="14" name="Oval 13">
            <a:extLst>
              <a:ext uri="{FF2B5EF4-FFF2-40B4-BE49-F238E27FC236}">
                <a16:creationId xmlns:a16="http://schemas.microsoft.com/office/drawing/2014/main" id="{75362170-E8DC-78AE-EDCB-3117A4F5C297}"/>
              </a:ext>
            </a:extLst>
          </p:cNvPr>
          <p:cNvSpPr/>
          <p:nvPr/>
        </p:nvSpPr>
        <p:spPr>
          <a:xfrm>
            <a:off x="6671309" y="3181945"/>
            <a:ext cx="1965960" cy="389256"/>
          </a:xfrm>
          <a:prstGeom prst="ellipse">
            <a:avLst/>
          </a:prstGeom>
          <a:ln>
            <a:solidFill>
              <a:schemeClr val="bg2">
                <a:lumMod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Developers</a:t>
            </a:r>
            <a:endParaRPr lang="en-CM" dirty="0"/>
          </a:p>
        </p:txBody>
      </p:sp>
      <p:sp>
        <p:nvSpPr>
          <p:cNvPr id="16" name="Oval 15">
            <a:extLst>
              <a:ext uri="{FF2B5EF4-FFF2-40B4-BE49-F238E27FC236}">
                <a16:creationId xmlns:a16="http://schemas.microsoft.com/office/drawing/2014/main" id="{EB45599C-6470-5045-8BD4-793AEA755F47}"/>
              </a:ext>
            </a:extLst>
          </p:cNvPr>
          <p:cNvSpPr/>
          <p:nvPr/>
        </p:nvSpPr>
        <p:spPr>
          <a:xfrm>
            <a:off x="8572498" y="4668205"/>
            <a:ext cx="1965960" cy="742152"/>
          </a:xfrm>
          <a:prstGeom prst="ellipse">
            <a:avLst/>
          </a:prstGeom>
          <a:ln>
            <a:solidFill>
              <a:schemeClr val="bg2">
                <a:lumMod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Content Providers</a:t>
            </a:r>
            <a:endParaRPr lang="en-CM" dirty="0"/>
          </a:p>
        </p:txBody>
      </p:sp>
      <p:sp>
        <p:nvSpPr>
          <p:cNvPr id="17" name="Oval 16">
            <a:extLst>
              <a:ext uri="{FF2B5EF4-FFF2-40B4-BE49-F238E27FC236}">
                <a16:creationId xmlns:a16="http://schemas.microsoft.com/office/drawing/2014/main" id="{C609D5FB-6404-D886-D590-89DF272C668A}"/>
              </a:ext>
            </a:extLst>
          </p:cNvPr>
          <p:cNvSpPr/>
          <p:nvPr/>
        </p:nvSpPr>
        <p:spPr>
          <a:xfrm>
            <a:off x="4705349" y="5191524"/>
            <a:ext cx="1965960" cy="881729"/>
          </a:xfrm>
          <a:prstGeom prst="ellipse">
            <a:avLst/>
          </a:prstGeom>
          <a:ln>
            <a:solidFill>
              <a:schemeClr val="bg2">
                <a:lumMod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Government regulatory bossies</a:t>
            </a:r>
            <a:endParaRPr lang="en-CM" dirty="0"/>
          </a:p>
        </p:txBody>
      </p:sp>
      <p:sp>
        <p:nvSpPr>
          <p:cNvPr id="18" name="Oval 17">
            <a:extLst>
              <a:ext uri="{FF2B5EF4-FFF2-40B4-BE49-F238E27FC236}">
                <a16:creationId xmlns:a16="http://schemas.microsoft.com/office/drawing/2014/main" id="{0581C683-0947-C7C8-708A-47C9837153DC}"/>
              </a:ext>
            </a:extLst>
          </p:cNvPr>
          <p:cNvSpPr/>
          <p:nvPr/>
        </p:nvSpPr>
        <p:spPr>
          <a:xfrm>
            <a:off x="838200" y="4783780"/>
            <a:ext cx="1965960" cy="665473"/>
          </a:xfrm>
          <a:prstGeom prst="ellipse">
            <a:avLst/>
          </a:prstGeom>
          <a:ln>
            <a:solidFill>
              <a:schemeClr val="bg2">
                <a:lumMod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Internet service</a:t>
            </a:r>
            <a:endParaRPr lang="en-CM" dirty="0"/>
          </a:p>
        </p:txBody>
      </p:sp>
    </p:spTree>
    <p:extLst>
      <p:ext uri="{BB962C8B-B14F-4D97-AF65-F5344CB8AC3E}">
        <p14:creationId xmlns:p14="http://schemas.microsoft.com/office/powerpoint/2010/main" val="3183013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3BF30-3E9C-1FBF-9416-686DD8D0B99B}"/>
              </a:ext>
            </a:extLst>
          </p:cNvPr>
          <p:cNvSpPr>
            <a:spLocks noGrp="1"/>
          </p:cNvSpPr>
          <p:nvPr>
            <p:ph type="title"/>
          </p:nvPr>
        </p:nvSpPr>
        <p:spPr/>
        <p:txBody>
          <a:bodyPr/>
          <a:lstStyle/>
          <a:p>
            <a:r>
              <a:rPr lang="en-US" b="1" dirty="0">
                <a:solidFill>
                  <a:schemeClr val="accent3">
                    <a:lumMod val="75000"/>
                  </a:schemeClr>
                </a:solidFill>
              </a:rPr>
              <a:t>Requirement Gathering Techniques</a:t>
            </a:r>
            <a:endParaRPr lang="en-CM" dirty="0">
              <a:solidFill>
                <a:schemeClr val="accent3">
                  <a:lumMod val="75000"/>
                </a:schemeClr>
              </a:solidFill>
            </a:endParaRPr>
          </a:p>
        </p:txBody>
      </p:sp>
      <p:sp>
        <p:nvSpPr>
          <p:cNvPr id="3" name="Content Placeholder 2">
            <a:extLst>
              <a:ext uri="{FF2B5EF4-FFF2-40B4-BE49-F238E27FC236}">
                <a16:creationId xmlns:a16="http://schemas.microsoft.com/office/drawing/2014/main" id="{92AF85E2-1E2C-39CE-16AB-2DD6DD87F102}"/>
              </a:ext>
            </a:extLst>
          </p:cNvPr>
          <p:cNvSpPr>
            <a:spLocks noGrp="1"/>
          </p:cNvSpPr>
          <p:nvPr>
            <p:ph idx="1"/>
          </p:nvPr>
        </p:nvSpPr>
        <p:spPr>
          <a:xfrm>
            <a:off x="838200" y="1417320"/>
            <a:ext cx="10515600" cy="4759643"/>
          </a:xfrm>
        </p:spPr>
        <p:txBody>
          <a:bodyPr>
            <a:normAutofit fontScale="92500" lnSpcReduction="10000"/>
          </a:bodyPr>
          <a:lstStyle/>
          <a:p>
            <a:pPr marL="0" indent="0">
              <a:buNone/>
            </a:pPr>
            <a:r>
              <a:rPr lang="en-GB" dirty="0"/>
              <a:t>To ensure that the system requirements are comprehensive, accurate, and aligned with real-world challenges, multiple requirements gathering techniques were employed.</a:t>
            </a:r>
          </a:p>
          <a:p>
            <a:pPr marL="0" indent="0">
              <a:buNone/>
            </a:pPr>
            <a:endParaRPr lang="en-GB" dirty="0"/>
          </a:p>
          <a:p>
            <a:pPr marL="0" indent="0">
              <a:buNone/>
            </a:pPr>
            <a:r>
              <a:rPr lang="en-GB" b="1" i="1" dirty="0"/>
              <a:t>Student Surveys</a:t>
            </a:r>
          </a:p>
          <a:p>
            <a:pPr marL="0" indent="0">
              <a:buNone/>
            </a:pPr>
            <a:r>
              <a:rPr lang="en-GB" dirty="0"/>
              <a:t>Focusing on:</a:t>
            </a:r>
          </a:p>
          <a:p>
            <a:pPr lvl="0">
              <a:buFont typeface="Wingdings" panose="05000000000000000000" pitchFamily="2" charset="2"/>
              <a:buChar char="q"/>
            </a:pPr>
            <a:r>
              <a:rPr lang="en-GB" dirty="0"/>
              <a:t>Type of devices used for learning</a:t>
            </a:r>
          </a:p>
          <a:p>
            <a:pPr lvl="0">
              <a:buFont typeface="Wingdings" panose="05000000000000000000" pitchFamily="2" charset="2"/>
              <a:buChar char="q"/>
            </a:pPr>
            <a:r>
              <a:rPr lang="en-GB" dirty="0"/>
              <a:t>Internet connectivity and stability</a:t>
            </a:r>
          </a:p>
          <a:p>
            <a:pPr lvl="0">
              <a:buFont typeface="Wingdings" panose="05000000000000000000" pitchFamily="2" charset="2"/>
              <a:buChar char="q"/>
            </a:pPr>
            <a:r>
              <a:rPr lang="en-GB" dirty="0"/>
              <a:t>Frequency of network interruptions</a:t>
            </a:r>
          </a:p>
          <a:p>
            <a:pPr lvl="0">
              <a:buFont typeface="Wingdings" panose="05000000000000000000" pitchFamily="2" charset="2"/>
              <a:buChar char="q"/>
            </a:pPr>
            <a:r>
              <a:rPr lang="en-GB" dirty="0"/>
              <a:t>Challenges faced during online classes</a:t>
            </a:r>
          </a:p>
          <a:p>
            <a:pPr lvl="0">
              <a:buFont typeface="Wingdings" panose="05000000000000000000" pitchFamily="2" charset="2"/>
              <a:buChar char="q"/>
            </a:pPr>
            <a:r>
              <a:rPr lang="en-GB" dirty="0"/>
              <a:t>Preferred learning formats (video, audio, text)</a:t>
            </a:r>
          </a:p>
          <a:p>
            <a:pPr marL="0" indent="0">
              <a:buNone/>
            </a:pPr>
            <a:endParaRPr lang="en-CM" dirty="0"/>
          </a:p>
        </p:txBody>
      </p:sp>
      <p:pic>
        <p:nvPicPr>
          <p:cNvPr id="5" name="Picture 4">
            <a:extLst>
              <a:ext uri="{FF2B5EF4-FFF2-40B4-BE49-F238E27FC236}">
                <a16:creationId xmlns:a16="http://schemas.microsoft.com/office/drawing/2014/main" id="{BB0CB7D1-B9A6-29E9-9079-CA34CD312353}"/>
              </a:ext>
            </a:extLst>
          </p:cNvPr>
          <p:cNvPicPr>
            <a:picLocks noChangeAspect="1"/>
          </p:cNvPicPr>
          <p:nvPr/>
        </p:nvPicPr>
        <p:blipFill>
          <a:blip r:embed="rId2"/>
          <a:stretch>
            <a:fillRect/>
          </a:stretch>
        </p:blipFill>
        <p:spPr>
          <a:xfrm>
            <a:off x="6727050" y="2574159"/>
            <a:ext cx="2838846" cy="2705478"/>
          </a:xfrm>
          <a:prstGeom prst="rect">
            <a:avLst/>
          </a:prstGeom>
        </p:spPr>
      </p:pic>
    </p:spTree>
    <p:extLst>
      <p:ext uri="{BB962C8B-B14F-4D97-AF65-F5344CB8AC3E}">
        <p14:creationId xmlns:p14="http://schemas.microsoft.com/office/powerpoint/2010/main" val="2074594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544FE8-AFBE-1F68-FECD-CD6959939CC2}"/>
              </a:ext>
            </a:extLst>
          </p:cNvPr>
          <p:cNvSpPr>
            <a:spLocks noGrp="1"/>
          </p:cNvSpPr>
          <p:nvPr>
            <p:ph idx="1"/>
          </p:nvPr>
        </p:nvSpPr>
        <p:spPr>
          <a:xfrm>
            <a:off x="838200" y="594360"/>
            <a:ext cx="10515600" cy="5582603"/>
          </a:xfrm>
        </p:spPr>
        <p:txBody>
          <a:bodyPr>
            <a:normAutofit lnSpcReduction="10000"/>
          </a:bodyPr>
          <a:lstStyle/>
          <a:p>
            <a:pPr marL="0" indent="0">
              <a:buNone/>
            </a:pPr>
            <a:r>
              <a:rPr lang="en-US" b="1" i="1" dirty="0"/>
              <a:t>Instructor Interviews</a:t>
            </a:r>
          </a:p>
          <a:p>
            <a:pPr marL="0" indent="0">
              <a:buNone/>
            </a:pPr>
            <a:r>
              <a:rPr lang="en-US" dirty="0"/>
              <a:t>Focusing on:</a:t>
            </a:r>
          </a:p>
          <a:p>
            <a:pPr lvl="0">
              <a:buFont typeface="Wingdings" panose="05000000000000000000" pitchFamily="2" charset="2"/>
              <a:buChar char="q"/>
            </a:pPr>
            <a:r>
              <a:rPr lang="en-GB" dirty="0"/>
              <a:t>Platforms used for online teaching</a:t>
            </a:r>
          </a:p>
          <a:p>
            <a:pPr lvl="0">
              <a:buFont typeface="Wingdings" panose="05000000000000000000" pitchFamily="2" charset="2"/>
              <a:buChar char="q"/>
            </a:pPr>
            <a:r>
              <a:rPr lang="en-GB" dirty="0"/>
              <a:t>Challenges faced during content delivery</a:t>
            </a:r>
          </a:p>
          <a:p>
            <a:pPr lvl="0">
              <a:buFont typeface="Wingdings" panose="05000000000000000000" pitchFamily="2" charset="2"/>
              <a:buChar char="q"/>
            </a:pPr>
            <a:r>
              <a:rPr lang="en-GB" dirty="0"/>
              <a:t>Impact of poor network conditions on teaching</a:t>
            </a:r>
          </a:p>
          <a:p>
            <a:pPr marL="0" indent="0">
              <a:buNone/>
            </a:pPr>
            <a:r>
              <a:rPr lang="en-US" b="1" i="1" dirty="0"/>
              <a:t>Brainstorming</a:t>
            </a:r>
          </a:p>
          <a:p>
            <a:pPr marL="0" indent="0">
              <a:buNone/>
            </a:pPr>
            <a:r>
              <a:rPr lang="en-GB" dirty="0"/>
              <a:t>Brainstorming sessions were conducted among group members to generate ideas and define potential system features.</a:t>
            </a:r>
          </a:p>
          <a:p>
            <a:pPr marL="0" indent="0">
              <a:buNone/>
            </a:pPr>
            <a:r>
              <a:rPr lang="en-GB" dirty="0"/>
              <a:t>Suggestions from group members:</a:t>
            </a:r>
          </a:p>
          <a:p>
            <a:pPr lvl="0">
              <a:buFont typeface="Wingdings" panose="05000000000000000000" pitchFamily="2" charset="2"/>
              <a:buChar char="q"/>
            </a:pPr>
            <a:r>
              <a:rPr lang="en-GB" dirty="0"/>
              <a:t>Automatic video quality adjustment</a:t>
            </a:r>
          </a:p>
          <a:p>
            <a:pPr>
              <a:buFont typeface="Wingdings" panose="05000000000000000000" pitchFamily="2" charset="2"/>
              <a:buChar char="q"/>
            </a:pPr>
            <a:r>
              <a:rPr lang="en-GB" dirty="0"/>
              <a:t>Switching to audio-only mode</a:t>
            </a:r>
          </a:p>
          <a:p>
            <a:pPr marL="0" indent="0">
              <a:buNone/>
            </a:pPr>
            <a:r>
              <a:rPr lang="en-US" b="1" i="1" dirty="0"/>
              <a:t>Reverse Engineering</a:t>
            </a:r>
          </a:p>
          <a:p>
            <a:pPr lvl="0">
              <a:buFont typeface="Wingdings" panose="05000000000000000000" pitchFamily="2" charset="2"/>
              <a:buChar char="q"/>
            </a:pPr>
            <a:endParaRPr lang="en-GB" dirty="0"/>
          </a:p>
          <a:p>
            <a:pPr marL="0" lvl="0" indent="0">
              <a:buNone/>
            </a:pPr>
            <a:endParaRPr lang="en-GB" dirty="0"/>
          </a:p>
          <a:p>
            <a:pPr marL="0" indent="0">
              <a:buNone/>
            </a:pPr>
            <a:endParaRPr lang="en-CM" dirty="0"/>
          </a:p>
        </p:txBody>
      </p:sp>
    </p:spTree>
    <p:extLst>
      <p:ext uri="{BB962C8B-B14F-4D97-AF65-F5344CB8AC3E}">
        <p14:creationId xmlns:p14="http://schemas.microsoft.com/office/powerpoint/2010/main" val="618739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747AC-E53E-EBF1-2524-91B09F96F914}"/>
              </a:ext>
            </a:extLst>
          </p:cNvPr>
          <p:cNvSpPr>
            <a:spLocks noGrp="1"/>
          </p:cNvSpPr>
          <p:nvPr>
            <p:ph type="title"/>
          </p:nvPr>
        </p:nvSpPr>
        <p:spPr>
          <a:xfrm>
            <a:off x="838200" y="365125"/>
            <a:ext cx="10515600" cy="915035"/>
          </a:xfrm>
        </p:spPr>
        <p:txBody>
          <a:bodyPr/>
          <a:lstStyle/>
          <a:p>
            <a:r>
              <a:rPr lang="en-US" b="1" dirty="0"/>
              <a:t>Data Gathering Process</a:t>
            </a:r>
            <a:endParaRPr lang="en-CM" dirty="0"/>
          </a:p>
        </p:txBody>
      </p:sp>
      <p:sp>
        <p:nvSpPr>
          <p:cNvPr id="3" name="Content Placeholder 2">
            <a:extLst>
              <a:ext uri="{FF2B5EF4-FFF2-40B4-BE49-F238E27FC236}">
                <a16:creationId xmlns:a16="http://schemas.microsoft.com/office/drawing/2014/main" id="{1B165B40-3AB0-701D-4FD9-0E96C37C58BC}"/>
              </a:ext>
            </a:extLst>
          </p:cNvPr>
          <p:cNvSpPr>
            <a:spLocks noGrp="1"/>
          </p:cNvSpPr>
          <p:nvPr>
            <p:ph idx="1"/>
          </p:nvPr>
        </p:nvSpPr>
        <p:spPr>
          <a:xfrm>
            <a:off x="838200" y="1280160"/>
            <a:ext cx="10515600" cy="4566973"/>
          </a:xfrm>
        </p:spPr>
        <p:txBody>
          <a:bodyPr>
            <a:normAutofit fontScale="55000" lnSpcReduction="20000"/>
          </a:bodyPr>
          <a:lstStyle/>
          <a:p>
            <a:pPr marL="0" indent="0">
              <a:buNone/>
            </a:pPr>
            <a:endParaRPr lang="en-GB" dirty="0"/>
          </a:p>
          <a:p>
            <a:pPr marL="0" indent="0">
              <a:buNone/>
            </a:pPr>
            <a:r>
              <a:rPr lang="en-GB" dirty="0"/>
              <a:t>This is based on Quality of Experience (QoE) and was carried out systematically to ensure that the system requirements reflect the real challenges faced by users in low-resource environments such as Cameroon.</a:t>
            </a:r>
          </a:p>
          <a:p>
            <a:pPr>
              <a:lnSpc>
                <a:spcPct val="170000"/>
              </a:lnSpc>
              <a:buFont typeface="Wingdings" panose="05000000000000000000" pitchFamily="2" charset="2"/>
              <a:buChar char="q"/>
            </a:pPr>
            <a:r>
              <a:rPr lang="en-US" b="1" dirty="0"/>
              <a:t>Survey Data Collection: </a:t>
            </a:r>
          </a:p>
          <a:p>
            <a:pPr marL="0" indent="0">
              <a:lnSpc>
                <a:spcPct val="170000"/>
              </a:lnSpc>
              <a:buNone/>
            </a:pPr>
            <a:r>
              <a:rPr lang="en-US" dirty="0"/>
              <a:t>This was mainly designed for the student population</a:t>
            </a:r>
          </a:p>
          <a:p>
            <a:pPr>
              <a:lnSpc>
                <a:spcPct val="170000"/>
              </a:lnSpc>
              <a:buFont typeface="Wingdings" panose="05000000000000000000" pitchFamily="2" charset="2"/>
              <a:buChar char="q"/>
            </a:pPr>
            <a:r>
              <a:rPr lang="en-US" b="1" dirty="0"/>
              <a:t>Interview Data Collection:</a:t>
            </a:r>
          </a:p>
          <a:p>
            <a:pPr marL="0" indent="0">
              <a:lnSpc>
                <a:spcPct val="170000"/>
              </a:lnSpc>
              <a:buNone/>
            </a:pPr>
            <a:r>
              <a:rPr lang="en-US" dirty="0"/>
              <a:t>Designed to get the feedback from the teaching population. Since its proving that hands-on interview might actually be the best way to communicate with the superiors, since they have little or no time for filling survey forms. For the purpose of attaining high end, we interviewed teachers of different backgrounds and fields of studies.</a:t>
            </a:r>
          </a:p>
          <a:p>
            <a:pPr>
              <a:lnSpc>
                <a:spcPct val="170000"/>
              </a:lnSpc>
              <a:buFont typeface="Wingdings" panose="05000000000000000000" pitchFamily="2" charset="2"/>
              <a:buChar char="q"/>
            </a:pPr>
            <a:r>
              <a:rPr lang="en-US" b="1" dirty="0"/>
              <a:t>Reverse engineering: </a:t>
            </a:r>
            <a:r>
              <a:rPr lang="en-US" dirty="0"/>
              <a:t>Study of pre-existing applications</a:t>
            </a:r>
          </a:p>
          <a:p>
            <a:pPr>
              <a:lnSpc>
                <a:spcPct val="170000"/>
              </a:lnSpc>
              <a:buFont typeface="Wingdings" panose="05000000000000000000" pitchFamily="2" charset="2"/>
              <a:buChar char="q"/>
            </a:pPr>
            <a:r>
              <a:rPr lang="en-US" b="1" dirty="0"/>
              <a:t>Brainstorming Sessions: </a:t>
            </a:r>
            <a:r>
              <a:rPr lang="en-US" dirty="0"/>
              <a:t>Held with group members for reckoning design</a:t>
            </a:r>
            <a:endParaRPr lang="en-CM" dirty="0"/>
          </a:p>
        </p:txBody>
      </p:sp>
      <p:pic>
        <p:nvPicPr>
          <p:cNvPr id="5" name="Picture 4">
            <a:extLst>
              <a:ext uri="{FF2B5EF4-FFF2-40B4-BE49-F238E27FC236}">
                <a16:creationId xmlns:a16="http://schemas.microsoft.com/office/drawing/2014/main" id="{D28E038F-98CC-5881-6AC7-FF0008F24E17}"/>
              </a:ext>
            </a:extLst>
          </p:cNvPr>
          <p:cNvPicPr>
            <a:picLocks noChangeAspect="1"/>
          </p:cNvPicPr>
          <p:nvPr/>
        </p:nvPicPr>
        <p:blipFill>
          <a:blip r:embed="rId2"/>
          <a:stretch>
            <a:fillRect/>
          </a:stretch>
        </p:blipFill>
        <p:spPr>
          <a:xfrm rot="21125597">
            <a:off x="7213767" y="4524401"/>
            <a:ext cx="3983091" cy="1614379"/>
          </a:xfrm>
          <a:prstGeom prst="rect">
            <a:avLst/>
          </a:prstGeom>
        </p:spPr>
      </p:pic>
    </p:spTree>
    <p:extLst>
      <p:ext uri="{BB962C8B-B14F-4D97-AF65-F5344CB8AC3E}">
        <p14:creationId xmlns:p14="http://schemas.microsoft.com/office/powerpoint/2010/main" val="51863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5D4973A-DB58-B8EA-E08F-982828BA3673}"/>
              </a:ext>
            </a:extLst>
          </p:cNvPr>
          <p:cNvPicPr>
            <a:picLocks noGrp="1" noChangeAspect="1"/>
          </p:cNvPicPr>
          <p:nvPr>
            <p:ph idx="1"/>
          </p:nvPr>
        </p:nvPicPr>
        <p:blipFill>
          <a:blip r:embed="rId2"/>
          <a:stretch>
            <a:fillRect/>
          </a:stretch>
        </p:blipFill>
        <p:spPr>
          <a:xfrm>
            <a:off x="678180" y="960120"/>
            <a:ext cx="9883140" cy="4411980"/>
          </a:xfrm>
          <a:prstGeom prst="rect">
            <a:avLst/>
          </a:prstGeom>
        </p:spPr>
      </p:pic>
    </p:spTree>
    <p:extLst>
      <p:ext uri="{BB962C8B-B14F-4D97-AF65-F5344CB8AC3E}">
        <p14:creationId xmlns:p14="http://schemas.microsoft.com/office/powerpoint/2010/main" val="173085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DB886-AC04-9971-6C2F-48069D9250C6}"/>
              </a:ext>
            </a:extLst>
          </p:cNvPr>
          <p:cNvSpPr>
            <a:spLocks noGrp="1"/>
          </p:cNvSpPr>
          <p:nvPr>
            <p:ph type="title"/>
          </p:nvPr>
        </p:nvSpPr>
        <p:spPr>
          <a:xfrm>
            <a:off x="838200" y="365125"/>
            <a:ext cx="10515600" cy="869315"/>
          </a:xfrm>
        </p:spPr>
        <p:txBody>
          <a:bodyPr/>
          <a:lstStyle/>
          <a:p>
            <a:r>
              <a:rPr lang="en-US" b="1" dirty="0"/>
              <a:t>Data Cleaning:</a:t>
            </a:r>
            <a:endParaRPr lang="en-CM" dirty="0"/>
          </a:p>
        </p:txBody>
      </p:sp>
      <p:sp>
        <p:nvSpPr>
          <p:cNvPr id="3" name="Content Placeholder 2">
            <a:extLst>
              <a:ext uri="{FF2B5EF4-FFF2-40B4-BE49-F238E27FC236}">
                <a16:creationId xmlns:a16="http://schemas.microsoft.com/office/drawing/2014/main" id="{5A3509F9-BB2A-87CC-1162-9C1D0B929E66}"/>
              </a:ext>
            </a:extLst>
          </p:cNvPr>
          <p:cNvSpPr>
            <a:spLocks noGrp="1"/>
          </p:cNvSpPr>
          <p:nvPr>
            <p:ph idx="1"/>
          </p:nvPr>
        </p:nvSpPr>
        <p:spPr>
          <a:xfrm>
            <a:off x="838200" y="1234440"/>
            <a:ext cx="10515600" cy="4942523"/>
          </a:xfrm>
        </p:spPr>
        <p:txBody>
          <a:bodyPr/>
          <a:lstStyle/>
          <a:p>
            <a:r>
              <a:rPr lang="en-US" dirty="0"/>
              <a:t>Data cleaning is a walk through to make our data set accurate and </a:t>
            </a:r>
            <a:r>
              <a:rPr lang="en-US" dirty="0" err="1"/>
              <a:t>efficeint</a:t>
            </a:r>
            <a:r>
              <a:rPr lang="en-US" dirty="0"/>
              <a:t>. It involves...</a:t>
            </a:r>
          </a:p>
          <a:p>
            <a:pPr marL="0" indent="0">
              <a:buNone/>
            </a:pPr>
            <a:r>
              <a:rPr lang="en-US" sz="3200" dirty="0">
                <a:latin typeface="Monotype Corsiva" panose="03010101010201010101" pitchFamily="66" charset="0"/>
              </a:rPr>
              <a:t>Detecting , correcting, removing incomplete, inaccurate or irrelevant data from the data set.</a:t>
            </a:r>
          </a:p>
          <a:p>
            <a:pPr marL="0" indent="0">
              <a:buNone/>
            </a:pPr>
            <a:r>
              <a:rPr lang="en-US" sz="3600" b="1" dirty="0"/>
              <a:t>Importance:</a:t>
            </a:r>
          </a:p>
          <a:p>
            <a:pPr marL="0" indent="0">
              <a:buNone/>
            </a:pPr>
            <a:endParaRPr lang="en-US" sz="3200" b="1" dirty="0">
              <a:latin typeface="+mj-lt"/>
            </a:endParaRPr>
          </a:p>
        </p:txBody>
      </p:sp>
      <p:sp>
        <p:nvSpPr>
          <p:cNvPr id="4" name="Rectangle: Rounded Corners 3">
            <a:extLst>
              <a:ext uri="{FF2B5EF4-FFF2-40B4-BE49-F238E27FC236}">
                <a16:creationId xmlns:a16="http://schemas.microsoft.com/office/drawing/2014/main" id="{895C617C-5270-3774-ACB6-9EB3A0BCC4F8}"/>
              </a:ext>
            </a:extLst>
          </p:cNvPr>
          <p:cNvSpPr/>
          <p:nvPr/>
        </p:nvSpPr>
        <p:spPr>
          <a:xfrm>
            <a:off x="941696" y="3814346"/>
            <a:ext cx="3753134" cy="70968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Enhance decision making</a:t>
            </a:r>
            <a:endParaRPr lang="en-CM" dirty="0"/>
          </a:p>
        </p:txBody>
      </p:sp>
      <p:sp>
        <p:nvSpPr>
          <p:cNvPr id="5" name="Rectangle: Rounded Corners 4">
            <a:extLst>
              <a:ext uri="{FF2B5EF4-FFF2-40B4-BE49-F238E27FC236}">
                <a16:creationId xmlns:a16="http://schemas.microsoft.com/office/drawing/2014/main" id="{4BDFD52B-B630-49D6-D888-53935C394455}"/>
              </a:ext>
            </a:extLst>
          </p:cNvPr>
          <p:cNvSpPr/>
          <p:nvPr/>
        </p:nvSpPr>
        <p:spPr>
          <a:xfrm>
            <a:off x="3847532" y="4757597"/>
            <a:ext cx="3753134" cy="70968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Boost operational efficiency</a:t>
            </a:r>
            <a:endParaRPr lang="en-CM" dirty="0"/>
          </a:p>
        </p:txBody>
      </p:sp>
      <p:sp>
        <p:nvSpPr>
          <p:cNvPr id="6" name="Rectangle: Rounded Corners 5">
            <a:extLst>
              <a:ext uri="{FF2B5EF4-FFF2-40B4-BE49-F238E27FC236}">
                <a16:creationId xmlns:a16="http://schemas.microsoft.com/office/drawing/2014/main" id="{0F35F683-8136-5353-3303-FFBB2168EEBA}"/>
              </a:ext>
            </a:extLst>
          </p:cNvPr>
          <p:cNvSpPr/>
          <p:nvPr/>
        </p:nvSpPr>
        <p:spPr>
          <a:xfrm>
            <a:off x="7795146" y="5467280"/>
            <a:ext cx="3753134" cy="70968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Ensure compliance</a:t>
            </a:r>
            <a:endParaRPr lang="en-CM" dirty="0"/>
          </a:p>
        </p:txBody>
      </p:sp>
      <p:pic>
        <p:nvPicPr>
          <p:cNvPr id="8" name="Picture 7">
            <a:extLst>
              <a:ext uri="{FF2B5EF4-FFF2-40B4-BE49-F238E27FC236}">
                <a16:creationId xmlns:a16="http://schemas.microsoft.com/office/drawing/2014/main" id="{4F76A4B1-F602-CDDA-1B71-503194DB2BF5}"/>
              </a:ext>
            </a:extLst>
          </p:cNvPr>
          <p:cNvPicPr>
            <a:picLocks noChangeAspect="1"/>
          </p:cNvPicPr>
          <p:nvPr/>
        </p:nvPicPr>
        <p:blipFill>
          <a:blip r:embed="rId2"/>
          <a:stretch>
            <a:fillRect/>
          </a:stretch>
        </p:blipFill>
        <p:spPr>
          <a:xfrm rot="21288026">
            <a:off x="8722193" y="2806632"/>
            <a:ext cx="1899041" cy="2579906"/>
          </a:xfrm>
          <a:prstGeom prst="rect">
            <a:avLst/>
          </a:prstGeom>
        </p:spPr>
      </p:pic>
    </p:spTree>
    <p:extLst>
      <p:ext uri="{BB962C8B-B14F-4D97-AF65-F5344CB8AC3E}">
        <p14:creationId xmlns:p14="http://schemas.microsoft.com/office/powerpoint/2010/main" val="1103422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54939-0707-6447-D5ED-62F95DAB1AC7}"/>
              </a:ext>
            </a:extLst>
          </p:cNvPr>
          <p:cNvSpPr>
            <a:spLocks noGrp="1"/>
          </p:cNvSpPr>
          <p:nvPr>
            <p:ph type="title"/>
          </p:nvPr>
        </p:nvSpPr>
        <p:spPr>
          <a:xfrm>
            <a:off x="838200" y="365126"/>
            <a:ext cx="10515600" cy="576984"/>
          </a:xfrm>
        </p:spPr>
        <p:txBody>
          <a:bodyPr>
            <a:normAutofit fontScale="90000"/>
          </a:bodyPr>
          <a:lstStyle/>
          <a:p>
            <a:r>
              <a:rPr lang="en-US" b="1" dirty="0"/>
              <a:t>Process through data cleaning:</a:t>
            </a:r>
            <a:endParaRPr lang="en-CM" b="1" dirty="0"/>
          </a:p>
        </p:txBody>
      </p:sp>
      <p:sp>
        <p:nvSpPr>
          <p:cNvPr id="3" name="Content Placeholder 2">
            <a:extLst>
              <a:ext uri="{FF2B5EF4-FFF2-40B4-BE49-F238E27FC236}">
                <a16:creationId xmlns:a16="http://schemas.microsoft.com/office/drawing/2014/main" id="{FBC1238C-C357-E7D8-102F-9F0BA1FABCB6}"/>
              </a:ext>
            </a:extLst>
          </p:cNvPr>
          <p:cNvSpPr>
            <a:spLocks noGrp="1"/>
          </p:cNvSpPr>
          <p:nvPr>
            <p:ph idx="1"/>
          </p:nvPr>
        </p:nvSpPr>
        <p:spPr>
          <a:xfrm>
            <a:off x="838200" y="1246909"/>
            <a:ext cx="10515600" cy="4930054"/>
          </a:xfrm>
        </p:spPr>
        <p:txBody>
          <a:bodyPr/>
          <a:lstStyle/>
          <a:p>
            <a:r>
              <a:rPr lang="en-US" dirty="0"/>
              <a:t>Checking for duplicates: Identifying identical data and removing</a:t>
            </a:r>
          </a:p>
          <a:p>
            <a:r>
              <a:rPr lang="en-US" dirty="0"/>
              <a:t>Open-Ends </a:t>
            </a:r>
          </a:p>
          <a:p>
            <a:r>
              <a:rPr lang="en-GB" dirty="0"/>
              <a:t>Removing or hiding responses which are not very important for our aim e.g. emails, dates, etc</a:t>
            </a:r>
          </a:p>
          <a:p>
            <a:endParaRPr lang="en-CM" dirty="0"/>
          </a:p>
        </p:txBody>
      </p:sp>
      <p:pic>
        <p:nvPicPr>
          <p:cNvPr id="5" name="Picture 4">
            <a:extLst>
              <a:ext uri="{FF2B5EF4-FFF2-40B4-BE49-F238E27FC236}">
                <a16:creationId xmlns:a16="http://schemas.microsoft.com/office/drawing/2014/main" id="{134B80D4-468B-82E9-5C00-D4F7C5F8A710}"/>
              </a:ext>
            </a:extLst>
          </p:cNvPr>
          <p:cNvPicPr>
            <a:picLocks noChangeAspect="1"/>
          </p:cNvPicPr>
          <p:nvPr/>
        </p:nvPicPr>
        <p:blipFill>
          <a:blip r:embed="rId2"/>
          <a:stretch>
            <a:fillRect/>
          </a:stretch>
        </p:blipFill>
        <p:spPr>
          <a:xfrm>
            <a:off x="5330287" y="2948854"/>
            <a:ext cx="3581900" cy="3228109"/>
          </a:xfrm>
          <a:prstGeom prst="rect">
            <a:avLst/>
          </a:prstGeom>
        </p:spPr>
      </p:pic>
    </p:spTree>
    <p:extLst>
      <p:ext uri="{BB962C8B-B14F-4D97-AF65-F5344CB8AC3E}">
        <p14:creationId xmlns:p14="http://schemas.microsoft.com/office/powerpoint/2010/main" val="3489913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7152AE-FC5F-144D-7EB0-335AA55055C3}"/>
              </a:ext>
            </a:extLst>
          </p:cNvPr>
          <p:cNvSpPr>
            <a:spLocks noGrp="1"/>
          </p:cNvSpPr>
          <p:nvPr>
            <p:ph idx="1"/>
          </p:nvPr>
        </p:nvSpPr>
        <p:spPr>
          <a:xfrm>
            <a:off x="838200" y="637309"/>
            <a:ext cx="10515600" cy="5539654"/>
          </a:xfrm>
        </p:spPr>
        <p:txBody>
          <a:bodyPr>
            <a:normAutofit lnSpcReduction="10000"/>
          </a:bodyPr>
          <a:lstStyle/>
          <a:p>
            <a:r>
              <a:rPr lang="en-GB" dirty="0"/>
              <a:t>Correcting wrong formats or spellings into the right spellings or so</a:t>
            </a:r>
          </a:p>
          <a:p>
            <a:pPr marL="0" indent="0">
              <a:buNone/>
            </a:pPr>
            <a:r>
              <a:rPr lang="en-GB" dirty="0"/>
              <a:t>This will ease the process of analyses and virtualisation</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lvl="0"/>
            <a:r>
              <a:rPr lang="en-GB" dirty="0"/>
              <a:t>The next was Dividing the data into Qualitative and Quantitative.</a:t>
            </a:r>
          </a:p>
          <a:p>
            <a:pPr marL="0" lvl="0" indent="0">
              <a:buNone/>
            </a:pPr>
            <a:r>
              <a:rPr lang="en-GB" b="1" dirty="0"/>
              <a:t>Qualitative= What is happening</a:t>
            </a:r>
          </a:p>
          <a:p>
            <a:pPr marL="0" lvl="0" indent="0">
              <a:buNone/>
            </a:pPr>
            <a:r>
              <a:rPr lang="en-GB" b="1" dirty="0"/>
              <a:t>Quantitative= why it is happening</a:t>
            </a:r>
          </a:p>
          <a:p>
            <a:pPr marL="0" indent="0">
              <a:buNone/>
            </a:pPr>
            <a:endParaRPr lang="en-CM" dirty="0"/>
          </a:p>
        </p:txBody>
      </p:sp>
      <p:pic>
        <p:nvPicPr>
          <p:cNvPr id="4" name="Picture 3">
            <a:extLst>
              <a:ext uri="{FF2B5EF4-FFF2-40B4-BE49-F238E27FC236}">
                <a16:creationId xmlns:a16="http://schemas.microsoft.com/office/drawing/2014/main" id="{8D45A61D-D9E3-1D56-F4FD-DAEDDC334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6854" y="1647998"/>
            <a:ext cx="1476375" cy="2675890"/>
          </a:xfrm>
          <a:prstGeom prst="rect">
            <a:avLst/>
          </a:prstGeom>
        </p:spPr>
      </p:pic>
      <p:pic>
        <p:nvPicPr>
          <p:cNvPr id="5" name="Picture 4">
            <a:extLst>
              <a:ext uri="{FF2B5EF4-FFF2-40B4-BE49-F238E27FC236}">
                <a16:creationId xmlns:a16="http://schemas.microsoft.com/office/drawing/2014/main" id="{708657CF-E892-7FD1-9579-C74A26F1D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4012" y="2104563"/>
            <a:ext cx="1323975" cy="1762760"/>
          </a:xfrm>
          <a:prstGeom prst="rect">
            <a:avLst/>
          </a:prstGeom>
        </p:spPr>
      </p:pic>
    </p:spTree>
    <p:extLst>
      <p:ext uri="{BB962C8B-B14F-4D97-AF65-F5344CB8AC3E}">
        <p14:creationId xmlns:p14="http://schemas.microsoft.com/office/powerpoint/2010/main" val="326261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98B41-351A-B84E-C763-1713D89D541E}"/>
              </a:ext>
            </a:extLst>
          </p:cNvPr>
          <p:cNvSpPr>
            <a:spLocks noGrp="1"/>
          </p:cNvSpPr>
          <p:nvPr>
            <p:ph type="title"/>
          </p:nvPr>
        </p:nvSpPr>
        <p:spPr>
          <a:xfrm>
            <a:off x="838200" y="365125"/>
            <a:ext cx="10515600" cy="709295"/>
          </a:xfrm>
        </p:spPr>
        <p:txBody>
          <a:bodyPr/>
          <a:lstStyle/>
          <a:p>
            <a:r>
              <a:rPr lang="en-US" dirty="0"/>
              <a:t>Data Virtualization:</a:t>
            </a:r>
            <a:endParaRPr lang="en-CM" dirty="0"/>
          </a:p>
        </p:txBody>
      </p:sp>
      <p:sp>
        <p:nvSpPr>
          <p:cNvPr id="3" name="Content Placeholder 2">
            <a:extLst>
              <a:ext uri="{FF2B5EF4-FFF2-40B4-BE49-F238E27FC236}">
                <a16:creationId xmlns:a16="http://schemas.microsoft.com/office/drawing/2014/main" id="{BAB63276-FD10-5795-3559-C93241B8461A}"/>
              </a:ext>
            </a:extLst>
          </p:cNvPr>
          <p:cNvSpPr>
            <a:spLocks noGrp="1"/>
          </p:cNvSpPr>
          <p:nvPr>
            <p:ph idx="1"/>
          </p:nvPr>
        </p:nvSpPr>
        <p:spPr>
          <a:xfrm>
            <a:off x="792480" y="1051560"/>
            <a:ext cx="10515600" cy="5102543"/>
          </a:xfrm>
        </p:spPr>
        <p:txBody>
          <a:bodyPr/>
          <a:lstStyle/>
          <a:p>
            <a:pPr marL="0" indent="0">
              <a:buNone/>
            </a:pPr>
            <a:r>
              <a:rPr lang="en-US" dirty="0"/>
              <a:t>Virtualization is mainly carried out to aid in identifying errors during the data cleaning process.</a:t>
            </a:r>
          </a:p>
          <a:p>
            <a:pPr marL="0" indent="0">
              <a:buNone/>
            </a:pPr>
            <a:r>
              <a:rPr lang="en-US" dirty="0"/>
              <a:t>Here we simply represents data in multiple formats in other to see our progress during cleaning. This was done on excel</a:t>
            </a:r>
          </a:p>
          <a:p>
            <a:pPr marL="0" indent="0">
              <a:buNone/>
            </a:pPr>
            <a:r>
              <a:rPr lang="en-US" dirty="0"/>
              <a:t>As seen</a:t>
            </a:r>
          </a:p>
          <a:p>
            <a:pPr marL="0" indent="0">
              <a:buNone/>
            </a:pPr>
            <a:r>
              <a:rPr lang="en-US" b="1" dirty="0"/>
              <a:t>Quantitative e.g. “Open ended questions”:</a:t>
            </a:r>
          </a:p>
          <a:p>
            <a:pPr marL="0" indent="0">
              <a:buNone/>
            </a:pPr>
            <a:endParaRPr lang="en-CM" dirty="0"/>
          </a:p>
        </p:txBody>
      </p:sp>
      <p:pic>
        <p:nvPicPr>
          <p:cNvPr id="4" name="Picture 3">
            <a:extLst>
              <a:ext uri="{FF2B5EF4-FFF2-40B4-BE49-F238E27FC236}">
                <a16:creationId xmlns:a16="http://schemas.microsoft.com/office/drawing/2014/main" id="{399482FE-517D-9149-58F5-D377FC313C95}"/>
              </a:ext>
            </a:extLst>
          </p:cNvPr>
          <p:cNvPicPr>
            <a:picLocks noChangeAspect="1"/>
          </p:cNvPicPr>
          <p:nvPr/>
        </p:nvPicPr>
        <p:blipFill>
          <a:blip r:embed="rId2"/>
          <a:stretch>
            <a:fillRect/>
          </a:stretch>
        </p:blipFill>
        <p:spPr>
          <a:xfrm>
            <a:off x="0" y="3886835"/>
            <a:ext cx="5731510" cy="2971165"/>
          </a:xfrm>
          <a:prstGeom prst="rect">
            <a:avLst/>
          </a:prstGeom>
        </p:spPr>
      </p:pic>
      <p:pic>
        <p:nvPicPr>
          <p:cNvPr id="5" name="Picture 4">
            <a:extLst>
              <a:ext uri="{FF2B5EF4-FFF2-40B4-BE49-F238E27FC236}">
                <a16:creationId xmlns:a16="http://schemas.microsoft.com/office/drawing/2014/main" id="{C1EE2D2C-AA62-D5A9-A238-445B92FE0CC4}"/>
              </a:ext>
            </a:extLst>
          </p:cNvPr>
          <p:cNvPicPr>
            <a:picLocks noChangeAspect="1"/>
          </p:cNvPicPr>
          <p:nvPr/>
        </p:nvPicPr>
        <p:blipFill>
          <a:blip r:embed="rId3"/>
          <a:srcRect l="27258" t="21680"/>
          <a:stretch>
            <a:fillRect/>
          </a:stretch>
        </p:blipFill>
        <p:spPr>
          <a:xfrm>
            <a:off x="7429500" y="2651760"/>
            <a:ext cx="4671060" cy="3841115"/>
          </a:xfrm>
          <a:prstGeom prst="rect">
            <a:avLst/>
          </a:prstGeom>
        </p:spPr>
      </p:pic>
    </p:spTree>
    <p:extLst>
      <p:ext uri="{BB962C8B-B14F-4D97-AF65-F5344CB8AC3E}">
        <p14:creationId xmlns:p14="http://schemas.microsoft.com/office/powerpoint/2010/main" val="2458740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338344-652B-AECE-189F-AF8C045247E9}"/>
              </a:ext>
            </a:extLst>
          </p:cNvPr>
          <p:cNvSpPr>
            <a:spLocks noGrp="1"/>
          </p:cNvSpPr>
          <p:nvPr>
            <p:ph idx="1"/>
          </p:nvPr>
        </p:nvSpPr>
        <p:spPr>
          <a:xfrm>
            <a:off x="472440" y="636904"/>
            <a:ext cx="10515600" cy="5398135"/>
          </a:xfrm>
        </p:spPr>
        <p:txBody>
          <a:bodyPr>
            <a:normAutofit/>
          </a:bodyPr>
          <a:lstStyle/>
          <a:p>
            <a:pPr marL="0" indent="0">
              <a:buNone/>
            </a:pPr>
            <a:r>
              <a:rPr lang="en-US" sz="3600" b="1" dirty="0"/>
              <a:t>Qualitative: e.g. “On a scale of 1-10…”</a:t>
            </a:r>
            <a:endParaRPr lang="en-CM" sz="3600" b="1" dirty="0"/>
          </a:p>
        </p:txBody>
      </p:sp>
      <p:pic>
        <p:nvPicPr>
          <p:cNvPr id="4" name="Picture 3">
            <a:extLst>
              <a:ext uri="{FF2B5EF4-FFF2-40B4-BE49-F238E27FC236}">
                <a16:creationId xmlns:a16="http://schemas.microsoft.com/office/drawing/2014/main" id="{9CA86339-5931-59F5-4395-ED3010008C11}"/>
              </a:ext>
            </a:extLst>
          </p:cNvPr>
          <p:cNvPicPr>
            <a:picLocks noChangeAspect="1"/>
          </p:cNvPicPr>
          <p:nvPr/>
        </p:nvPicPr>
        <p:blipFill>
          <a:blip r:embed="rId2">
            <a:extLst>
              <a:ext uri="{28A0092B-C50C-407E-A947-70E740481C1C}">
                <a14:useLocalDpi xmlns:a14="http://schemas.microsoft.com/office/drawing/2010/main" val="0"/>
              </a:ext>
            </a:extLst>
          </a:blip>
          <a:srcRect l="-1005" t="18431" r="24954" b="1985"/>
          <a:stretch>
            <a:fillRect/>
          </a:stretch>
        </p:blipFill>
        <p:spPr>
          <a:xfrm>
            <a:off x="6768465" y="3752831"/>
            <a:ext cx="4951095" cy="2564130"/>
          </a:xfrm>
          <a:prstGeom prst="rect">
            <a:avLst/>
          </a:prstGeom>
          <a:ln>
            <a:noFill/>
          </a:ln>
        </p:spPr>
      </p:pic>
      <p:pic>
        <p:nvPicPr>
          <p:cNvPr id="5" name="Picture 4">
            <a:extLst>
              <a:ext uri="{FF2B5EF4-FFF2-40B4-BE49-F238E27FC236}">
                <a16:creationId xmlns:a16="http://schemas.microsoft.com/office/drawing/2014/main" id="{B6801E3C-DE2A-3B92-1142-31FEC32FC1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092" y="1817687"/>
            <a:ext cx="5731510" cy="3222625"/>
          </a:xfrm>
          <a:prstGeom prst="rect">
            <a:avLst/>
          </a:prstGeom>
        </p:spPr>
      </p:pic>
    </p:spTree>
    <p:extLst>
      <p:ext uri="{BB962C8B-B14F-4D97-AF65-F5344CB8AC3E}">
        <p14:creationId xmlns:p14="http://schemas.microsoft.com/office/powerpoint/2010/main" val="3401040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FA3C5-BE15-A661-3AA1-1F782C6337BB}"/>
              </a:ext>
            </a:extLst>
          </p:cNvPr>
          <p:cNvSpPr>
            <a:spLocks noGrp="1"/>
          </p:cNvSpPr>
          <p:nvPr>
            <p:ph type="title"/>
          </p:nvPr>
        </p:nvSpPr>
        <p:spPr>
          <a:xfrm>
            <a:off x="838200" y="681037"/>
            <a:ext cx="10515600" cy="732155"/>
          </a:xfrm>
        </p:spPr>
        <p:txBody>
          <a:bodyPr>
            <a:normAutofit fontScale="90000"/>
          </a:bodyPr>
          <a:lstStyle/>
          <a:p>
            <a:r>
              <a:rPr lang="en-US" b="1" dirty="0"/>
              <a:t>User Reluctance Assessment and Mitigation Strategies</a:t>
            </a:r>
            <a:br>
              <a:rPr lang="en-US" b="1" dirty="0"/>
            </a:br>
            <a:endParaRPr lang="en-CM" dirty="0"/>
          </a:p>
        </p:txBody>
      </p:sp>
      <p:sp>
        <p:nvSpPr>
          <p:cNvPr id="3" name="Content Placeholder 2">
            <a:extLst>
              <a:ext uri="{FF2B5EF4-FFF2-40B4-BE49-F238E27FC236}">
                <a16:creationId xmlns:a16="http://schemas.microsoft.com/office/drawing/2014/main" id="{8D2CB60F-BC48-E849-1B5A-34327948AF3E}"/>
              </a:ext>
            </a:extLst>
          </p:cNvPr>
          <p:cNvSpPr>
            <a:spLocks noGrp="1"/>
          </p:cNvSpPr>
          <p:nvPr>
            <p:ph idx="1"/>
          </p:nvPr>
        </p:nvSpPr>
        <p:spPr>
          <a:xfrm>
            <a:off x="838200" y="1413192"/>
            <a:ext cx="10515600" cy="4763771"/>
          </a:xfrm>
        </p:spPr>
        <p:txBody>
          <a:bodyPr>
            <a:normAutofit lnSpcReduction="10000"/>
          </a:bodyPr>
          <a:lstStyle/>
          <a:p>
            <a:pPr marL="0" indent="0">
              <a:buNone/>
            </a:pPr>
            <a:endParaRPr lang="en-GB" dirty="0"/>
          </a:p>
          <a:p>
            <a:pPr marL="0" indent="0">
              <a:buNone/>
            </a:pPr>
            <a:r>
              <a:rPr lang="en-GB" dirty="0"/>
              <a:t>User reluctance refers to the reasons why users may hesitate or refuse to use a mobile application.</a:t>
            </a:r>
          </a:p>
          <a:p>
            <a:pPr marL="0" indent="0">
              <a:buNone/>
            </a:pPr>
            <a:r>
              <a:rPr lang="en-GB" dirty="0"/>
              <a:t>Based on analysis and general user behaviour, several key reluctance factors have been identified.</a:t>
            </a:r>
          </a:p>
          <a:p>
            <a:pPr marL="0" indent="0">
              <a:buNone/>
            </a:pPr>
            <a:endParaRPr lang="en-GB" dirty="0"/>
          </a:p>
          <a:p>
            <a:pPr>
              <a:buFont typeface="Wingdings" panose="05000000000000000000" pitchFamily="2" charset="2"/>
              <a:buChar char="q"/>
            </a:pPr>
            <a:r>
              <a:rPr lang="en-US" b="1" dirty="0"/>
              <a:t>High Data Costs</a:t>
            </a:r>
          </a:p>
          <a:p>
            <a:pPr>
              <a:buFont typeface="Wingdings" panose="05000000000000000000" pitchFamily="2" charset="2"/>
              <a:buChar char="q"/>
            </a:pPr>
            <a:r>
              <a:rPr lang="en-US" b="1" dirty="0"/>
              <a:t>Poor Digital Literacy</a:t>
            </a:r>
          </a:p>
          <a:p>
            <a:pPr>
              <a:buFont typeface="Wingdings" panose="05000000000000000000" pitchFamily="2" charset="2"/>
              <a:buChar char="q"/>
            </a:pPr>
            <a:r>
              <a:rPr lang="en-GB" b="1" dirty="0"/>
              <a:t>Lack of Trust in New Platforms</a:t>
            </a:r>
            <a:endParaRPr lang="en-GB" dirty="0"/>
          </a:p>
          <a:p>
            <a:pPr>
              <a:buFont typeface="Wingdings" panose="05000000000000000000" pitchFamily="2" charset="2"/>
              <a:buChar char="q"/>
            </a:pPr>
            <a:r>
              <a:rPr lang="en-US" b="1" dirty="0"/>
              <a:t>Privacy Concerns</a:t>
            </a:r>
            <a:endParaRPr lang="en-CM" dirty="0"/>
          </a:p>
        </p:txBody>
      </p:sp>
      <p:pic>
        <p:nvPicPr>
          <p:cNvPr id="5" name="Picture 4">
            <a:extLst>
              <a:ext uri="{FF2B5EF4-FFF2-40B4-BE49-F238E27FC236}">
                <a16:creationId xmlns:a16="http://schemas.microsoft.com/office/drawing/2014/main" id="{7DDCAD69-532B-C0FE-79EE-BB5D20B3D0B6}"/>
              </a:ext>
            </a:extLst>
          </p:cNvPr>
          <p:cNvPicPr>
            <a:picLocks noChangeAspect="1"/>
          </p:cNvPicPr>
          <p:nvPr/>
        </p:nvPicPr>
        <p:blipFill>
          <a:blip r:embed="rId2"/>
          <a:stretch>
            <a:fillRect/>
          </a:stretch>
        </p:blipFill>
        <p:spPr>
          <a:xfrm>
            <a:off x="6577195" y="3429000"/>
            <a:ext cx="3581900" cy="2667372"/>
          </a:xfrm>
          <a:prstGeom prst="rect">
            <a:avLst/>
          </a:prstGeom>
        </p:spPr>
      </p:pic>
    </p:spTree>
    <p:extLst>
      <p:ext uri="{BB962C8B-B14F-4D97-AF65-F5344CB8AC3E}">
        <p14:creationId xmlns:p14="http://schemas.microsoft.com/office/powerpoint/2010/main" val="243705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E9A70A-FE59-6887-7B80-DA0167FE9F40}"/>
              </a:ext>
            </a:extLst>
          </p:cNvPr>
          <p:cNvSpPr>
            <a:spLocks noGrp="1"/>
          </p:cNvSpPr>
          <p:nvPr>
            <p:ph idx="1"/>
          </p:nvPr>
        </p:nvSpPr>
        <p:spPr>
          <a:xfrm>
            <a:off x="838200" y="411480"/>
            <a:ext cx="10515600" cy="5765483"/>
          </a:xfrm>
        </p:spPr>
        <p:txBody>
          <a:bodyPr/>
          <a:lstStyle/>
          <a:p>
            <a:pPr marL="0" indent="0">
              <a:buNone/>
            </a:pPr>
            <a:r>
              <a:rPr lang="en-US" b="1" dirty="0"/>
              <a:t>Mitigation Strategies</a:t>
            </a:r>
          </a:p>
          <a:p>
            <a:pPr marL="0" indent="0">
              <a:buNone/>
            </a:pPr>
            <a:endParaRPr lang="en-US" b="1" dirty="0"/>
          </a:p>
          <a:p>
            <a:pPr marL="0" indent="0">
              <a:buNone/>
            </a:pPr>
            <a:r>
              <a:rPr lang="en-GB" dirty="0"/>
              <a:t>To ensure user acceptance and encourage active participation, the following strategies will be implemented:</a:t>
            </a:r>
          </a:p>
          <a:p>
            <a:pPr marL="0" indent="0">
              <a:buNone/>
            </a:pPr>
            <a:endParaRPr lang="en-US" dirty="0"/>
          </a:p>
          <a:p>
            <a:pPr>
              <a:buFont typeface="Wingdings" panose="05000000000000000000" pitchFamily="2" charset="2"/>
              <a:buChar char="q"/>
            </a:pPr>
            <a:r>
              <a:rPr lang="en-US" b="1" dirty="0"/>
              <a:t>Minimize Data Usage</a:t>
            </a:r>
          </a:p>
          <a:p>
            <a:pPr>
              <a:buFont typeface="Wingdings" panose="05000000000000000000" pitchFamily="2" charset="2"/>
              <a:buChar char="q"/>
            </a:pPr>
            <a:r>
              <a:rPr lang="en-US" b="1" dirty="0"/>
              <a:t>Build User Trust</a:t>
            </a:r>
          </a:p>
          <a:p>
            <a:pPr>
              <a:buFont typeface="Wingdings" panose="05000000000000000000" pitchFamily="2" charset="2"/>
              <a:buChar char="q"/>
            </a:pPr>
            <a:r>
              <a:rPr lang="en-US" b="1" dirty="0"/>
              <a:t>Optimize Battery Usage</a:t>
            </a:r>
          </a:p>
          <a:p>
            <a:pPr>
              <a:buFont typeface="Wingdings" panose="05000000000000000000" pitchFamily="2" charset="2"/>
              <a:buChar char="q"/>
            </a:pPr>
            <a:r>
              <a:rPr lang="en-US" b="1" dirty="0"/>
              <a:t>Limit Notifications</a:t>
            </a:r>
          </a:p>
          <a:p>
            <a:pPr>
              <a:buFont typeface="Wingdings" panose="05000000000000000000" pitchFamily="2" charset="2"/>
              <a:buChar char="q"/>
            </a:pPr>
            <a:r>
              <a:rPr lang="en-GB" b="1" dirty="0"/>
              <a:t>Ensure Data Privacy and Security</a:t>
            </a:r>
            <a:endParaRPr lang="en-CM" dirty="0"/>
          </a:p>
        </p:txBody>
      </p:sp>
    </p:spTree>
    <p:extLst>
      <p:ext uri="{BB962C8B-B14F-4D97-AF65-F5344CB8AC3E}">
        <p14:creationId xmlns:p14="http://schemas.microsoft.com/office/powerpoint/2010/main" val="3593197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682</Words>
  <Application>Microsoft Office PowerPoint</Application>
  <PresentationFormat>Widescreen</PresentationFormat>
  <Paragraphs>108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Ink Free</vt:lpstr>
      <vt:lpstr>Monotype Corsiva</vt:lpstr>
      <vt:lpstr>Wingdings</vt:lpstr>
      <vt:lpstr>Office Theme</vt:lpstr>
      <vt:lpstr>TASK 2 PRESENTATION BY GROUP 21 Requirement Gathering CEF 440  Dr Nkemeni Valery </vt:lpstr>
      <vt:lpstr>REQUIREMENT GATHERING Objectives:</vt:lpstr>
      <vt:lpstr>Stake holder identification:</vt:lpstr>
      <vt:lpstr>Categories of stakeholders </vt:lpstr>
      <vt:lpstr>Requirement Gathering Techniques</vt:lpstr>
      <vt:lpstr>PowerPoint Presentation</vt:lpstr>
      <vt:lpstr>Data Gathering Process</vt:lpstr>
      <vt:lpstr>PowerPoint Presentation</vt:lpstr>
      <vt:lpstr>Data Cleaning:</vt:lpstr>
      <vt:lpstr>Process through data cleaning:</vt:lpstr>
      <vt:lpstr>PowerPoint Presentation</vt:lpstr>
      <vt:lpstr>Data Virtualization:</vt:lpstr>
      <vt:lpstr>PowerPoint Presentation</vt:lpstr>
      <vt:lpstr>User Reluctance Assessment and Mitigation Strategies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ECHUNDIP EBENETA</dc:creator>
  <cp:lastModifiedBy>ECHUNDIP EBENETA</cp:lastModifiedBy>
  <cp:revision>4</cp:revision>
  <dcterms:created xsi:type="dcterms:W3CDTF">2026-04-27T04:29:39Z</dcterms:created>
  <dcterms:modified xsi:type="dcterms:W3CDTF">2026-04-28T11:55:35Z</dcterms:modified>
</cp:coreProperties>
</file>