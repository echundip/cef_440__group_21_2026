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 type="screen16x9"/>
  <p:notesSz cx="51435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Garamond" panose="02020404030301010803"/>
      <p:regular r:id="rId21"/>
      <p:bold r:id="rId22"/>
      <p:italic r:id="rId23"/>
    </p:embeddedFont>
    <p:embeddedFont>
      <p:font typeface="Lora" pitchFamily="2" charset="0"/>
      <p:regular r:id="rId24"/>
      <p:bold r:id="rId25"/>
      <p:italic r:id="rId26"/>
      <p:boldItalic r:id="rId27"/>
    </p:embeddedFont>
    <p:embeddedFont>
      <p:font typeface="Source Sans 3" panose="020B0303030403090204" pitchFamily="34" charset="0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10"/>
  </p:normalViewPr>
  <p:slideViewPr>
    <p:cSldViewPr snapToGrid="0" snapToObjects="1">
      <p:cViewPr>
        <p:scale>
          <a:sx n="54" d="100"/>
          <a:sy n="54" d="100"/>
        </p:scale>
        <p:origin x="750" y="6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26" Type="http://schemas.openxmlformats.org/officeDocument/2006/relationships/font" Target="fonts/font10.fntdata" /><Relationship Id="rId3" Type="http://schemas.openxmlformats.org/officeDocument/2006/relationships/slide" Target="slides/slide2.xml" /><Relationship Id="rId21" Type="http://schemas.openxmlformats.org/officeDocument/2006/relationships/font" Target="fonts/font5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5" Type="http://schemas.openxmlformats.org/officeDocument/2006/relationships/font" Target="fonts/font9.fntdata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8.fntdata" /><Relationship Id="rId32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7.fntdata" /><Relationship Id="rId28" Type="http://schemas.openxmlformats.org/officeDocument/2006/relationships/font" Target="fonts/font12.fntdata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31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6.fntdata" /><Relationship Id="rId27" Type="http://schemas.openxmlformats.org/officeDocument/2006/relationships/font" Target="fonts/font11.fntdata" /><Relationship Id="rId30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076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036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008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67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47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7320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2041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6425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89664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516200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5677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1616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458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116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517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154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29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3313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25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6662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63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27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4.xml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 /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1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4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 /><Relationship Id="rId7" Type="http://schemas.openxmlformats.org/officeDocument/2006/relationships/image" Target="../media/image1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5.xml" /><Relationship Id="rId6" Type="http://schemas.openxmlformats.org/officeDocument/2006/relationships/image" Target="../media/image18.svg" /><Relationship Id="rId5" Type="http://schemas.openxmlformats.org/officeDocument/2006/relationships/image" Target="../media/image17.svg" /><Relationship Id="rId4" Type="http://schemas.openxmlformats.org/officeDocument/2006/relationships/image" Target="../media/image16.sv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6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 /><Relationship Id="rId3" Type="http://schemas.openxmlformats.org/officeDocument/2006/relationships/image" Target="../media/image20.png" /><Relationship Id="rId7" Type="http://schemas.openxmlformats.org/officeDocument/2006/relationships/image" Target="../media/image24.sv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7.xml" /><Relationship Id="rId6" Type="http://schemas.openxmlformats.org/officeDocument/2006/relationships/image" Target="../media/image23.svg" /><Relationship Id="rId5" Type="http://schemas.openxmlformats.org/officeDocument/2006/relationships/image" Target="../media/image22.svg" /><Relationship Id="rId4" Type="http://schemas.openxmlformats.org/officeDocument/2006/relationships/image" Target="../media/image21.png" /><Relationship Id="rId9" Type="http://schemas.openxmlformats.org/officeDocument/2006/relationships/image" Target="../media/image26.sv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8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9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0.xml" /><Relationship Id="rId4" Type="http://schemas.openxmlformats.org/officeDocument/2006/relationships/image" Target="../media/image29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1.xml" /><Relationship Id="rId4" Type="http://schemas.openxmlformats.org/officeDocument/2006/relationships/image" Target="../media/image3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79462"/>
            <a:ext cx="352506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23577" y="1726332"/>
            <a:ext cx="520452" cy="281136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7B02D11-86A6-6F14-0306-0A1998CE9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464270"/>
              </p:ext>
            </p:extLst>
          </p:nvPr>
        </p:nvGraphicFramePr>
        <p:xfrm>
          <a:off x="1660460" y="2565372"/>
          <a:ext cx="5823080" cy="22301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0504">
                  <a:extLst>
                    <a:ext uri="{9D8B030D-6E8A-4147-A177-3AD203B41FA5}">
                      <a16:colId xmlns:a16="http://schemas.microsoft.com/office/drawing/2014/main" val="3694626404"/>
                    </a:ext>
                  </a:extLst>
                </a:gridCol>
                <a:gridCol w="2524949">
                  <a:extLst>
                    <a:ext uri="{9D8B030D-6E8A-4147-A177-3AD203B41FA5}">
                      <a16:colId xmlns:a16="http://schemas.microsoft.com/office/drawing/2014/main" val="1254710876"/>
                    </a:ext>
                  </a:extLst>
                </a:gridCol>
                <a:gridCol w="1347415">
                  <a:extLst>
                    <a:ext uri="{9D8B030D-6E8A-4147-A177-3AD203B41FA5}">
                      <a16:colId xmlns:a16="http://schemas.microsoft.com/office/drawing/2014/main" val="3623283092"/>
                    </a:ext>
                  </a:extLst>
                </a:gridCol>
                <a:gridCol w="1530212">
                  <a:extLst>
                    <a:ext uri="{9D8B030D-6E8A-4147-A177-3AD203B41FA5}">
                      <a16:colId xmlns:a16="http://schemas.microsoft.com/office/drawing/2014/main" val="2257047963"/>
                    </a:ext>
                  </a:extLst>
                </a:gridCol>
              </a:tblGrid>
              <a:tr h="39394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S/N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Specialisation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Matricule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extLst>
                  <a:ext uri="{0D108BD9-81ED-4DB2-BD59-A6C34878D82A}">
                    <a16:rowId xmlns:a16="http://schemas.microsoft.com/office/drawing/2014/main" val="2139725017"/>
                  </a:ext>
                </a:extLst>
              </a:tr>
              <a:tr h="26045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CHE RANDY FANG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Software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FE23A030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extLst>
                  <a:ext uri="{0D108BD9-81ED-4DB2-BD59-A6C34878D82A}">
                    <a16:rowId xmlns:a16="http://schemas.microsoft.com/office/drawing/2014/main" val="2659873647"/>
                  </a:ext>
                </a:extLst>
              </a:tr>
              <a:tr h="39394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ECHUNDIP CARL-LAWRENCE N.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Networking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FE23A040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extLst>
                  <a:ext uri="{0D108BD9-81ED-4DB2-BD59-A6C34878D82A}">
                    <a16:rowId xmlns:a16="http://schemas.microsoft.com/office/drawing/2014/main" val="1021105931"/>
                  </a:ext>
                </a:extLst>
              </a:tr>
              <a:tr h="39394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MAKANE THANKS MOSAKA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Software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FE23A085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extLst>
                  <a:ext uri="{0D108BD9-81ED-4DB2-BD59-A6C34878D82A}">
                    <a16:rowId xmlns:a16="http://schemas.microsoft.com/office/drawing/2014/main" val="1995927169"/>
                  </a:ext>
                </a:extLst>
              </a:tr>
              <a:tr h="39394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NUMFOR PRECIOUS LUM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Software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FE23A126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extLst>
                  <a:ext uri="{0D108BD9-81ED-4DB2-BD59-A6C34878D82A}">
                    <a16:rowId xmlns:a16="http://schemas.microsoft.com/office/drawing/2014/main" val="3312991015"/>
                  </a:ext>
                </a:extLst>
              </a:tr>
              <a:tr h="39394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TEMFA NKOMBONG FORTUNEE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Software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FE23A168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429" marR="68429" marT="0" marB="0"/>
                </a:tc>
                <a:extLst>
                  <a:ext uri="{0D108BD9-81ED-4DB2-BD59-A6C34878D82A}">
                    <a16:rowId xmlns:a16="http://schemas.microsoft.com/office/drawing/2014/main" val="933586703"/>
                  </a:ext>
                </a:extLst>
              </a:tr>
            </a:tbl>
          </a:graphicData>
        </a:graphic>
      </p:graphicFrame>
      <p:sp>
        <p:nvSpPr>
          <p:cNvPr id="28" name="Rectangle 1">
            <a:extLst>
              <a:ext uri="{FF2B5EF4-FFF2-40B4-BE49-F238E27FC236}">
                <a16:creationId xmlns:a16="http://schemas.microsoft.com/office/drawing/2014/main" id="{37EDB3E7-C020-AE25-2B1B-6D6F83354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07316" y="1618475"/>
            <a:ext cx="1840229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Scroll: Horizontal 25">
            <a:extLst>
              <a:ext uri="{FF2B5EF4-FFF2-40B4-BE49-F238E27FC236}">
                <a16:creationId xmlns:a16="http://schemas.microsoft.com/office/drawing/2014/main" id="{EE4AFC29-9C0B-D8D2-2F6A-B0A2B747CC4B}"/>
              </a:ext>
            </a:extLst>
          </p:cNvPr>
          <p:cNvSpPr/>
          <p:nvPr/>
        </p:nvSpPr>
        <p:spPr>
          <a:xfrm>
            <a:off x="1553592" y="-106532"/>
            <a:ext cx="6143348" cy="2858610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100" kern="100" dirty="0">
                <a:effectLst/>
                <a:ea typeface="Times New Roman" panose="02020603050405020304" pitchFamily="18" charset="0"/>
                <a:cs typeface="SimHei" panose="02010609060101010101" pitchFamily="49" charset="-122"/>
              </a:rPr>
              <a:t>TITLE: </a:t>
            </a:r>
          </a:p>
          <a:p>
            <a:pPr marL="0" marR="0" algn="ctr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ea typeface="Times New Roman" panose="02020603050405020304" pitchFamily="18" charset="0"/>
                <a:cs typeface="SimHei" panose="02010609060101010101" pitchFamily="49" charset="-122"/>
              </a:rPr>
              <a:t>MOBILE APP DEVELOPMENT PROCESS</a:t>
            </a:r>
          </a:p>
          <a:p>
            <a:pPr marL="0" marR="0" algn="ctr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ea typeface="Times New Roman" panose="02020603050405020304" pitchFamily="18" charset="0"/>
                <a:cs typeface="SimHei" panose="02010609060101010101" pitchFamily="49" charset="-122"/>
              </a:rPr>
              <a:t>CEF 440, Internet programming and Mobile Programming</a:t>
            </a:r>
          </a:p>
          <a:p>
            <a:pPr marL="0" marR="0" algn="ctr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ea typeface="Times New Roman" panose="02020603050405020304" pitchFamily="18" charset="0"/>
                <a:cs typeface="SimHei" panose="02010609060101010101" pitchFamily="49" charset="-122"/>
              </a:rPr>
              <a:t>Requirement Analysis Phase</a:t>
            </a:r>
          </a:p>
          <a:p>
            <a:pPr marL="0" marR="0" algn="ctr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ea typeface="Times New Roman" panose="02020603050405020304" pitchFamily="18" charset="0"/>
                <a:cs typeface="SimHei" panose="02010609060101010101" pitchFamily="49" charset="-122"/>
              </a:rPr>
              <a:t>Lecturer: Dr Valery </a:t>
            </a:r>
            <a:r>
              <a:rPr lang="en-US" sz="1400" b="1" kern="100" dirty="0" err="1">
                <a:effectLst/>
                <a:ea typeface="Times New Roman" panose="02020603050405020304" pitchFamily="18" charset="0"/>
                <a:cs typeface="SimHei" panose="02010609060101010101" pitchFamily="49" charset="-122"/>
              </a:rPr>
              <a:t>Nkemeni</a:t>
            </a:r>
            <a:endParaRPr lang="en-US" sz="1400" b="1" kern="100" dirty="0">
              <a:effectLst/>
              <a:ea typeface="Times New Roman" panose="02020603050405020304" pitchFamily="18" charset="0"/>
              <a:cs typeface="SimHei" panose="02010609060101010101" pitchFamily="49" charset="-122"/>
            </a:endParaRPr>
          </a:p>
          <a:p>
            <a:pPr marL="0" marR="0" algn="ctr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ea typeface="Times New Roman" panose="02020603050405020304" pitchFamily="18" charset="0"/>
                <a:cs typeface="SimHei" panose="02010609060101010101" pitchFamily="49" charset="-122"/>
              </a:rPr>
              <a:t>Report by Group 21</a:t>
            </a: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633933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52577" y="129830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Requirement analysis ensures proposed system requirements are </a:t>
            </a: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complete, clear, achievable,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aligned with user expectations.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52577" y="1945332"/>
            <a:ext cx="2259137" cy="1566416"/>
          </a:xfrm>
          <a:prstGeom prst="roundRect">
            <a:avLst>
              <a:gd name="adj" fmla="val 1433"/>
            </a:avLst>
          </a:prstGeom>
          <a:solidFill>
            <a:srgbClr val="F3E7D4"/>
          </a:solidFill>
          <a:ln/>
        </p:spPr>
      </p:sp>
      <p:sp>
        <p:nvSpPr>
          <p:cNvPr id="7" name="Text 4"/>
          <p:cNvSpPr/>
          <p:nvPr/>
        </p:nvSpPr>
        <p:spPr>
          <a:xfrm>
            <a:off x="4102150" y="209490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02150" y="2404616"/>
            <a:ext cx="195999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Learners in Cameroon face high data costs, volatile connectivity, and varying digital literacy.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61286" y="1945332"/>
            <a:ext cx="2259137" cy="1566416"/>
          </a:xfrm>
          <a:prstGeom prst="roundRect">
            <a:avLst>
              <a:gd name="adj" fmla="val 1433"/>
            </a:avLst>
          </a:prstGeom>
          <a:solidFill>
            <a:srgbClr val="F3E7D4"/>
          </a:solidFill>
          <a:ln/>
        </p:spPr>
      </p:sp>
      <p:sp>
        <p:nvSpPr>
          <p:cNvPr id="10" name="Text 7"/>
          <p:cNvSpPr/>
          <p:nvPr/>
        </p:nvSpPr>
        <p:spPr>
          <a:xfrm>
            <a:off x="6510858" y="209490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10858" y="2404616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→ Identify ambiguities → Prioritize → Classify → Develop SRS → Validate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52577" y="3661321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3" name="Text 10"/>
          <p:cNvSpPr/>
          <p:nvPr/>
        </p:nvSpPr>
        <p:spPr>
          <a:xfrm>
            <a:off x="4102150" y="381089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102150" y="4120604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Inclusive, adaptive digital education for low-resource environments.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8464" y="348779"/>
            <a:ext cx="3832250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Requirement Review &amp; Analysis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28464" y="847055"/>
            <a:ext cx="7286997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Requirements examined across </a:t>
            </a:r>
            <a:r>
              <a:rPr lang="en-US" sz="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dimensions</a:t>
            </a: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64" y="1193453"/>
            <a:ext cx="3506614" cy="350661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81" y="959397"/>
            <a:ext cx="4414379" cy="3506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2805" y="1999980"/>
            <a:ext cx="3506614" cy="157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600" dirty="0"/>
              <a:t>The requirements gathered through surveys, interviews, brainstorming, and reverse engineering are subject to rigorous examination across four dimensions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ECBAC2-304B-8F2E-F964-1F0DDE6E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06" y="682980"/>
            <a:ext cx="7443387" cy="4119372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177ABC88-CE84-4296-2347-AC48C654A5FC}"/>
              </a:ext>
            </a:extLst>
          </p:cNvPr>
          <p:cNvSpPr/>
          <p:nvPr/>
        </p:nvSpPr>
        <p:spPr>
          <a:xfrm>
            <a:off x="572567" y="435044"/>
            <a:ext cx="4289989" cy="495872"/>
          </a:xfrm>
          <a:prstGeom prst="roundRect">
            <a:avLst>
              <a:gd name="adj" fmla="val 1433"/>
            </a:avLst>
          </a:prstGeom>
          <a:solidFill>
            <a:srgbClr val="F3E7D4"/>
          </a:solidFill>
          <a:ln/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Completeness Analysis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17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D8AF3-8E74-BE25-5AA3-DE88184BDC45}"/>
              </a:ext>
            </a:extLst>
          </p:cNvPr>
          <p:cNvSpPr txBox="1"/>
          <p:nvPr/>
        </p:nvSpPr>
        <p:spPr>
          <a:xfrm>
            <a:off x="141005" y="284637"/>
            <a:ext cx="6126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</a:t>
            </a:r>
            <a:r>
              <a:rPr lang="en-US" sz="3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Analysis  (Quantitative)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D26E2-70EC-2DB6-216C-BCE68523BF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3" t="7605"/>
          <a:stretch>
            <a:fillRect/>
          </a:stretch>
        </p:blipFill>
        <p:spPr bwMode="auto">
          <a:xfrm>
            <a:off x="463763" y="1789543"/>
            <a:ext cx="3611848" cy="30629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3CEA73-8210-009B-16F4-610DAAD24C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05" b="7536"/>
          <a:stretch>
            <a:fillRect/>
          </a:stretch>
        </p:blipFill>
        <p:spPr bwMode="auto">
          <a:xfrm>
            <a:off x="4726457" y="1673242"/>
            <a:ext cx="3464012" cy="31792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475055B-443D-C89D-748C-F64AAFB693DC}"/>
              </a:ext>
            </a:extLst>
          </p:cNvPr>
          <p:cNvSpPr/>
          <p:nvPr/>
        </p:nvSpPr>
        <p:spPr>
          <a:xfrm>
            <a:off x="282011" y="1091756"/>
            <a:ext cx="3793600" cy="584775"/>
          </a:xfrm>
          <a:prstGeom prst="roundRect">
            <a:avLst>
              <a:gd name="adj" fmla="val 1433"/>
            </a:avLst>
          </a:prstGeom>
          <a:solidFill>
            <a:srgbClr val="F3E7D4"/>
          </a:solidFill>
          <a:ln/>
        </p:spPr>
        <p:txBody>
          <a:bodyPr/>
          <a:lstStyle/>
          <a:p>
            <a:pPr algn="ctr"/>
            <a:r>
              <a:rPr lang="en-US" b="1" dirty="0"/>
              <a:t>Device performance during online learning</a:t>
            </a:r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6409925-1FDD-0922-A9A3-6BAC90C7A417}"/>
              </a:ext>
            </a:extLst>
          </p:cNvPr>
          <p:cNvSpPr/>
          <p:nvPr/>
        </p:nvSpPr>
        <p:spPr>
          <a:xfrm>
            <a:off x="4833258" y="1023391"/>
            <a:ext cx="3250410" cy="495872"/>
          </a:xfrm>
          <a:prstGeom prst="roundRect">
            <a:avLst>
              <a:gd name="adj" fmla="val 1433"/>
            </a:avLst>
          </a:prstGeom>
          <a:solidFill>
            <a:srgbClr val="F3E7D4"/>
          </a:solidFill>
          <a:ln/>
        </p:spPr>
        <p:txBody>
          <a:bodyPr/>
          <a:lstStyle/>
          <a:p>
            <a:pPr algn="ctr"/>
            <a:r>
              <a:rPr lang="en-US" b="1" dirty="0"/>
              <a:t>Internet stability</a:t>
            </a:r>
            <a:endParaRPr lang="en-US" sz="28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545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F2CF21-1A2D-734B-994A-4A6A5ECF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2" y="1471106"/>
            <a:ext cx="2645764" cy="29086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77B182-DB3F-9EF1-D5DD-B34ED6908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17" y="1471106"/>
            <a:ext cx="2828751" cy="29086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790543-4A1C-14B2-FF51-6C1AF8CF9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013" y="1471107"/>
            <a:ext cx="2935095" cy="2908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AF0C1A-A963-F416-90E3-EE0100611B62}"/>
              </a:ext>
            </a:extLst>
          </p:cNvPr>
          <p:cNvSpPr txBox="1"/>
          <p:nvPr/>
        </p:nvSpPr>
        <p:spPr>
          <a:xfrm>
            <a:off x="359765" y="57906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Qualitative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2580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0D302D-7690-1D27-B2FB-73C51C843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98" y="747335"/>
            <a:ext cx="2796466" cy="39400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7B67D9-2F2E-5C9F-BCBC-5F4F35A90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767" y="747335"/>
            <a:ext cx="2796466" cy="3940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48FE2B-309D-FFE2-CE3D-F7C203CFC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736" y="747335"/>
            <a:ext cx="2796466" cy="394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2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42355"/>
            <a:ext cx="494109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Analysis: Survey Findings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481584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585" y="148158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Device Performance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84585" y="1791295"/>
            <a:ext cx="339387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performance across devices during online learning.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481584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6472" y="148158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Internet Stability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26472" y="1791295"/>
            <a:ext cx="33939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Connectivity rated as </a:t>
            </a: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averagely stable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interruptions occur very often.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569294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4585" y="256929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Content Preference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84585" y="2879006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learners prefer </a:t>
            </a: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  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online studying.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2569294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26472" y="256929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Platform Preference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26472" y="2879006"/>
            <a:ext cx="33939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majority prefer an </a:t>
            </a: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 platform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over an inflexible one.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23577" y="3526036"/>
            <a:ext cx="8096845" cy="875109"/>
          </a:xfrm>
          <a:prstGeom prst="roundRect">
            <a:avLst>
              <a:gd name="adj" fmla="val 2564"/>
            </a:avLst>
          </a:prstGeom>
          <a:solidFill>
            <a:srgbClr val="B6D6F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50" y="3743995"/>
            <a:ext cx="187003" cy="1495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9724" y="3712964"/>
            <a:ext cx="74611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Respondents were predominantly undergraduates. All desired smooth playback, low data usage, high video quality, and clear audio.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910" y="408161"/>
            <a:ext cx="4306267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Clarity &amp; Feasibility Analysis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0910" y="1149325"/>
            <a:ext cx="2234431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Vague → Clear Requirements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90910" y="1503462"/>
            <a:ext cx="3910012" cy="3083942"/>
          </a:xfrm>
          <a:prstGeom prst="roundRect">
            <a:avLst>
              <a:gd name="adj" fmla="val 68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5868" y="1591866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Original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88493" y="1591866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Clarified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868" y="1981274"/>
            <a:ext cx="1667470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should improve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8493" y="1981274"/>
            <a:ext cx="1667470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Dynamically adapt content: video → audio → text based on real-time bandwidth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868" y="2805410"/>
            <a:ext cx="1667470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Platform should reduce interruptions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88493" y="2805410"/>
            <a:ext cx="1667470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Auto-switch to audio-only when bandwidth falls below threshold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868" y="3629546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 should be easy to 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8493" y="3629546"/>
            <a:ext cx="1667470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Any primary function reachable within 3 taps; first-time user navigates in 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7840" y="1149325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Technical Feasibility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47840" y="1503462"/>
            <a:ext cx="3910012" cy="2317403"/>
          </a:xfrm>
          <a:prstGeom prst="roundRect">
            <a:avLst>
              <a:gd name="adj" fmla="val 90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2603" y="1508224"/>
            <a:ext cx="3900488" cy="3846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92799" y="1591866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45424" y="1591866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2603" y="1892871"/>
            <a:ext cx="3900488" cy="3846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92799" y="1976512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authentication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45424" y="1976512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2603" y="2277517"/>
            <a:ext cx="3900488" cy="3846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2799" y="2361158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 content delivery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45424" y="2361158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2603" y="2662163"/>
            <a:ext cx="3900488" cy="3846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92799" y="2745804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live adaptation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45424" y="2745804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2603" y="3046809"/>
            <a:ext cx="3900488" cy="3846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92799" y="3130451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Offline sync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45424" y="3130451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2603" y="3431456"/>
            <a:ext cx="3900488" cy="3846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92799" y="3515097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recommendations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5424" y="3515097"/>
            <a:ext cx="16674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Future upgrade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716756"/>
            <a:ext cx="433112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Dependency Relationships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52577" y="1381125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 cannot function without prior capabilities. Development must follow logical order.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2028155"/>
            <a:ext cx="4667845" cy="175155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8939" y="2474309"/>
            <a:ext cx="241109" cy="2411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24126" y="3358500"/>
            <a:ext cx="704037" cy="12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Progress</a:t>
            </a:r>
            <a:endParaRPr lang="en-US" sz="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6254" y="2474761"/>
            <a:ext cx="241109" cy="24110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836845" y="3358500"/>
            <a:ext cx="704038" cy="12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Quizzes</a:t>
            </a:r>
            <a:endParaRPr lang="en-US" sz="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3796" y="2474761"/>
            <a:ext cx="241109" cy="24110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954387" y="3358500"/>
            <a:ext cx="704038" cy="12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Enroll</a:t>
            </a:r>
            <a:endParaRPr lang="en-US" sz="8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1337" y="2474761"/>
            <a:ext cx="241109" cy="24110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071929" y="3358500"/>
            <a:ext cx="704038" cy="12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Login</a:t>
            </a:r>
            <a:endParaRPr lang="en-US" sz="8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04057" y="2474761"/>
            <a:ext cx="241109" cy="241109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170182" y="3358500"/>
            <a:ext cx="704038" cy="127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Register</a:t>
            </a:r>
            <a:endParaRPr lang="en-US" sz="800" dirty="0"/>
          </a:p>
        </p:txBody>
      </p:sp>
      <p:sp>
        <p:nvSpPr>
          <p:cNvPr id="17" name="Text 8"/>
          <p:cNvSpPr/>
          <p:nvPr/>
        </p:nvSpPr>
        <p:spPr>
          <a:xfrm>
            <a:off x="3952577" y="3947964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Uploading materials depends on lecturer authentication. Certificate generation depends on course completion.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80145"/>
            <a:ext cx="708712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Inconsistencies, Ambiguities &amp; Missing Info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73684" y="2019373"/>
            <a:ext cx="2599209" cy="2623647"/>
          </a:xfrm>
          <a:prstGeom prst="roundRect">
            <a:avLst>
              <a:gd name="adj" fmla="val 4959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4527" y="2019374"/>
            <a:ext cx="76200" cy="1843906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749350" y="218799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Inconsistency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749350" y="2497708"/>
            <a:ext cx="220481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wanted unrestricted access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lecturers/admins preferred controlled enrollment.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Resolution: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Admins manage enrollment permissions.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2358" y="2019373"/>
            <a:ext cx="2599209" cy="2623648"/>
          </a:xfrm>
          <a:prstGeom prst="roundRect">
            <a:avLst>
              <a:gd name="adj" fmla="val 4959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53308" y="2019374"/>
            <a:ext cx="76200" cy="1843906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9" name="Text 7"/>
          <p:cNvSpPr/>
          <p:nvPr/>
        </p:nvSpPr>
        <p:spPr>
          <a:xfrm>
            <a:off x="3498131" y="218799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Ambiguities Resolved</a:t>
            </a:r>
            <a:endParaRPr lang="en-US" b="1" dirty="0"/>
          </a:p>
        </p:txBody>
      </p:sp>
      <p:sp>
        <p:nvSpPr>
          <p:cNvPr id="10" name="Text 8"/>
          <p:cNvSpPr/>
          <p:nvPr/>
        </p:nvSpPr>
        <p:spPr>
          <a:xfrm>
            <a:off x="3498131" y="2497708"/>
            <a:ext cx="2204814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"Work well" → stable under low-bandwidth. 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1400" dirty="0">
              <a:solidFill>
                <a:srgbClr val="3A363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"Easy to navigate" → intuitive mobile-friendly menus.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1400" dirty="0">
              <a:solidFill>
                <a:srgbClr val="3A363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"Support online learning" → video, quizzes, downloads, assignments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49714" y="1895330"/>
            <a:ext cx="2599283" cy="2747689"/>
          </a:xfrm>
          <a:prstGeom prst="roundRect">
            <a:avLst>
              <a:gd name="adj" fmla="val 4959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2089" y="2019374"/>
            <a:ext cx="76200" cy="1843906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6246912" y="2187997"/>
            <a:ext cx="220488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Requirements Added</a:t>
            </a:r>
            <a:endParaRPr lang="en-US" sz="1600" b="1" dirty="0"/>
          </a:p>
        </p:txBody>
      </p:sp>
      <p:sp>
        <p:nvSpPr>
          <p:cNvPr id="14" name="Text 12"/>
          <p:cNvSpPr/>
          <p:nvPr/>
        </p:nvSpPr>
        <p:spPr>
          <a:xfrm>
            <a:off x="6246912" y="2717676"/>
            <a:ext cx="220488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Password recovery · Notification management · Course search ·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Accessibility support · 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Backup &amp; recovery ·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User profile editing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2939"/>
            <a:ext cx="438112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Requirement Prioritization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848966"/>
            <a:ext cx="1611957" cy="2109788"/>
          </a:xfrm>
          <a:prstGeom prst="roundRect">
            <a:avLst>
              <a:gd name="adj" fmla="val 1392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673150" y="1998538"/>
            <a:ext cx="1312813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🔴</a:t>
            </a: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High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3150" y="2372841"/>
            <a:ext cx="1312813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Registration &amp; login · Course management · Quiz system · Progress tracking · Mobile responsiveness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5107" y="1848966"/>
            <a:ext cx="1612032" cy="2109788"/>
          </a:xfrm>
          <a:prstGeom prst="roundRect">
            <a:avLst>
              <a:gd name="adj" fmla="val 1392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2434679" y="1998538"/>
            <a:ext cx="1312887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🟡</a:t>
            </a: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Medium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34679" y="2372841"/>
            <a:ext cx="131288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Notification system · Offline learning · Discussion forums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46711" y="1848966"/>
            <a:ext cx="1612032" cy="2109788"/>
          </a:xfrm>
          <a:prstGeom prst="roundRect">
            <a:avLst>
              <a:gd name="adj" fmla="val 1392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4196283" y="1998538"/>
            <a:ext cx="1312887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🟢</a:t>
            </a: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96283" y="2372841"/>
            <a:ext cx="131288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recommendations · Dark mode</a:t>
            </a:r>
            <a:endParaRPr lang="en-US" sz="11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432" y="1605558"/>
            <a:ext cx="2596679" cy="25966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49498"/>
            <a:ext cx="440226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Requirement Classification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488728"/>
            <a:ext cx="4048423" cy="598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3150" y="2236738"/>
            <a:ext cx="1760116" cy="149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Functional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1209" y="2571750"/>
            <a:ext cx="3749278" cy="184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authentication &amp; role management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 content access &amp; Management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 content delivery (3 resolution tiers)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lecture support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Progress  &amp; analytics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</a:rPr>
              <a:t>System Administration 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88728"/>
            <a:ext cx="4048423" cy="598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36095" y="223673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Non-Functional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607049" y="2686795"/>
            <a:ext cx="3749278" cy="1697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</a:rPr>
              <a:t>Performance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</a:rPr>
              <a:t>Reliability and Availability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</a:rPr>
              <a:t>Usability and Accessibility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</a:rPr>
              <a:t>Security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</a:rPr>
              <a:t>Efficiency</a:t>
            </a:r>
            <a:endParaRPr lang="en-US" sz="1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</a:rPr>
              <a:t>Scalability and Maintainability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405" y="382265"/>
            <a:ext cx="3284116" cy="4378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281" y="451470"/>
            <a:ext cx="3789536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Validation &amp; Conclusion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07281" y="1088306"/>
            <a:ext cx="4700439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Stakeholders — students and lecturers — confirmed requirements address major challenges of online education in low-resource settings.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7281" y="1702817"/>
            <a:ext cx="4700439" cy="815355"/>
          </a:xfrm>
          <a:prstGeom prst="roundRect">
            <a:avLst>
              <a:gd name="adj" fmla="val 2666"/>
            </a:avLst>
          </a:prstGeom>
          <a:solidFill>
            <a:srgbClr val="F3E7D4"/>
          </a:solidFill>
          <a:ln/>
        </p:spPr>
      </p:sp>
      <p:sp>
        <p:nvSpPr>
          <p:cNvPr id="7" name="Text 4"/>
          <p:cNvSpPr/>
          <p:nvPr/>
        </p:nvSpPr>
        <p:spPr>
          <a:xfrm>
            <a:off x="652165" y="1847701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Outcome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2165" y="2144985"/>
            <a:ext cx="4410670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Structured, implementable SRS ready for system design &amp; development.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7281" y="2658517"/>
            <a:ext cx="4700439" cy="1043657"/>
          </a:xfrm>
          <a:prstGeom prst="roundRect">
            <a:avLst>
              <a:gd name="adj" fmla="val 2083"/>
            </a:avLst>
          </a:prstGeom>
          <a:solidFill>
            <a:srgbClr val="F3E7D4"/>
          </a:solidFill>
          <a:ln/>
        </p:spPr>
      </p:sp>
      <p:sp>
        <p:nvSpPr>
          <p:cNvPr id="10" name="Text 7"/>
          <p:cNvSpPr/>
          <p:nvPr/>
        </p:nvSpPr>
        <p:spPr>
          <a:xfrm>
            <a:off x="652165" y="2803401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2165" y="3100685"/>
            <a:ext cx="4410670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Platform aligned with educational realities and tech limitations of low-resource environments.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7281" y="3860081"/>
            <a:ext cx="4700439" cy="831875"/>
          </a:xfrm>
          <a:prstGeom prst="roundRect">
            <a:avLst>
              <a:gd name="adj" fmla="val 2613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65" y="4071491"/>
            <a:ext cx="181124" cy="1448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78173" y="4036591"/>
            <a:ext cx="4084662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analysis ensures feasibility, accessibility, and effectiveness of the proposed adaptive e-learning solution.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102</TotalTime>
  <Words>597</Words>
  <Application>Microsoft Office PowerPoint</Application>
  <PresentationFormat>On-screen Show (16:9)</PresentationFormat>
  <Paragraphs>144</Paragraphs>
  <Slides>14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lastModifiedBy>Numfor Precious</cp:lastModifiedBy>
  <cp:revision>5</cp:revision>
  <dcterms:created xsi:type="dcterms:W3CDTF">2026-05-10T19:52:22Z</dcterms:created>
  <dcterms:modified xsi:type="dcterms:W3CDTF">2026-05-11T16:34:37Z</dcterms:modified>
</cp:coreProperties>
</file>