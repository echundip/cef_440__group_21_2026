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4" r:id="rId6"/>
    <p:sldId id="261" r:id="rId7"/>
    <p:sldId id="262" r:id="rId8"/>
    <p:sldId id="259" r:id="rId9"/>
    <p:sldId id="260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55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00300" y="1628133"/>
            <a:ext cx="4343400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EduStream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400300" y="2505447"/>
            <a:ext cx="434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E88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Identity &amp; Design Implementation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400300" y="3376985"/>
            <a:ext cx="43434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kern="0" spc="2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WITHOUT LIMITS</a:t>
            </a:r>
            <a:endParaRPr lang="en-US" sz="12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64BAA-6AFD-EEE4-C6F0-DC2B76320B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0" y="468695"/>
            <a:ext cx="6126480" cy="1663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1197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Branding &amp; Visual Language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30995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480989"/>
            <a:ext cx="131623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71500" y="1881039"/>
            <a:ext cx="571500" cy="5715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7" name="Text 3"/>
          <p:cNvSpPr/>
          <p:nvPr/>
        </p:nvSpPr>
        <p:spPr>
          <a:xfrm>
            <a:off x="571500" y="1881039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#0D2B55</a:t>
            </a:r>
            <a:endParaRPr lang="en-US" sz="600" dirty="0"/>
          </a:p>
        </p:txBody>
      </p:sp>
      <p:sp>
        <p:nvSpPr>
          <p:cNvPr id="8" name="Shape 4"/>
          <p:cNvSpPr/>
          <p:nvPr/>
        </p:nvSpPr>
        <p:spPr>
          <a:xfrm>
            <a:off x="1257300" y="1881039"/>
            <a:ext cx="571500" cy="571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5"/>
          <p:cNvSpPr/>
          <p:nvPr/>
        </p:nvSpPr>
        <p:spPr>
          <a:xfrm>
            <a:off x="1257300" y="1881039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#1E88E5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1943100" y="1881039"/>
            <a:ext cx="571500" cy="57150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11" name="Text 7"/>
          <p:cNvSpPr/>
          <p:nvPr/>
        </p:nvSpPr>
        <p:spPr>
          <a:xfrm>
            <a:off x="1943100" y="1881039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#26C6DA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2628900" y="1881039"/>
            <a:ext cx="585788" cy="585788"/>
          </a:xfrm>
          <a:prstGeom prst="rect">
            <a:avLst/>
          </a:prstGeom>
          <a:solidFill>
            <a:srgbClr val="F5F7FA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28900" y="1881039"/>
            <a:ext cx="585788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21212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#F5F7FA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571500" y="2523976"/>
            <a:ext cx="390048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WCAG 2.1 AA compliant colors optimized for high-resource and outdoor visibility.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013" y="1530995"/>
            <a:ext cx="175022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2759" y="1480989"/>
            <a:ext cx="124658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672013" y="1881039"/>
            <a:ext cx="3900488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Poppins Bold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72013" y="2146781"/>
            <a:ext cx="39004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Poppins SemiBold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72013" y="2375381"/>
            <a:ext cx="390048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Poppins Regular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672013" y="2613971"/>
            <a:ext cx="390048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Geometric sans-serif chosen for legibility on low-resolution screens.</a:t>
            </a:r>
            <a:endParaRPr lang="en-US" sz="8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03355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7250" y="3353349"/>
            <a:ext cx="13644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Tone of Voice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81974"/>
            <a:ext cx="100013" cy="1000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2950" y="3753399"/>
            <a:ext cx="154126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Encouraging &amp; Inclusive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46293"/>
            <a:ext cx="100013" cy="1000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2950" y="4017718"/>
            <a:ext cx="251281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 language for technical processes</a:t>
            </a:r>
            <a:endParaRPr lang="en-US" sz="9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10611"/>
            <a:ext cx="100013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2950" y="4282036"/>
            <a:ext cx="316110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feedback: "Well done! Your answers saved."</a:t>
            </a:r>
            <a:endParaRPr lang="en-US" sz="9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013" y="3403355"/>
            <a:ext cx="200025" cy="20002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57763" y="3353349"/>
            <a:ext cx="131266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Iconography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4672013" y="3753399"/>
            <a:ext cx="39004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EduStream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icon combines an open book (knowledge) with a signal wave (connectivity).</a:t>
            </a:r>
            <a:endParaRPr lang="en-US" sz="9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2013" y="4253461"/>
            <a:ext cx="321469" cy="285750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4931" y="4253461"/>
            <a:ext cx="357188" cy="285750"/>
          </a:xfrm>
          <a:prstGeom prst="rect">
            <a:avLst/>
          </a:prstGeom>
        </p:spPr>
      </p:pic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3569" y="4253461"/>
            <a:ext cx="214313" cy="2857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A7857E1-EF8D-32F6-BF31-84344B0780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360" y="258697"/>
            <a:ext cx="2450307" cy="1946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94047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System Design &amp; Panel Architecture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57200" y="1394147"/>
            <a:ext cx="8229600" cy="178992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394147"/>
            <a:ext cx="57150" cy="17899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726750"/>
            <a:ext cx="7943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Mobile-First Design Philosophy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0075" y="2212525"/>
            <a:ext cx="7943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EduStream is built on a modular architecture designed for high accessibility and low-bandwidth resilience. The interface prioritizes clarity and professionalism, using a persistent navigation model familiar to modern mobile users.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924" y="3564480"/>
            <a:ext cx="446484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119907"/>
            <a:ext cx="26479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B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436018"/>
            <a:ext cx="2647959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Governance, infrastructure monitoring, and platform analytics.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758" y="3564480"/>
            <a:ext cx="446484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48034" y="4119907"/>
            <a:ext cx="26479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B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Instructor Panel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248034" y="4436018"/>
            <a:ext cx="2647959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 management, student tracking, and content delivery.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241" y="3564480"/>
            <a:ext cx="357188" cy="3571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38869" y="4119907"/>
            <a:ext cx="26479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B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Student Panel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038869" y="4436018"/>
            <a:ext cx="2647959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Adaptive learning interface, assessments, and collaboration.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Student Panel: Learning Interface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8731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8681" y="1228725"/>
            <a:ext cx="16716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Interface Design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07356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2956" y="1671638"/>
            <a:ext cx="3564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Simplified Navigation: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Intuitive UI tailored for low-resource settings, ensuring students find content quickly.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57450"/>
            <a:ext cx="11430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2956" y="2421731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Courses Page: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Seamless browsing of enrolled subjects with visual progress indicators and module tracking.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14663"/>
            <a:ext cx="11430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92956" y="2978944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Visual Hierarchy: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High-contrast elements and clear typography (Poppins) to reduce cognitive load.</a:t>
            </a:r>
            <a:endParaRPr lang="en-US" sz="900" dirty="0"/>
          </a:p>
        </p:txBody>
      </p:sp>
      <p:sp>
        <p:nvSpPr>
          <p:cNvPr id="12" name="Shape 5"/>
          <p:cNvSpPr/>
          <p:nvPr/>
        </p:nvSpPr>
        <p:spPr>
          <a:xfrm>
            <a:off x="4786313" y="1228725"/>
            <a:ext cx="3786188" cy="2723555"/>
          </a:xfrm>
          <a:prstGeom prst="rect">
            <a:avLst/>
          </a:prstGeom>
          <a:solidFill>
            <a:srgbClr val="F5F7FA"/>
          </a:solidFill>
          <a:ln/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1457325"/>
            <a:ext cx="225028" cy="2000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297091" y="1407319"/>
            <a:ext cx="22645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Adaptive Accessibility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4964906" y="1850231"/>
            <a:ext cx="3429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interface dynamically adjusts based on real-time connectivity status to ensure learning never stops.</a:t>
            </a:r>
            <a:endParaRPr lang="en-US" sz="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2607469"/>
            <a:ext cx="128588" cy="1143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00650" y="2571750"/>
            <a:ext cx="25735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Low-bandwidth mode (Audio/Text only)</a:t>
            </a:r>
            <a:endParaRPr lang="en-US" sz="9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2971800"/>
            <a:ext cx="114300" cy="1143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86363" y="2936081"/>
            <a:ext cx="20788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Offline progress synchronization</a:t>
            </a:r>
            <a:endParaRPr lang="en-US" sz="950" dirty="0"/>
          </a:p>
        </p:txBody>
      </p:sp>
      <p:sp>
        <p:nvSpPr>
          <p:cNvPr id="20" name="Text 10"/>
          <p:cNvSpPr/>
          <p:nvPr/>
        </p:nvSpPr>
        <p:spPr>
          <a:xfrm>
            <a:off x="4964906" y="3457575"/>
            <a:ext cx="75545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54%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4964906" y="3800475"/>
            <a:ext cx="7554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ACCESS</a:t>
            </a:r>
            <a:endParaRPr lang="en-US" sz="750" dirty="0"/>
          </a:p>
        </p:txBody>
      </p:sp>
      <p:sp>
        <p:nvSpPr>
          <p:cNvPr id="22" name="Text 12"/>
          <p:cNvSpPr/>
          <p:nvPr/>
        </p:nvSpPr>
        <p:spPr>
          <a:xfrm>
            <a:off x="7517011" y="3457575"/>
            <a:ext cx="8768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72%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7517011" y="3800475"/>
            <a:ext cx="8768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COMPLETION RATE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Student Panel: Interaction &amp; Assessment</a:t>
            </a:r>
            <a:endParaRPr lang="en-US" sz="2450" dirty="0"/>
          </a:p>
        </p:txBody>
      </p:sp>
      <p:pic>
        <p:nvPicPr>
          <p:cNvPr id="22" name="Image1">
            <a:extLst>
              <a:ext uri="{FF2B5EF4-FFF2-40B4-BE49-F238E27FC236}">
                <a16:creationId xmlns:a16="http://schemas.microsoft.com/office/drawing/2014/main" id="{D06251AF-3792-3FA3-B526-128DEB81D9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71" t="9872"/>
          <a:stretch>
            <a:fillRect/>
          </a:stretch>
        </p:blipFill>
        <p:spPr bwMode="auto">
          <a:xfrm>
            <a:off x="295838" y="1092161"/>
            <a:ext cx="3557705" cy="3145790"/>
          </a:xfrm>
          <a:prstGeom prst="rect">
            <a:avLst/>
          </a:prstGeom>
        </p:spPr>
      </p:pic>
      <p:pic>
        <p:nvPicPr>
          <p:cNvPr id="23" name="Image3">
            <a:extLst>
              <a:ext uri="{FF2B5EF4-FFF2-40B4-BE49-F238E27FC236}">
                <a16:creationId xmlns:a16="http://schemas.microsoft.com/office/drawing/2014/main" id="{E422D099-83B2-487F-41FC-1377F6B9FC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71" t="8558"/>
          <a:stretch>
            <a:fillRect/>
          </a:stretch>
        </p:blipFill>
        <p:spPr bwMode="auto">
          <a:xfrm>
            <a:off x="3944106" y="1092161"/>
            <a:ext cx="4801418" cy="3145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58341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Instructor Panel: Dashboard Insights</a:t>
            </a:r>
            <a:endParaRPr lang="en-US" sz="24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706C2EF-317B-07BA-842C-1B8295799E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4" y="1200684"/>
            <a:ext cx="8098972" cy="3492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Instructor Panel: Content Management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2414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1402407"/>
            <a:ext cx="216634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Course Management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52464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1525" y="1816745"/>
            <a:ext cx="3700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Granular Control: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Manage specific modules, reading materials, and multimedia assets within each course.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23951"/>
            <a:ext cx="11430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1525" y="2288232"/>
            <a:ext cx="37004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Streamlined Workflow: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Simplified interface for uploading new educational resources and updating existing content.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88320"/>
            <a:ext cx="11430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71525" y="2952601"/>
            <a:ext cx="3700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2121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Interaction Monitoring:</a:t>
            </a: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Track how students engage with specific content pieces to optimize learning paths.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013" y="1452414"/>
            <a:ext cx="175022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932759" y="1402407"/>
            <a:ext cx="2428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Real-Time Activity Feed</a:t>
            </a:r>
            <a:endParaRPr lang="en-US" sz="1400" dirty="0"/>
          </a:p>
        </p:txBody>
      </p:sp>
      <p:sp>
        <p:nvSpPr>
          <p:cNvPr id="14" name="Shape 6"/>
          <p:cNvSpPr/>
          <p:nvPr/>
        </p:nvSpPr>
        <p:spPr>
          <a:xfrm>
            <a:off x="4672013" y="1788170"/>
            <a:ext cx="3900488" cy="23145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7"/>
          <p:cNvSpPr/>
          <p:nvPr/>
        </p:nvSpPr>
        <p:spPr>
          <a:xfrm>
            <a:off x="4757738" y="1945332"/>
            <a:ext cx="372903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 minutes ago</a:t>
            </a:r>
            <a:endParaRPr lang="en-US" sz="700" dirty="0"/>
          </a:p>
        </p:txBody>
      </p:sp>
      <p:sp>
        <p:nvSpPr>
          <p:cNvPr id="16" name="Text 8"/>
          <p:cNvSpPr/>
          <p:nvPr/>
        </p:nvSpPr>
        <p:spPr>
          <a:xfrm>
            <a:off x="4757738" y="2132856"/>
            <a:ext cx="37290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assignment submission: "Mobile App Design" by Student #FE23A030.</a:t>
            </a:r>
            <a:endParaRPr lang="en-US" sz="850" dirty="0"/>
          </a:p>
        </p:txBody>
      </p:sp>
      <p:sp>
        <p:nvSpPr>
          <p:cNvPr id="17" name="Text 9"/>
          <p:cNvSpPr/>
          <p:nvPr/>
        </p:nvSpPr>
        <p:spPr>
          <a:xfrm>
            <a:off x="4757738" y="2622203"/>
            <a:ext cx="372903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15 minutes ago</a:t>
            </a:r>
            <a:endParaRPr lang="en-US" sz="700" dirty="0"/>
          </a:p>
        </p:txBody>
      </p:sp>
      <p:sp>
        <p:nvSpPr>
          <p:cNvPr id="18" name="Text 10"/>
          <p:cNvSpPr/>
          <p:nvPr/>
        </p:nvSpPr>
        <p:spPr>
          <a:xfrm>
            <a:off x="4757738" y="2809726"/>
            <a:ext cx="37290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 material "Lecture 5: Adaptive Streaming" successfully uploaded.</a:t>
            </a:r>
            <a:endParaRPr lang="en-US" sz="850" dirty="0"/>
          </a:p>
        </p:txBody>
      </p:sp>
      <p:sp>
        <p:nvSpPr>
          <p:cNvPr id="19" name="Text 11"/>
          <p:cNvSpPr/>
          <p:nvPr/>
        </p:nvSpPr>
        <p:spPr>
          <a:xfrm>
            <a:off x="4757738" y="3299073"/>
            <a:ext cx="372903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 hour ago</a:t>
            </a:r>
            <a:endParaRPr lang="en-US" sz="700" dirty="0"/>
          </a:p>
        </p:txBody>
      </p:sp>
      <p:sp>
        <p:nvSpPr>
          <p:cNvPr id="20" name="Text 12"/>
          <p:cNvSpPr/>
          <p:nvPr/>
        </p:nvSpPr>
        <p:spPr>
          <a:xfrm>
            <a:off x="4757738" y="3486596"/>
            <a:ext cx="372903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query received regarding "Quiz 2: Network Protocols".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Admin Panel: Governance &amp; Infrastructure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02407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User Governance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786313" y="1402407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88E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Infrastructure Monitoring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564D8A8-CEF4-AD6D-E5E0-53E6FC551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13" y="1679510"/>
            <a:ext cx="2903950" cy="33520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0981709-AE6A-CE3A-0D82-BFDA4A2D1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431" y="1679510"/>
            <a:ext cx="2978216" cy="3271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121"/>
            <a:ext cx="9144000" cy="52457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Admin Panel: Analytics &amp; Oversight</a:t>
            </a:r>
            <a:endParaRPr lang="en-US" sz="2450" dirty="0"/>
          </a:p>
        </p:txBody>
      </p:sp>
      <p:sp>
        <p:nvSpPr>
          <p:cNvPr id="27" name="Text 21"/>
          <p:cNvSpPr/>
          <p:nvPr/>
        </p:nvSpPr>
        <p:spPr>
          <a:xfrm>
            <a:off x="4572000" y="1092631"/>
            <a:ext cx="385762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Course &amp; Content Supervision</a:t>
            </a:r>
            <a:endParaRPr lang="en-US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5D531CA-DC75-1ACC-82AD-C6A83A20C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71" y="1092631"/>
            <a:ext cx="2988274" cy="405086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FF11D2-74E5-F82A-A26F-165328538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581" y="1351593"/>
            <a:ext cx="3628631" cy="37919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763349"/>
            <a:ext cx="714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D2B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Conclusion &amp; Future Outlook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000125" y="1492011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1E88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EduStream successfully integrates a strong brand identity with a robust, modular design to bridge the digital divide in education through adaptive streaming and mobile-first accessibility.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00125" y="2672125"/>
            <a:ext cx="994767" cy="31611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D2B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Impact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166830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5869" y="3131111"/>
            <a:ext cx="31218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Removed connectivity barriers for students in low-resource settings.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659749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5869" y="3624030"/>
            <a:ext cx="31218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Established a professional, cohesive brand identity (EduStream).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4152667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5869" y="4116949"/>
            <a:ext cx="31218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Optimized educator workflows through streamlined content management.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4786313" y="2672125"/>
            <a:ext cx="1134070" cy="31611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D2B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Future Vision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166830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2056" y="3131111"/>
            <a:ext cx="31218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Scalable architecture ready for multi-institutional deployment.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659749"/>
            <a:ext cx="144661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38130" y="3624030"/>
            <a:ext cx="31057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AI-driven predictive analytics for student success.</a:t>
            </a:r>
            <a:endParaRPr lang="en-US" sz="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4152667"/>
            <a:ext cx="128588" cy="128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22056" y="4116949"/>
            <a:ext cx="31218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Expansion of offline-first capabilities for zero-connectivity regions.</a:t>
            </a:r>
            <a:endParaRPr lang="en-US" sz="950" dirty="0"/>
          </a:p>
        </p:txBody>
      </p:sp>
      <p:sp>
        <p:nvSpPr>
          <p:cNvPr id="19" name="Text 10"/>
          <p:cNvSpPr/>
          <p:nvPr/>
        </p:nvSpPr>
        <p:spPr>
          <a:xfrm>
            <a:off x="3182541" y="4500563"/>
            <a:ext cx="27789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kern="0" spc="1" dirty="0">
                <a:solidFill>
                  <a:srgbClr val="0D2B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EDUSTREAM: LEARN WITHOUT LIMITS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492</Words>
  <Application>Microsoft Office PowerPoint</Application>
  <PresentationFormat>On-screen Show (16:9)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Poppins</vt:lpstr>
      <vt:lpstr>Poppins 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ECHUNDIP EBENETA</cp:lastModifiedBy>
  <cp:revision>3</cp:revision>
  <dcterms:created xsi:type="dcterms:W3CDTF">2026-06-09T11:58:58Z</dcterms:created>
  <dcterms:modified xsi:type="dcterms:W3CDTF">2026-06-09T14:21:11Z</dcterms:modified>
</cp:coreProperties>
</file>