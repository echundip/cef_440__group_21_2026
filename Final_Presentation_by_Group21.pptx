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9" r:id="rId7"/>
    <p:sldId id="261" r:id="rId8"/>
    <p:sldId id="262" r:id="rId9"/>
    <p:sldId id="263" r:id="rId10"/>
    <p:sldId id="270" r:id="rId11"/>
    <p:sldId id="264" r:id="rId12"/>
    <p:sldId id="271" r:id="rId13"/>
    <p:sldId id="265" r:id="rId14"/>
    <p:sldId id="267"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0" d="100"/>
          <a:sy n="70" d="100"/>
        </p:scale>
        <p:origin x="71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viewProps" Target="view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presProps" Target="presProps.xml" /><Relationship Id="rId2" Type="http://schemas.openxmlformats.org/officeDocument/2006/relationships/slide" Target="slides/slide1.xml" /><Relationship Id="rId16" Type="http://schemas.openxmlformats.org/officeDocument/2006/relationships/notesMaster" Target="notesMasters/notesMaster1.xml" /><Relationship Id="rId20"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10" Type="http://schemas.openxmlformats.org/officeDocument/2006/relationships/slide" Target="slides/slide9.xml" /><Relationship Id="rId19" Type="http://schemas.openxmlformats.org/officeDocument/2006/relationships/theme" Target="theme/theme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8557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71C38-BAD3-EC84-E45F-57DB0A171E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E3717C-4A79-041E-7541-C02471D368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AF2C45-EF87-5B22-7E06-718E146CD4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73BE40-4C52-0BFB-1607-D0354074F61B}"/>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9240255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 /><Relationship Id="rId1" Type="http://schemas.openxmlformats.org/officeDocument/2006/relationships/slideLayout" Target="../slideLayouts/slideLayout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2.xml" /><Relationship Id="rId1" Type="http://schemas.openxmlformats.org/officeDocument/2006/relationships/slideLayout" Target="../slideLayouts/slideLayout1.xml" /><Relationship Id="rId6" Type="http://schemas.openxmlformats.org/officeDocument/2006/relationships/image" Target="../media/image4.png" /><Relationship Id="rId5" Type="http://schemas.openxmlformats.org/officeDocument/2006/relationships/image" Target="../media/image3.png" /><Relationship Id="rId4" Type="http://schemas.openxmlformats.org/officeDocument/2006/relationships/image" Target="../media/image2.png" /></Relationships>
</file>

<file path=ppt/slides/_rels/slide3.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notesSlide" Target="../notesSlides/notesSlide3.xml"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notesSlide" Target="../notesSlides/notesSlide4.xml" /><Relationship Id="rId1" Type="http://schemas.openxmlformats.org/officeDocument/2006/relationships/slideLayout" Target="../slideLayouts/slideLayout1.xml" /><Relationship Id="rId4" Type="http://schemas.openxmlformats.org/officeDocument/2006/relationships/image" Target="../media/image7.png" /></Relationships>
</file>

<file path=ppt/slides/_rels/slide5.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notesSlide" Target="../notesSlides/notesSlide5.xml" /><Relationship Id="rId1" Type="http://schemas.openxmlformats.org/officeDocument/2006/relationships/slideLayout" Target="../slideLayouts/slideLayout1.xml" /><Relationship Id="rId4" Type="http://schemas.openxmlformats.org/officeDocument/2006/relationships/image" Target="../media/image5.png" /></Relationships>
</file>

<file path=ppt/slides/_rels/slide6.xml.rels><?xml version="1.0" encoding="UTF-8" standalone="yes"?>
<Relationships xmlns="http://schemas.openxmlformats.org/package/2006/relationships"><Relationship Id="rId2" Type="http://schemas.openxmlformats.org/officeDocument/2006/relationships/image" Target="../media/image9.jpeg"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6.xml" /><Relationship Id="rId1" Type="http://schemas.openxmlformats.org/officeDocument/2006/relationships/slideLayout" Target="../slideLayouts/slideLayout1.xml" /><Relationship Id="rId4" Type="http://schemas.openxmlformats.org/officeDocument/2006/relationships/image" Target="../media/image5.png" /></Relationships>
</file>

<file path=ppt/slides/_rels/slide8.xml.rels><?xml version="1.0" encoding="UTF-8" standalone="yes"?>
<Relationships xmlns="http://schemas.openxmlformats.org/package/2006/relationships"><Relationship Id="rId3" Type="http://schemas.openxmlformats.org/officeDocument/2006/relationships/image" Target="../media/image10.png" /><Relationship Id="rId2" Type="http://schemas.openxmlformats.org/officeDocument/2006/relationships/notesSlide" Target="../notesSlides/notesSlide7.xml"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3" Type="http://schemas.openxmlformats.org/officeDocument/2006/relationships/image" Target="../media/image11.png" /><Relationship Id="rId2" Type="http://schemas.openxmlformats.org/officeDocument/2006/relationships/notesSlide" Target="../notesSlides/notesSlide8.xml" /><Relationship Id="rId1" Type="http://schemas.openxmlformats.org/officeDocument/2006/relationships/slideLayout" Target="../slideLayouts/slideLayout1.xml" /><Relationship Id="rId4" Type="http://schemas.openxmlformats.org/officeDocument/2006/relationships/image" Target="../media/image5.png" /></Relationships>
</file>

<file path=ppt/slides/_rels/slide10.xml.rels><?xml version="1.0" encoding="UTF-8" standalone="yes"?>
<Relationships xmlns="http://schemas.openxmlformats.org/package/2006/relationships"><Relationship Id="rId3" Type="http://schemas.openxmlformats.org/officeDocument/2006/relationships/image" Target="../media/image13.jpeg" /><Relationship Id="rId2" Type="http://schemas.openxmlformats.org/officeDocument/2006/relationships/image" Target="../media/image12.jpeg" /><Relationship Id="rId1" Type="http://schemas.openxmlformats.org/officeDocument/2006/relationships/slideLayout" Target="../slideLayouts/slideLayout1.xml" /><Relationship Id="rId4" Type="http://schemas.openxmlformats.org/officeDocument/2006/relationships/image" Target="../media/image14.jpeg" /></Relationships>
</file>

<file path=ppt/slides/_rels/slide11.xml.rels><?xml version="1.0" encoding="UTF-8" standalone="yes"?>
<Relationships xmlns="http://schemas.openxmlformats.org/package/2006/relationships"><Relationship Id="rId3" Type="http://schemas.openxmlformats.org/officeDocument/2006/relationships/image" Target="../media/image15.png" /><Relationship Id="rId2" Type="http://schemas.openxmlformats.org/officeDocument/2006/relationships/notesSlide" Target="../notesSlides/notesSlide9.xml"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Relationship Id="rId2" Type="http://schemas.openxmlformats.org/officeDocument/2006/relationships/image" Target="../media/image16.png"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Relationship Id="rId3" Type="http://schemas.openxmlformats.org/officeDocument/2006/relationships/image" Target="../media/image17.png" /><Relationship Id="rId2" Type="http://schemas.openxmlformats.org/officeDocument/2006/relationships/notesSlide" Target="../notesSlides/notesSlide10.xml" /><Relationship Id="rId1" Type="http://schemas.openxmlformats.org/officeDocument/2006/relationships/slideLayout" Target="../slideLayouts/slideLayout1.xml" /><Relationship Id="rId6" Type="http://schemas.openxmlformats.org/officeDocument/2006/relationships/image" Target="../media/image20.png" /><Relationship Id="rId5" Type="http://schemas.openxmlformats.org/officeDocument/2006/relationships/image" Target="../media/image19.png" /><Relationship Id="rId4" Type="http://schemas.openxmlformats.org/officeDocument/2006/relationships/image" Target="../media/image18.png" /></Relationships>
</file>

<file path=ppt/slides/_rels/slide14.xml.rels><?xml version="1.0" encoding="UTF-8" standalone="yes"?>
<Relationships xmlns="http://schemas.openxmlformats.org/package/2006/relationships"><Relationship Id="rId3" Type="http://schemas.openxmlformats.org/officeDocument/2006/relationships/image" Target="../media/image7.png" /><Relationship Id="rId2" Type="http://schemas.openxmlformats.org/officeDocument/2006/relationships/notesSlide" Target="../notesSlides/notesSlide11.xml"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1A38"/>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0D2B55">
              <a:alpha val="60000"/>
            </a:srgbClr>
          </a:solidFill>
          <a:ln/>
        </p:spPr>
      </p:sp>
      <p:sp>
        <p:nvSpPr>
          <p:cNvPr id="3" name="Shape 1"/>
          <p:cNvSpPr/>
          <p:nvPr/>
        </p:nvSpPr>
        <p:spPr>
          <a:xfrm>
            <a:off x="-2194560" y="4389120"/>
            <a:ext cx="4572000" cy="4572000"/>
          </a:xfrm>
          <a:prstGeom prst="ellipse">
            <a:avLst/>
          </a:prstGeom>
          <a:solidFill>
            <a:srgbClr val="1E88E5">
              <a:alpha val="12000"/>
            </a:srgbClr>
          </a:solidFill>
          <a:ln/>
        </p:spPr>
      </p:sp>
      <p:sp>
        <p:nvSpPr>
          <p:cNvPr id="4" name="Text 2"/>
          <p:cNvSpPr/>
          <p:nvPr/>
        </p:nvSpPr>
        <p:spPr>
          <a:xfrm>
            <a:off x="822960" y="640080"/>
            <a:ext cx="10515600" cy="320040"/>
          </a:xfrm>
          <a:prstGeom prst="rect">
            <a:avLst/>
          </a:prstGeom>
          <a:noFill/>
          <a:ln/>
        </p:spPr>
        <p:txBody>
          <a:bodyPr wrap="square" lIns="0" tIns="0" rIns="0" bIns="0" rtlCol="0" anchor="ctr"/>
          <a:lstStyle/>
          <a:p>
            <a:pPr marL="0" indent="0">
              <a:buNone/>
            </a:pPr>
            <a:r>
              <a:rPr lang="en-US" sz="1200" b="1" kern="0" spc="200" dirty="0">
                <a:solidFill>
                  <a:srgbClr val="26C6DA"/>
                </a:solidFill>
                <a:latin typeface="Calibri" pitchFamily="34" charset="0"/>
                <a:ea typeface="Calibri" pitchFamily="34" charset="-122"/>
                <a:cs typeface="Calibri" pitchFamily="34" charset="-120"/>
              </a:rPr>
              <a:t>CEF 440  |  INTERNET &amp; MOBILE PROGRAMMING  |  UNIVERSITY OF BUEA</a:t>
            </a:r>
            <a:endParaRPr lang="en-US" sz="1200" dirty="0"/>
          </a:p>
        </p:txBody>
      </p:sp>
      <p:sp>
        <p:nvSpPr>
          <p:cNvPr id="5" name="Text 3"/>
          <p:cNvSpPr/>
          <p:nvPr/>
        </p:nvSpPr>
        <p:spPr>
          <a:xfrm>
            <a:off x="777240" y="1874520"/>
            <a:ext cx="10515600" cy="1188720"/>
          </a:xfrm>
          <a:prstGeom prst="rect">
            <a:avLst/>
          </a:prstGeom>
          <a:noFill/>
          <a:ln/>
        </p:spPr>
        <p:txBody>
          <a:bodyPr wrap="square" lIns="0" tIns="0" rIns="0" bIns="0"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EduStream</a:t>
            </a:r>
            <a:endParaRPr lang="en-US" sz="6000" dirty="0"/>
          </a:p>
        </p:txBody>
      </p:sp>
      <p:sp>
        <p:nvSpPr>
          <p:cNvPr id="6" name="Text 4"/>
          <p:cNvSpPr/>
          <p:nvPr/>
        </p:nvSpPr>
        <p:spPr>
          <a:xfrm>
            <a:off x="822960" y="2971800"/>
            <a:ext cx="9692640" cy="868680"/>
          </a:xfrm>
          <a:prstGeom prst="rect">
            <a:avLst/>
          </a:prstGeom>
          <a:noFill/>
          <a:ln/>
        </p:spPr>
        <p:txBody>
          <a:bodyPr wrap="square" lIns="0" tIns="0" rIns="0" bIns="0" rtlCol="0" anchor="ctr"/>
          <a:lstStyle/>
          <a:p>
            <a:pPr marL="0" indent="0">
              <a:lnSpc>
                <a:spcPct val="120000"/>
              </a:lnSpc>
              <a:buNone/>
            </a:pPr>
            <a:r>
              <a:rPr lang="en-US" sz="1700" dirty="0">
                <a:solidFill>
                  <a:srgbClr val="C9D6E8"/>
                </a:solidFill>
                <a:latin typeface="Calibri" pitchFamily="34" charset="0"/>
                <a:ea typeface="Calibri" pitchFamily="34" charset="-122"/>
                <a:cs typeface="Calibri" pitchFamily="34" charset="-120"/>
              </a:rPr>
              <a:t>Adaptive Mobile E-Learning Platform Based on Quality of Experience (QoE)</a:t>
            </a:r>
            <a:endParaRPr lang="en-US" sz="1700" dirty="0"/>
          </a:p>
          <a:p>
            <a:pPr marL="0" indent="0">
              <a:lnSpc>
                <a:spcPct val="120000"/>
              </a:lnSpc>
              <a:buNone/>
            </a:pPr>
            <a:r>
              <a:rPr lang="en-US" sz="1700" dirty="0">
                <a:solidFill>
                  <a:srgbClr val="C9D6E8"/>
                </a:solidFill>
                <a:latin typeface="Calibri" pitchFamily="34" charset="0"/>
                <a:ea typeface="Calibri" pitchFamily="34" charset="-122"/>
                <a:cs typeface="Calibri" pitchFamily="34" charset="-120"/>
              </a:rPr>
              <a:t>for Inclusive Online Education in Low-Resource Settings</a:t>
            </a:r>
            <a:endParaRPr lang="en-US" sz="1700" dirty="0"/>
          </a:p>
        </p:txBody>
      </p:sp>
      <p:sp>
        <p:nvSpPr>
          <p:cNvPr id="7" name="Shape 5"/>
          <p:cNvSpPr/>
          <p:nvPr/>
        </p:nvSpPr>
        <p:spPr>
          <a:xfrm>
            <a:off x="822960" y="3977640"/>
            <a:ext cx="3291840" cy="0"/>
          </a:xfrm>
          <a:prstGeom prst="line">
            <a:avLst/>
          </a:prstGeom>
          <a:noFill/>
          <a:ln w="25400">
            <a:solidFill>
              <a:srgbClr val="1E88E5"/>
            </a:solidFill>
            <a:prstDash val="solid"/>
          </a:ln>
        </p:spPr>
      </p:sp>
      <p:sp>
        <p:nvSpPr>
          <p:cNvPr id="8" name="Text 6"/>
          <p:cNvSpPr/>
          <p:nvPr/>
        </p:nvSpPr>
        <p:spPr>
          <a:xfrm>
            <a:off x="822960" y="4251960"/>
            <a:ext cx="5486400" cy="274320"/>
          </a:xfrm>
          <a:prstGeom prst="rect">
            <a:avLst/>
          </a:prstGeom>
          <a:noFill/>
          <a:ln/>
        </p:spPr>
        <p:txBody>
          <a:bodyPr wrap="square" lIns="0" tIns="0" rIns="0" bIns="0" rtlCol="0" anchor="ctr"/>
          <a:lstStyle/>
          <a:p>
            <a:pPr marL="0" indent="0">
              <a:buNone/>
            </a:pPr>
            <a:r>
              <a:rPr lang="en-US" sz="1100" b="1" kern="0" spc="200" dirty="0">
                <a:solidFill>
                  <a:srgbClr val="1E88E5"/>
                </a:solidFill>
                <a:latin typeface="Calibri" pitchFamily="34" charset="0"/>
                <a:ea typeface="Calibri" pitchFamily="34" charset="-122"/>
                <a:cs typeface="Calibri" pitchFamily="34" charset="-120"/>
              </a:rPr>
              <a:t>PRESENTED BY GROUP 21</a:t>
            </a:r>
            <a:endParaRPr lang="en-US" sz="1100" dirty="0"/>
          </a:p>
        </p:txBody>
      </p:sp>
      <p:sp>
        <p:nvSpPr>
          <p:cNvPr id="9" name="Text 7"/>
          <p:cNvSpPr/>
          <p:nvPr/>
        </p:nvSpPr>
        <p:spPr>
          <a:xfrm>
            <a:off x="822960" y="4572000"/>
            <a:ext cx="4206240" cy="27432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CHE RANDY FANG</a:t>
            </a:r>
            <a:endParaRPr lang="en-US" sz="1250" dirty="0"/>
          </a:p>
        </p:txBody>
      </p:sp>
      <p:sp>
        <p:nvSpPr>
          <p:cNvPr id="10" name="Text 8"/>
          <p:cNvSpPr/>
          <p:nvPr/>
        </p:nvSpPr>
        <p:spPr>
          <a:xfrm>
            <a:off x="5074920" y="4572000"/>
            <a:ext cx="1737360" cy="274320"/>
          </a:xfrm>
          <a:prstGeom prst="rect">
            <a:avLst/>
          </a:prstGeom>
          <a:noFill/>
          <a:ln/>
        </p:spPr>
        <p:txBody>
          <a:bodyPr wrap="square" lIns="0" tIns="0" rIns="0" bIns="0" rtlCol="0" anchor="ctr"/>
          <a:lstStyle/>
          <a:p>
            <a:pPr marL="0" indent="0">
              <a:buNone/>
            </a:pPr>
            <a:r>
              <a:rPr lang="en-US" sz="1250" dirty="0">
                <a:solidFill>
                  <a:srgbClr val="9FB3CC"/>
                </a:solidFill>
                <a:latin typeface="Calibri" pitchFamily="34" charset="0"/>
                <a:ea typeface="Calibri" pitchFamily="34" charset="-122"/>
                <a:cs typeface="Calibri" pitchFamily="34" charset="-120"/>
              </a:rPr>
              <a:t>Software</a:t>
            </a:r>
            <a:endParaRPr lang="en-US" sz="1250" dirty="0"/>
          </a:p>
        </p:txBody>
      </p:sp>
      <p:sp>
        <p:nvSpPr>
          <p:cNvPr id="11" name="Text 9"/>
          <p:cNvSpPr/>
          <p:nvPr/>
        </p:nvSpPr>
        <p:spPr>
          <a:xfrm>
            <a:off x="6858000" y="4572000"/>
            <a:ext cx="1463040" cy="274320"/>
          </a:xfrm>
          <a:prstGeom prst="rect">
            <a:avLst/>
          </a:prstGeom>
          <a:noFill/>
          <a:ln/>
        </p:spPr>
        <p:txBody>
          <a:bodyPr wrap="square" lIns="0" tIns="0" rIns="0" bIns="0" rtlCol="0" anchor="ctr"/>
          <a:lstStyle/>
          <a:p>
            <a:pPr marL="0" indent="0">
              <a:buNone/>
            </a:pPr>
            <a:r>
              <a:rPr lang="en-US" sz="1250" dirty="0">
                <a:solidFill>
                  <a:srgbClr val="9FB3CC"/>
                </a:solidFill>
                <a:latin typeface="Calibri" pitchFamily="34" charset="0"/>
                <a:ea typeface="Calibri" pitchFamily="34" charset="-122"/>
                <a:cs typeface="Calibri" pitchFamily="34" charset="-120"/>
              </a:rPr>
              <a:t>FE23A030</a:t>
            </a:r>
            <a:endParaRPr lang="en-US" sz="1250" dirty="0"/>
          </a:p>
        </p:txBody>
      </p:sp>
      <p:sp>
        <p:nvSpPr>
          <p:cNvPr id="12" name="Text 10"/>
          <p:cNvSpPr/>
          <p:nvPr/>
        </p:nvSpPr>
        <p:spPr>
          <a:xfrm>
            <a:off x="822960" y="4882896"/>
            <a:ext cx="4206240" cy="27432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ECHUNDIP CARL-LAWRENCE N.</a:t>
            </a:r>
            <a:endParaRPr lang="en-US" sz="1250" dirty="0"/>
          </a:p>
        </p:txBody>
      </p:sp>
      <p:sp>
        <p:nvSpPr>
          <p:cNvPr id="13" name="Text 11"/>
          <p:cNvSpPr/>
          <p:nvPr/>
        </p:nvSpPr>
        <p:spPr>
          <a:xfrm>
            <a:off x="5074920" y="4882896"/>
            <a:ext cx="1737360" cy="274320"/>
          </a:xfrm>
          <a:prstGeom prst="rect">
            <a:avLst/>
          </a:prstGeom>
          <a:noFill/>
          <a:ln/>
        </p:spPr>
        <p:txBody>
          <a:bodyPr wrap="square" lIns="0" tIns="0" rIns="0" bIns="0" rtlCol="0" anchor="ctr"/>
          <a:lstStyle/>
          <a:p>
            <a:pPr marL="0" indent="0">
              <a:buNone/>
            </a:pPr>
            <a:r>
              <a:rPr lang="en-US" sz="1250" dirty="0">
                <a:solidFill>
                  <a:srgbClr val="9FB3CC"/>
                </a:solidFill>
                <a:latin typeface="Calibri" pitchFamily="34" charset="0"/>
                <a:ea typeface="Calibri" pitchFamily="34" charset="-122"/>
                <a:cs typeface="Calibri" pitchFamily="34" charset="-120"/>
              </a:rPr>
              <a:t>Networking</a:t>
            </a:r>
            <a:endParaRPr lang="en-US" sz="1250" dirty="0"/>
          </a:p>
        </p:txBody>
      </p:sp>
      <p:sp>
        <p:nvSpPr>
          <p:cNvPr id="14" name="Text 12"/>
          <p:cNvSpPr/>
          <p:nvPr/>
        </p:nvSpPr>
        <p:spPr>
          <a:xfrm>
            <a:off x="6858000" y="4882896"/>
            <a:ext cx="1463040" cy="274320"/>
          </a:xfrm>
          <a:prstGeom prst="rect">
            <a:avLst/>
          </a:prstGeom>
          <a:noFill/>
          <a:ln/>
        </p:spPr>
        <p:txBody>
          <a:bodyPr wrap="square" lIns="0" tIns="0" rIns="0" bIns="0" rtlCol="0" anchor="ctr"/>
          <a:lstStyle/>
          <a:p>
            <a:pPr marL="0" indent="0">
              <a:buNone/>
            </a:pPr>
            <a:r>
              <a:rPr lang="en-US" sz="1250" dirty="0">
                <a:solidFill>
                  <a:srgbClr val="9FB3CC"/>
                </a:solidFill>
                <a:latin typeface="Calibri" pitchFamily="34" charset="0"/>
                <a:ea typeface="Calibri" pitchFamily="34" charset="-122"/>
                <a:cs typeface="Calibri" pitchFamily="34" charset="-120"/>
              </a:rPr>
              <a:t>FE23A040</a:t>
            </a:r>
            <a:endParaRPr lang="en-US" sz="1250" dirty="0"/>
          </a:p>
        </p:txBody>
      </p:sp>
      <p:sp>
        <p:nvSpPr>
          <p:cNvPr id="15" name="Text 13"/>
          <p:cNvSpPr/>
          <p:nvPr/>
        </p:nvSpPr>
        <p:spPr>
          <a:xfrm>
            <a:off x="822960" y="5193792"/>
            <a:ext cx="4206240" cy="27432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MAKANE THANKS MOSAKA</a:t>
            </a:r>
            <a:endParaRPr lang="en-US" sz="1250" dirty="0"/>
          </a:p>
        </p:txBody>
      </p:sp>
      <p:sp>
        <p:nvSpPr>
          <p:cNvPr id="16" name="Text 14"/>
          <p:cNvSpPr/>
          <p:nvPr/>
        </p:nvSpPr>
        <p:spPr>
          <a:xfrm>
            <a:off x="5074920" y="5193792"/>
            <a:ext cx="1737360" cy="274320"/>
          </a:xfrm>
          <a:prstGeom prst="rect">
            <a:avLst/>
          </a:prstGeom>
          <a:noFill/>
          <a:ln/>
        </p:spPr>
        <p:txBody>
          <a:bodyPr wrap="square" lIns="0" tIns="0" rIns="0" bIns="0" rtlCol="0" anchor="ctr"/>
          <a:lstStyle/>
          <a:p>
            <a:pPr marL="0" indent="0">
              <a:buNone/>
            </a:pPr>
            <a:r>
              <a:rPr lang="en-US" sz="1250" dirty="0">
                <a:solidFill>
                  <a:srgbClr val="9FB3CC"/>
                </a:solidFill>
                <a:latin typeface="Calibri" pitchFamily="34" charset="0"/>
                <a:ea typeface="Calibri" pitchFamily="34" charset="-122"/>
                <a:cs typeface="Calibri" pitchFamily="34" charset="-120"/>
              </a:rPr>
              <a:t>Software</a:t>
            </a:r>
            <a:endParaRPr lang="en-US" sz="1250" dirty="0"/>
          </a:p>
        </p:txBody>
      </p:sp>
      <p:sp>
        <p:nvSpPr>
          <p:cNvPr id="17" name="Text 15"/>
          <p:cNvSpPr/>
          <p:nvPr/>
        </p:nvSpPr>
        <p:spPr>
          <a:xfrm>
            <a:off x="6858000" y="5193792"/>
            <a:ext cx="1463040" cy="274320"/>
          </a:xfrm>
          <a:prstGeom prst="rect">
            <a:avLst/>
          </a:prstGeom>
          <a:noFill/>
          <a:ln/>
        </p:spPr>
        <p:txBody>
          <a:bodyPr wrap="square" lIns="0" tIns="0" rIns="0" bIns="0" rtlCol="0" anchor="ctr"/>
          <a:lstStyle/>
          <a:p>
            <a:pPr marL="0" indent="0">
              <a:buNone/>
            </a:pPr>
            <a:r>
              <a:rPr lang="en-US" sz="1250" dirty="0">
                <a:solidFill>
                  <a:srgbClr val="9FB3CC"/>
                </a:solidFill>
                <a:latin typeface="Calibri" pitchFamily="34" charset="0"/>
                <a:ea typeface="Calibri" pitchFamily="34" charset="-122"/>
                <a:cs typeface="Calibri" pitchFamily="34" charset="-120"/>
              </a:rPr>
              <a:t>FE23A085</a:t>
            </a:r>
            <a:endParaRPr lang="en-US" sz="1250" dirty="0"/>
          </a:p>
        </p:txBody>
      </p:sp>
      <p:sp>
        <p:nvSpPr>
          <p:cNvPr id="18" name="Text 16"/>
          <p:cNvSpPr/>
          <p:nvPr/>
        </p:nvSpPr>
        <p:spPr>
          <a:xfrm>
            <a:off x="822960" y="5504688"/>
            <a:ext cx="4206240" cy="27432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NUMFOR PRECIOUS LUM</a:t>
            </a:r>
            <a:endParaRPr lang="en-US" sz="1250" dirty="0"/>
          </a:p>
        </p:txBody>
      </p:sp>
      <p:sp>
        <p:nvSpPr>
          <p:cNvPr id="19" name="Text 17"/>
          <p:cNvSpPr/>
          <p:nvPr/>
        </p:nvSpPr>
        <p:spPr>
          <a:xfrm>
            <a:off x="5074920" y="5504688"/>
            <a:ext cx="1737360" cy="274320"/>
          </a:xfrm>
          <a:prstGeom prst="rect">
            <a:avLst/>
          </a:prstGeom>
          <a:noFill/>
          <a:ln/>
        </p:spPr>
        <p:txBody>
          <a:bodyPr wrap="square" lIns="0" tIns="0" rIns="0" bIns="0" rtlCol="0" anchor="ctr"/>
          <a:lstStyle/>
          <a:p>
            <a:pPr marL="0" indent="0">
              <a:buNone/>
            </a:pPr>
            <a:r>
              <a:rPr lang="en-US" sz="1250" dirty="0">
                <a:solidFill>
                  <a:srgbClr val="9FB3CC"/>
                </a:solidFill>
                <a:latin typeface="Calibri" pitchFamily="34" charset="0"/>
                <a:ea typeface="Calibri" pitchFamily="34" charset="-122"/>
                <a:cs typeface="Calibri" pitchFamily="34" charset="-120"/>
              </a:rPr>
              <a:t>Software</a:t>
            </a:r>
            <a:endParaRPr lang="en-US" sz="1250" dirty="0"/>
          </a:p>
        </p:txBody>
      </p:sp>
      <p:sp>
        <p:nvSpPr>
          <p:cNvPr id="20" name="Text 18"/>
          <p:cNvSpPr/>
          <p:nvPr/>
        </p:nvSpPr>
        <p:spPr>
          <a:xfrm>
            <a:off x="6858000" y="5504688"/>
            <a:ext cx="1463040" cy="274320"/>
          </a:xfrm>
          <a:prstGeom prst="rect">
            <a:avLst/>
          </a:prstGeom>
          <a:noFill/>
          <a:ln/>
        </p:spPr>
        <p:txBody>
          <a:bodyPr wrap="square" lIns="0" tIns="0" rIns="0" bIns="0" rtlCol="0" anchor="ctr"/>
          <a:lstStyle/>
          <a:p>
            <a:pPr marL="0" indent="0">
              <a:buNone/>
            </a:pPr>
            <a:r>
              <a:rPr lang="en-US" sz="1250" dirty="0">
                <a:solidFill>
                  <a:srgbClr val="9FB3CC"/>
                </a:solidFill>
                <a:latin typeface="Calibri" pitchFamily="34" charset="0"/>
                <a:ea typeface="Calibri" pitchFamily="34" charset="-122"/>
                <a:cs typeface="Calibri" pitchFamily="34" charset="-120"/>
              </a:rPr>
              <a:t>FE23A126</a:t>
            </a:r>
            <a:endParaRPr lang="en-US" sz="1250" dirty="0"/>
          </a:p>
        </p:txBody>
      </p:sp>
      <p:sp>
        <p:nvSpPr>
          <p:cNvPr id="21" name="Text 19"/>
          <p:cNvSpPr/>
          <p:nvPr/>
        </p:nvSpPr>
        <p:spPr>
          <a:xfrm>
            <a:off x="822960" y="5815584"/>
            <a:ext cx="4206240" cy="27432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TEMFA NKOMBONG FORTUNEE</a:t>
            </a:r>
            <a:endParaRPr lang="en-US" sz="1250" dirty="0"/>
          </a:p>
        </p:txBody>
      </p:sp>
      <p:sp>
        <p:nvSpPr>
          <p:cNvPr id="22" name="Text 20"/>
          <p:cNvSpPr/>
          <p:nvPr/>
        </p:nvSpPr>
        <p:spPr>
          <a:xfrm>
            <a:off x="5074920" y="5815584"/>
            <a:ext cx="1737360" cy="274320"/>
          </a:xfrm>
          <a:prstGeom prst="rect">
            <a:avLst/>
          </a:prstGeom>
          <a:noFill/>
          <a:ln/>
        </p:spPr>
        <p:txBody>
          <a:bodyPr wrap="square" lIns="0" tIns="0" rIns="0" bIns="0" rtlCol="0" anchor="ctr"/>
          <a:lstStyle/>
          <a:p>
            <a:pPr marL="0" indent="0">
              <a:buNone/>
            </a:pPr>
            <a:r>
              <a:rPr lang="en-US" sz="1250" dirty="0">
                <a:solidFill>
                  <a:srgbClr val="9FB3CC"/>
                </a:solidFill>
                <a:latin typeface="Calibri" pitchFamily="34" charset="0"/>
                <a:ea typeface="Calibri" pitchFamily="34" charset="-122"/>
                <a:cs typeface="Calibri" pitchFamily="34" charset="-120"/>
              </a:rPr>
              <a:t>Software</a:t>
            </a:r>
            <a:endParaRPr lang="en-US" sz="1250" dirty="0"/>
          </a:p>
        </p:txBody>
      </p:sp>
      <p:sp>
        <p:nvSpPr>
          <p:cNvPr id="23" name="Text 21"/>
          <p:cNvSpPr/>
          <p:nvPr/>
        </p:nvSpPr>
        <p:spPr>
          <a:xfrm>
            <a:off x="6858000" y="5815584"/>
            <a:ext cx="1463040" cy="274320"/>
          </a:xfrm>
          <a:prstGeom prst="rect">
            <a:avLst/>
          </a:prstGeom>
          <a:noFill/>
          <a:ln/>
        </p:spPr>
        <p:txBody>
          <a:bodyPr wrap="square" lIns="0" tIns="0" rIns="0" bIns="0" rtlCol="0" anchor="ctr"/>
          <a:lstStyle/>
          <a:p>
            <a:pPr marL="0" indent="0">
              <a:buNone/>
            </a:pPr>
            <a:r>
              <a:rPr lang="en-US" sz="1250" dirty="0">
                <a:solidFill>
                  <a:srgbClr val="9FB3CC"/>
                </a:solidFill>
                <a:latin typeface="Calibri" pitchFamily="34" charset="0"/>
                <a:ea typeface="Calibri" pitchFamily="34" charset="-122"/>
                <a:cs typeface="Calibri" pitchFamily="34" charset="-120"/>
              </a:rPr>
              <a:t>FE23A168</a:t>
            </a:r>
            <a:endParaRPr lang="en-US" sz="1250" dirty="0"/>
          </a:p>
        </p:txBody>
      </p:sp>
      <p:sp>
        <p:nvSpPr>
          <p:cNvPr id="24" name="Text 22"/>
          <p:cNvSpPr/>
          <p:nvPr/>
        </p:nvSpPr>
        <p:spPr>
          <a:xfrm>
            <a:off x="8595360" y="4572000"/>
            <a:ext cx="2926080" cy="274320"/>
          </a:xfrm>
          <a:prstGeom prst="rect">
            <a:avLst/>
          </a:prstGeom>
          <a:noFill/>
          <a:ln/>
        </p:spPr>
        <p:txBody>
          <a:bodyPr wrap="square" lIns="0" tIns="0" rIns="0" bIns="0" rtlCol="0" anchor="ctr"/>
          <a:lstStyle/>
          <a:p>
            <a:pPr marL="0" indent="0">
              <a:buNone/>
            </a:pPr>
            <a:r>
              <a:rPr lang="en-US" sz="1250" dirty="0">
                <a:solidFill>
                  <a:srgbClr val="9FB3CC"/>
                </a:solidFill>
                <a:latin typeface="Calibri" pitchFamily="34" charset="0"/>
                <a:ea typeface="Calibri" pitchFamily="34" charset="-122"/>
                <a:cs typeface="Calibri" pitchFamily="34" charset="-120"/>
              </a:rPr>
              <a:t>Course Instructor: </a:t>
            </a:r>
            <a:r>
              <a:rPr lang="en-US" sz="1250" b="1" dirty="0">
                <a:solidFill>
                  <a:srgbClr val="FFFFFF"/>
                </a:solidFill>
                <a:latin typeface="Calibri" pitchFamily="34" charset="0"/>
                <a:ea typeface="Calibri" pitchFamily="34" charset="-122"/>
                <a:cs typeface="Calibri" pitchFamily="34" charset="-120"/>
              </a:rPr>
              <a:t>Dr Nkemeni Valery</a:t>
            </a:r>
            <a:endParaRPr lang="en-US" sz="1250" dirty="0"/>
          </a:p>
        </p:txBody>
      </p:sp>
      <p:sp>
        <p:nvSpPr>
          <p:cNvPr id="25" name="Text 23"/>
          <p:cNvSpPr/>
          <p:nvPr/>
        </p:nvSpPr>
        <p:spPr>
          <a:xfrm>
            <a:off x="8595360" y="4882896"/>
            <a:ext cx="3108960" cy="274320"/>
          </a:xfrm>
          <a:prstGeom prst="rect">
            <a:avLst/>
          </a:prstGeom>
          <a:noFill/>
          <a:ln/>
        </p:spPr>
        <p:txBody>
          <a:bodyPr wrap="square" lIns="0" tIns="0" rIns="0" bIns="0" rtlCol="0" anchor="ctr"/>
          <a:lstStyle/>
          <a:p>
            <a:pPr marL="0" indent="0">
              <a:buNone/>
            </a:pPr>
            <a:r>
              <a:rPr lang="en-US" sz="1150" dirty="0">
                <a:solidFill>
                  <a:srgbClr val="9FB3CC"/>
                </a:solidFill>
                <a:latin typeface="Calibri" pitchFamily="34" charset="0"/>
                <a:ea typeface="Calibri" pitchFamily="34" charset="-122"/>
                <a:cs typeface="Calibri" pitchFamily="34" charset="-120"/>
              </a:rPr>
              <a:t>Faculty of Engineering and Technology</a:t>
            </a:r>
            <a:endParaRPr lang="en-US" sz="1150" dirty="0"/>
          </a:p>
        </p:txBody>
      </p:sp>
      <p:sp>
        <p:nvSpPr>
          <p:cNvPr id="26" name="Text 24"/>
          <p:cNvSpPr/>
          <p:nvPr/>
        </p:nvSpPr>
        <p:spPr>
          <a:xfrm>
            <a:off x="8595360" y="5193792"/>
            <a:ext cx="3108960" cy="274320"/>
          </a:xfrm>
          <a:prstGeom prst="rect">
            <a:avLst/>
          </a:prstGeom>
          <a:noFill/>
          <a:ln/>
        </p:spPr>
        <p:txBody>
          <a:bodyPr wrap="square" lIns="0" tIns="0" rIns="0" bIns="0" rtlCol="0" anchor="ctr"/>
          <a:lstStyle/>
          <a:p>
            <a:pPr marL="0" indent="0">
              <a:buNone/>
            </a:pPr>
            <a:r>
              <a:rPr lang="en-US" sz="1150" dirty="0">
                <a:solidFill>
                  <a:srgbClr val="9FB3CC"/>
                </a:solidFill>
                <a:latin typeface="Calibri" pitchFamily="34" charset="0"/>
                <a:ea typeface="Calibri" pitchFamily="34" charset="-122"/>
                <a:cs typeface="Calibri" pitchFamily="34" charset="-120"/>
              </a:rPr>
              <a:t>July 2026</a:t>
            </a:r>
            <a:endParaRPr lang="en-US" sz="1150" dirty="0"/>
          </a:p>
        </p:txBody>
      </p:sp>
      <p:sp>
        <p:nvSpPr>
          <p:cNvPr id="27" name="Text 25"/>
          <p:cNvSpPr/>
          <p:nvPr/>
        </p:nvSpPr>
        <p:spPr>
          <a:xfrm>
            <a:off x="822960" y="6172200"/>
            <a:ext cx="5486400" cy="320040"/>
          </a:xfrm>
          <a:prstGeom prst="rect">
            <a:avLst/>
          </a:prstGeom>
          <a:noFill/>
          <a:ln/>
        </p:spPr>
        <p:txBody>
          <a:bodyPr wrap="square" lIns="0" tIns="0" rIns="0" bIns="0" rtlCol="0" anchor="ctr"/>
          <a:lstStyle/>
          <a:p>
            <a:pPr marL="0" indent="0">
              <a:buNone/>
            </a:pPr>
            <a:r>
              <a:rPr lang="en-US" sz="1400" i="1" dirty="0">
                <a:solidFill>
                  <a:srgbClr val="26C6DA"/>
                </a:solidFill>
                <a:latin typeface="Cambria" pitchFamily="34" charset="0"/>
                <a:ea typeface="Cambria" pitchFamily="34" charset="-122"/>
                <a:cs typeface="Cambria" pitchFamily="34" charset="-120"/>
              </a:rPr>
              <a:t>Final Project Presentation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marL="0" indent="0">
              <a:buNone/>
            </a:pPr>
            <a:r>
              <a:rPr lang="en-US" sz="1200" b="1" kern="0" spc="200" dirty="0">
                <a:solidFill>
                  <a:srgbClr val="1E88E5"/>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640080" y="658368"/>
            <a:ext cx="10607040" cy="685800"/>
          </a:xfrm>
          <a:prstGeom prst="rect">
            <a:avLst/>
          </a:prstGeom>
          <a:noFill/>
          <a:ln/>
        </p:spPr>
        <p:txBody>
          <a:bodyPr wrap="square" lIns="0" tIns="0" rIns="0" bIns="0" rtlCol="0" anchor="ctr"/>
          <a:lstStyle/>
          <a:p>
            <a:pPr marL="0" indent="0">
              <a:buNone/>
            </a:pPr>
            <a:r>
              <a:rPr lang="en-US" sz="3000" b="1" dirty="0">
                <a:solidFill>
                  <a:srgbClr val="0D2B55"/>
                </a:solidFill>
                <a:latin typeface="Cambria" pitchFamily="34" charset="0"/>
                <a:ea typeface="Cambria" pitchFamily="34" charset="-122"/>
                <a:cs typeface="Cambria" pitchFamily="34" charset="-120"/>
              </a:rPr>
              <a:t>Online education assumes a network that doesn't exist here</a:t>
            </a:r>
            <a:endParaRPr lang="en-US" sz="3000" dirty="0"/>
          </a:p>
        </p:txBody>
      </p:sp>
      <p:sp>
        <p:nvSpPr>
          <p:cNvPr id="4" name="Text 2"/>
          <p:cNvSpPr/>
          <p:nvPr/>
        </p:nvSpPr>
        <p:spPr>
          <a:xfrm>
            <a:off x="640080" y="1508760"/>
            <a:ext cx="10881360" cy="868680"/>
          </a:xfrm>
          <a:prstGeom prst="rect">
            <a:avLst/>
          </a:prstGeom>
          <a:noFill/>
          <a:ln/>
        </p:spPr>
        <p:txBody>
          <a:bodyPr wrap="square" lIns="0" tIns="0" rIns="0" bIns="0" rtlCol="0" anchor="ctr"/>
          <a:lstStyle/>
          <a:p>
            <a:pPr marL="0" indent="0">
              <a:lnSpc>
                <a:spcPct val="125000"/>
              </a:lnSpc>
              <a:buNone/>
            </a:pPr>
            <a:endParaRPr lang="en-US" sz="1450" dirty="0"/>
          </a:p>
        </p:txBody>
      </p:sp>
      <p:sp>
        <p:nvSpPr>
          <p:cNvPr id="5" name="Shape 3"/>
          <p:cNvSpPr/>
          <p:nvPr/>
        </p:nvSpPr>
        <p:spPr>
          <a:xfrm>
            <a:off x="640080" y="2606040"/>
            <a:ext cx="2615184" cy="1691640"/>
          </a:xfrm>
          <a:prstGeom prst="roundRect">
            <a:avLst>
              <a:gd name="adj" fmla="val 4324"/>
            </a:avLst>
          </a:prstGeom>
          <a:solidFill>
            <a:srgbClr val="F5F7FA"/>
          </a:solidFill>
          <a:ln/>
          <a:effectLst>
            <a:outerShdw blurRad="127000" dist="38100" dir="5400000" algn="bl" rotWithShape="0">
              <a:srgbClr val="0D2B55">
                <a:alpha val="12000"/>
              </a:srgbClr>
            </a:outerShdw>
          </a:effectLst>
        </p:spPr>
      </p:sp>
      <p:sp>
        <p:nvSpPr>
          <p:cNvPr id="6" name="Shape 4"/>
          <p:cNvSpPr/>
          <p:nvPr/>
        </p:nvSpPr>
        <p:spPr>
          <a:xfrm>
            <a:off x="841248" y="2788920"/>
            <a:ext cx="457200" cy="457200"/>
          </a:xfrm>
          <a:prstGeom prst="ellipse">
            <a:avLst/>
          </a:prstGeom>
          <a:solidFill>
            <a:srgbClr val="FFFFFF"/>
          </a:solidFill>
          <a:ln/>
        </p:spPr>
      </p:sp>
      <p:pic>
        <p:nvPicPr>
          <p:cNvPr id="7" name="Image 0" descr="icons/africa_navy.png"/>
          <p:cNvPicPr>
            <a:picLocks noChangeAspect="1"/>
          </p:cNvPicPr>
          <p:nvPr/>
        </p:nvPicPr>
        <p:blipFill>
          <a:blip r:embed="rId3"/>
          <a:stretch>
            <a:fillRect/>
          </a:stretch>
        </p:blipFill>
        <p:spPr>
          <a:xfrm>
            <a:off x="905256" y="2852928"/>
            <a:ext cx="329184" cy="329184"/>
          </a:xfrm>
          <a:prstGeom prst="rect">
            <a:avLst/>
          </a:prstGeom>
        </p:spPr>
      </p:pic>
      <p:sp>
        <p:nvSpPr>
          <p:cNvPr id="8" name="Text 5"/>
          <p:cNvSpPr/>
          <p:nvPr/>
        </p:nvSpPr>
        <p:spPr>
          <a:xfrm>
            <a:off x="841248" y="3291840"/>
            <a:ext cx="2157984" cy="502920"/>
          </a:xfrm>
          <a:prstGeom prst="rect">
            <a:avLst/>
          </a:prstGeom>
          <a:noFill/>
          <a:ln/>
        </p:spPr>
        <p:txBody>
          <a:bodyPr wrap="square" lIns="0" tIns="0" rIns="0" bIns="0" rtlCol="0" anchor="ctr"/>
          <a:lstStyle/>
          <a:p>
            <a:pPr marL="0" indent="0">
              <a:buNone/>
            </a:pPr>
            <a:r>
              <a:rPr lang="en-US" sz="3200" b="1" dirty="0">
                <a:solidFill>
                  <a:srgbClr val="0D2B55"/>
                </a:solidFill>
                <a:latin typeface="Cambria" pitchFamily="34" charset="0"/>
                <a:ea typeface="Cambria" pitchFamily="34" charset="-122"/>
                <a:cs typeface="Cambria" pitchFamily="34" charset="-120"/>
              </a:rPr>
              <a:t>6</a:t>
            </a:r>
            <a:endParaRPr lang="en-US" sz="3200" dirty="0"/>
          </a:p>
        </p:txBody>
      </p:sp>
      <p:sp>
        <p:nvSpPr>
          <p:cNvPr id="9" name="Text 6"/>
          <p:cNvSpPr/>
          <p:nvPr/>
        </p:nvSpPr>
        <p:spPr>
          <a:xfrm>
            <a:off x="841248" y="3840480"/>
            <a:ext cx="2249424" cy="411480"/>
          </a:xfrm>
          <a:prstGeom prst="rect">
            <a:avLst/>
          </a:prstGeom>
          <a:noFill/>
          <a:ln/>
        </p:spPr>
        <p:txBody>
          <a:bodyPr wrap="square" lIns="0" tIns="0" rIns="0" bIns="0" rtlCol="0" anchor="ctr"/>
          <a:lstStyle/>
          <a:p>
            <a:pPr marL="0" indent="0">
              <a:lnSpc>
                <a:spcPct val="110000"/>
              </a:lnSpc>
              <a:buNone/>
            </a:pPr>
            <a:r>
              <a:rPr lang="en-US" sz="1150" dirty="0">
                <a:solidFill>
                  <a:srgbClr val="5B6B82"/>
                </a:solidFill>
                <a:latin typeface="Calibri" pitchFamily="34" charset="0"/>
                <a:ea typeface="Calibri" pitchFamily="34" charset="-122"/>
                <a:cs typeface="Calibri" pitchFamily="34" charset="-120"/>
              </a:rPr>
              <a:t>existing platforms benchmarked</a:t>
            </a:r>
            <a:endParaRPr lang="en-US" sz="1150" dirty="0"/>
          </a:p>
        </p:txBody>
      </p:sp>
      <p:sp>
        <p:nvSpPr>
          <p:cNvPr id="10" name="Shape 7"/>
          <p:cNvSpPr/>
          <p:nvPr/>
        </p:nvSpPr>
        <p:spPr>
          <a:xfrm>
            <a:off x="3456432" y="2606040"/>
            <a:ext cx="2615184" cy="1691640"/>
          </a:xfrm>
          <a:prstGeom prst="roundRect">
            <a:avLst>
              <a:gd name="adj" fmla="val 4324"/>
            </a:avLst>
          </a:prstGeom>
          <a:solidFill>
            <a:srgbClr val="F5F7FA"/>
          </a:solidFill>
          <a:ln/>
          <a:effectLst>
            <a:outerShdw blurRad="127000" dist="38100" dir="5400000" algn="bl" rotWithShape="0">
              <a:srgbClr val="0D2B55">
                <a:alpha val="12000"/>
              </a:srgbClr>
            </a:outerShdw>
          </a:effectLst>
        </p:spPr>
      </p:sp>
      <p:sp>
        <p:nvSpPr>
          <p:cNvPr id="11" name="Shape 8"/>
          <p:cNvSpPr/>
          <p:nvPr/>
        </p:nvSpPr>
        <p:spPr>
          <a:xfrm>
            <a:off x="3657600" y="2788920"/>
            <a:ext cx="457200" cy="457200"/>
          </a:xfrm>
          <a:prstGeom prst="ellipse">
            <a:avLst/>
          </a:prstGeom>
          <a:solidFill>
            <a:srgbClr val="FFFFFF"/>
          </a:solidFill>
          <a:ln/>
        </p:spPr>
      </p:sp>
      <p:pic>
        <p:nvPicPr>
          <p:cNvPr id="12" name="Image 1" descr="icons/problem_navy.png"/>
          <p:cNvPicPr>
            <a:picLocks noChangeAspect="1"/>
          </p:cNvPicPr>
          <p:nvPr/>
        </p:nvPicPr>
        <p:blipFill>
          <a:blip r:embed="rId4"/>
          <a:stretch>
            <a:fillRect/>
          </a:stretch>
        </p:blipFill>
        <p:spPr>
          <a:xfrm>
            <a:off x="3721608" y="2852928"/>
            <a:ext cx="329184" cy="329184"/>
          </a:xfrm>
          <a:prstGeom prst="rect">
            <a:avLst/>
          </a:prstGeom>
        </p:spPr>
      </p:pic>
      <p:sp>
        <p:nvSpPr>
          <p:cNvPr id="13" name="Text 9"/>
          <p:cNvSpPr/>
          <p:nvPr/>
        </p:nvSpPr>
        <p:spPr>
          <a:xfrm>
            <a:off x="3657600" y="3291840"/>
            <a:ext cx="2157984" cy="502920"/>
          </a:xfrm>
          <a:prstGeom prst="rect">
            <a:avLst/>
          </a:prstGeom>
          <a:noFill/>
          <a:ln/>
        </p:spPr>
        <p:txBody>
          <a:bodyPr wrap="square" lIns="0" tIns="0" rIns="0" bIns="0" rtlCol="0" anchor="ctr"/>
          <a:lstStyle/>
          <a:p>
            <a:pPr marL="0" indent="0">
              <a:buNone/>
            </a:pPr>
            <a:r>
              <a:rPr lang="en-US" sz="3200" b="1" dirty="0">
                <a:solidFill>
                  <a:srgbClr val="0D2B55"/>
                </a:solidFill>
                <a:latin typeface="Cambria" pitchFamily="34" charset="0"/>
                <a:ea typeface="Cambria" pitchFamily="34" charset="-122"/>
                <a:cs typeface="Cambria" pitchFamily="34" charset="-120"/>
              </a:rPr>
              <a:t>0</a:t>
            </a:r>
            <a:endParaRPr lang="en-US" sz="3200" dirty="0"/>
          </a:p>
        </p:txBody>
      </p:sp>
      <p:sp>
        <p:nvSpPr>
          <p:cNvPr id="14" name="Text 10"/>
          <p:cNvSpPr/>
          <p:nvPr/>
        </p:nvSpPr>
        <p:spPr>
          <a:xfrm>
            <a:off x="3657600" y="3840480"/>
            <a:ext cx="2249424" cy="411480"/>
          </a:xfrm>
          <a:prstGeom prst="rect">
            <a:avLst/>
          </a:prstGeom>
          <a:noFill/>
          <a:ln/>
        </p:spPr>
        <p:txBody>
          <a:bodyPr wrap="square" lIns="0" tIns="0" rIns="0" bIns="0" rtlCol="0" anchor="ctr"/>
          <a:lstStyle/>
          <a:p>
            <a:pPr marL="0" indent="0">
              <a:lnSpc>
                <a:spcPct val="110000"/>
              </a:lnSpc>
              <a:buNone/>
            </a:pPr>
            <a:r>
              <a:rPr lang="en-US" sz="1150" dirty="0">
                <a:solidFill>
                  <a:srgbClr val="5B6B82"/>
                </a:solidFill>
                <a:latin typeface="Calibri" pitchFamily="34" charset="0"/>
                <a:ea typeface="Calibri" pitchFamily="34" charset="-122"/>
                <a:cs typeface="Calibri" pitchFamily="34" charset="-120"/>
              </a:rPr>
              <a:t>of them adapt to live network conditions</a:t>
            </a:r>
            <a:endParaRPr lang="en-US" sz="1150" dirty="0"/>
          </a:p>
        </p:txBody>
      </p:sp>
      <p:sp>
        <p:nvSpPr>
          <p:cNvPr id="15" name="Shape 11"/>
          <p:cNvSpPr/>
          <p:nvPr/>
        </p:nvSpPr>
        <p:spPr>
          <a:xfrm>
            <a:off x="6272784" y="2606040"/>
            <a:ext cx="2615184" cy="1691640"/>
          </a:xfrm>
          <a:prstGeom prst="roundRect">
            <a:avLst>
              <a:gd name="adj" fmla="val 4324"/>
            </a:avLst>
          </a:prstGeom>
          <a:solidFill>
            <a:srgbClr val="F5F7FA"/>
          </a:solidFill>
          <a:ln/>
          <a:effectLst>
            <a:outerShdw blurRad="127000" dist="38100" dir="5400000" algn="bl" rotWithShape="0">
              <a:srgbClr val="0D2B55">
                <a:alpha val="12000"/>
              </a:srgbClr>
            </a:outerShdw>
          </a:effectLst>
        </p:spPr>
      </p:sp>
      <p:sp>
        <p:nvSpPr>
          <p:cNvPr id="16" name="Shape 12"/>
          <p:cNvSpPr/>
          <p:nvPr/>
        </p:nvSpPr>
        <p:spPr>
          <a:xfrm>
            <a:off x="6473952" y="2788920"/>
            <a:ext cx="457200" cy="457200"/>
          </a:xfrm>
          <a:prstGeom prst="ellipse">
            <a:avLst/>
          </a:prstGeom>
          <a:solidFill>
            <a:srgbClr val="FFFFFF"/>
          </a:solidFill>
          <a:ln/>
        </p:spPr>
      </p:sp>
      <p:pic>
        <p:nvPicPr>
          <p:cNvPr id="17" name="Image 2" descr="icons/bolt_navy.png"/>
          <p:cNvPicPr>
            <a:picLocks noChangeAspect="1"/>
          </p:cNvPicPr>
          <p:nvPr/>
        </p:nvPicPr>
        <p:blipFill>
          <a:blip r:embed="rId5"/>
          <a:stretch>
            <a:fillRect/>
          </a:stretch>
        </p:blipFill>
        <p:spPr>
          <a:xfrm>
            <a:off x="6537960" y="2852928"/>
            <a:ext cx="329184" cy="329184"/>
          </a:xfrm>
          <a:prstGeom prst="rect">
            <a:avLst/>
          </a:prstGeom>
        </p:spPr>
      </p:pic>
      <p:sp>
        <p:nvSpPr>
          <p:cNvPr id="18" name="Text 13"/>
          <p:cNvSpPr/>
          <p:nvPr/>
        </p:nvSpPr>
        <p:spPr>
          <a:xfrm>
            <a:off x="6473952" y="3291840"/>
            <a:ext cx="2157984" cy="502920"/>
          </a:xfrm>
          <a:prstGeom prst="rect">
            <a:avLst/>
          </a:prstGeom>
          <a:noFill/>
          <a:ln/>
        </p:spPr>
        <p:txBody>
          <a:bodyPr wrap="square" lIns="0" tIns="0" rIns="0" bIns="0" rtlCol="0" anchor="ctr"/>
          <a:lstStyle/>
          <a:p>
            <a:pPr marL="0" indent="0">
              <a:buNone/>
            </a:pPr>
            <a:r>
              <a:rPr lang="en-US" sz="3200" b="1" dirty="0">
                <a:solidFill>
                  <a:srgbClr val="0D2B55"/>
                </a:solidFill>
                <a:latin typeface="Cambria" pitchFamily="34" charset="0"/>
                <a:ea typeface="Cambria" pitchFamily="34" charset="-122"/>
                <a:cs typeface="Cambria" pitchFamily="34" charset="-120"/>
              </a:rPr>
              <a:t>30s</a:t>
            </a:r>
            <a:endParaRPr lang="en-US" sz="3200" dirty="0"/>
          </a:p>
        </p:txBody>
      </p:sp>
      <p:sp>
        <p:nvSpPr>
          <p:cNvPr id="19" name="Text 14"/>
          <p:cNvSpPr/>
          <p:nvPr/>
        </p:nvSpPr>
        <p:spPr>
          <a:xfrm>
            <a:off x="6473952" y="3840480"/>
            <a:ext cx="2249424" cy="411480"/>
          </a:xfrm>
          <a:prstGeom prst="rect">
            <a:avLst/>
          </a:prstGeom>
          <a:noFill/>
          <a:ln/>
        </p:spPr>
        <p:txBody>
          <a:bodyPr wrap="square" lIns="0" tIns="0" rIns="0" bIns="0" rtlCol="0" anchor="ctr"/>
          <a:lstStyle/>
          <a:p>
            <a:pPr marL="0" indent="0">
              <a:lnSpc>
                <a:spcPct val="110000"/>
              </a:lnSpc>
              <a:buNone/>
            </a:pPr>
            <a:r>
              <a:rPr lang="en-US" sz="1150" dirty="0">
                <a:solidFill>
                  <a:srgbClr val="5B6B82"/>
                </a:solidFill>
                <a:latin typeface="Calibri" pitchFamily="34" charset="0"/>
                <a:ea typeface="Calibri" pitchFamily="34" charset="-122"/>
                <a:cs typeface="Calibri" pitchFamily="34" charset="-120"/>
              </a:rPr>
              <a:t>our QoE engine's monitoring interval</a:t>
            </a:r>
            <a:endParaRPr lang="en-US" sz="1150" dirty="0"/>
          </a:p>
        </p:txBody>
      </p:sp>
      <p:sp>
        <p:nvSpPr>
          <p:cNvPr id="20" name="Shape 15"/>
          <p:cNvSpPr/>
          <p:nvPr/>
        </p:nvSpPr>
        <p:spPr>
          <a:xfrm>
            <a:off x="9089136" y="2606040"/>
            <a:ext cx="2615184" cy="1691640"/>
          </a:xfrm>
          <a:prstGeom prst="roundRect">
            <a:avLst>
              <a:gd name="adj" fmla="val 4324"/>
            </a:avLst>
          </a:prstGeom>
          <a:solidFill>
            <a:srgbClr val="F5F7FA"/>
          </a:solidFill>
          <a:ln/>
          <a:effectLst>
            <a:outerShdw blurRad="127000" dist="38100" dir="5400000" algn="bl" rotWithShape="0">
              <a:srgbClr val="0D2B55">
                <a:alpha val="12000"/>
              </a:srgbClr>
            </a:outerShdw>
          </a:effectLst>
        </p:spPr>
      </p:sp>
      <p:sp>
        <p:nvSpPr>
          <p:cNvPr id="21" name="Shape 16"/>
          <p:cNvSpPr/>
          <p:nvPr/>
        </p:nvSpPr>
        <p:spPr>
          <a:xfrm>
            <a:off x="9290304" y="2788920"/>
            <a:ext cx="457200" cy="457200"/>
          </a:xfrm>
          <a:prstGeom prst="ellipse">
            <a:avLst/>
          </a:prstGeom>
          <a:solidFill>
            <a:srgbClr val="FFFFFF"/>
          </a:solidFill>
          <a:ln/>
        </p:spPr>
      </p:sp>
      <p:pic>
        <p:nvPicPr>
          <p:cNvPr id="22" name="Image 3" descr="icons/qoe_navy.png"/>
          <p:cNvPicPr>
            <a:picLocks noChangeAspect="1"/>
          </p:cNvPicPr>
          <p:nvPr/>
        </p:nvPicPr>
        <p:blipFill>
          <a:blip r:embed="rId6"/>
          <a:stretch>
            <a:fillRect/>
          </a:stretch>
        </p:blipFill>
        <p:spPr>
          <a:xfrm>
            <a:off x="9354312" y="2852928"/>
            <a:ext cx="329184" cy="329184"/>
          </a:xfrm>
          <a:prstGeom prst="rect">
            <a:avLst/>
          </a:prstGeom>
        </p:spPr>
      </p:pic>
      <p:sp>
        <p:nvSpPr>
          <p:cNvPr id="23" name="Text 17"/>
          <p:cNvSpPr/>
          <p:nvPr/>
        </p:nvSpPr>
        <p:spPr>
          <a:xfrm>
            <a:off x="9290304" y="3291840"/>
            <a:ext cx="2157984" cy="502920"/>
          </a:xfrm>
          <a:prstGeom prst="rect">
            <a:avLst/>
          </a:prstGeom>
          <a:noFill/>
          <a:ln/>
        </p:spPr>
        <p:txBody>
          <a:bodyPr wrap="square" lIns="0" tIns="0" rIns="0" bIns="0" rtlCol="0" anchor="ctr"/>
          <a:lstStyle/>
          <a:p>
            <a:pPr marL="0" indent="0">
              <a:buNone/>
            </a:pPr>
            <a:r>
              <a:rPr lang="en-US" sz="3200" b="1" dirty="0">
                <a:solidFill>
                  <a:srgbClr val="0D2B55"/>
                </a:solidFill>
                <a:latin typeface="Cambria" pitchFamily="34" charset="0"/>
                <a:ea typeface="Cambria" pitchFamily="34" charset="-122"/>
                <a:cs typeface="Cambria" pitchFamily="34" charset="-120"/>
              </a:rPr>
              <a:t>4</a:t>
            </a:r>
            <a:endParaRPr lang="en-US" sz="3200" dirty="0"/>
          </a:p>
        </p:txBody>
      </p:sp>
      <p:sp>
        <p:nvSpPr>
          <p:cNvPr id="24" name="Text 18"/>
          <p:cNvSpPr/>
          <p:nvPr/>
        </p:nvSpPr>
        <p:spPr>
          <a:xfrm>
            <a:off x="9290304" y="3840480"/>
            <a:ext cx="2249424" cy="411480"/>
          </a:xfrm>
          <a:prstGeom prst="rect">
            <a:avLst/>
          </a:prstGeom>
          <a:noFill/>
          <a:ln/>
        </p:spPr>
        <p:txBody>
          <a:bodyPr wrap="square" lIns="0" tIns="0" rIns="0" bIns="0" rtlCol="0" anchor="ctr"/>
          <a:lstStyle/>
          <a:p>
            <a:pPr marL="0" indent="0">
              <a:lnSpc>
                <a:spcPct val="110000"/>
              </a:lnSpc>
              <a:buNone/>
            </a:pPr>
            <a:r>
              <a:rPr lang="en-US" sz="1150" dirty="0">
                <a:solidFill>
                  <a:srgbClr val="5B6B82"/>
                </a:solidFill>
                <a:latin typeface="Calibri" pitchFamily="34" charset="0"/>
                <a:ea typeface="Calibri" pitchFamily="34" charset="-122"/>
                <a:cs typeface="Calibri" pitchFamily="34" charset="-120"/>
              </a:rPr>
              <a:t>delivery modes: HD, SD, Audio, Text</a:t>
            </a:r>
            <a:endParaRPr lang="en-US" sz="1150" dirty="0"/>
          </a:p>
        </p:txBody>
      </p:sp>
      <p:sp>
        <p:nvSpPr>
          <p:cNvPr id="25" name="Shape 19"/>
          <p:cNvSpPr/>
          <p:nvPr/>
        </p:nvSpPr>
        <p:spPr>
          <a:xfrm>
            <a:off x="640080" y="4617720"/>
            <a:ext cx="10881360" cy="1417320"/>
          </a:xfrm>
          <a:prstGeom prst="roundRect">
            <a:avLst>
              <a:gd name="adj" fmla="val 5161"/>
            </a:avLst>
          </a:prstGeom>
          <a:solidFill>
            <a:srgbClr val="0D2B55"/>
          </a:solidFill>
          <a:ln/>
        </p:spPr>
      </p:sp>
      <p:sp>
        <p:nvSpPr>
          <p:cNvPr id="26" name="Text 20"/>
          <p:cNvSpPr/>
          <p:nvPr/>
        </p:nvSpPr>
        <p:spPr>
          <a:xfrm>
            <a:off x="960120" y="4800600"/>
            <a:ext cx="10241280" cy="1051560"/>
          </a:xfrm>
          <a:prstGeom prst="rect">
            <a:avLst/>
          </a:prstGeom>
          <a:noFill/>
          <a:ln/>
        </p:spPr>
        <p:txBody>
          <a:bodyPr wrap="square" lIns="0" tIns="0" rIns="0" bIns="0" rtlCol="0" anchor="ctr"/>
          <a:lstStyle/>
          <a:p>
            <a:pPr marL="0" indent="0">
              <a:lnSpc>
                <a:spcPct val="125000"/>
              </a:lnSpc>
              <a:buNone/>
            </a:pPr>
            <a:r>
              <a:rPr lang="en-US" sz="1700" i="1" dirty="0">
                <a:solidFill>
                  <a:srgbClr val="FFFFFF"/>
                </a:solidFill>
                <a:latin typeface="Cambria" pitchFamily="34" charset="0"/>
                <a:ea typeface="Cambria" pitchFamily="34" charset="-122"/>
                <a:cs typeface="Cambria" pitchFamily="34" charset="-120"/>
              </a:rPr>
              <a:t>The real barrier isn't a lack of learning platforms - it's that none of them treat unstable connectivity as the default condition to design for, rather than an edge case to tolerate.</a:t>
            </a:r>
            <a:endParaRPr lang="en-US" sz="1700" dirty="0"/>
          </a:p>
        </p:txBody>
      </p:sp>
      <p:sp>
        <p:nvSpPr>
          <p:cNvPr id="27" name="Text 21"/>
          <p:cNvSpPr/>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02</a:t>
            </a:r>
            <a:endParaRPr lang="en-US" sz="1000" dirty="0"/>
          </a:p>
        </p:txBody>
      </p:sp>
      <p:sp>
        <p:nvSpPr>
          <p:cNvPr id="29" name="TextBox 28">
            <a:extLst>
              <a:ext uri="{FF2B5EF4-FFF2-40B4-BE49-F238E27FC236}">
                <a16:creationId xmlns:a16="http://schemas.microsoft.com/office/drawing/2014/main" id="{75D87886-A8C2-B703-F230-08B4AE32C2D5}"/>
              </a:ext>
            </a:extLst>
          </p:cNvPr>
          <p:cNvSpPr txBox="1"/>
          <p:nvPr/>
        </p:nvSpPr>
        <p:spPr>
          <a:xfrm>
            <a:off x="604494" y="1344168"/>
            <a:ext cx="10746258" cy="954107"/>
          </a:xfrm>
          <a:prstGeom prst="rect">
            <a:avLst/>
          </a:prstGeom>
          <a:noFill/>
        </p:spPr>
        <p:txBody>
          <a:bodyPr wrap="square">
            <a:spAutoFit/>
          </a:bodyPr>
          <a:lstStyle/>
          <a:p>
            <a:r>
              <a:rPr lang="en-CM" sz="1400" dirty="0">
                <a:effectLst/>
                <a:latin typeface="Times New Roman" panose="02020603050405020304" pitchFamily="18" charset="0"/>
                <a:ea typeface="Calibri" panose="020F0502020204030204" pitchFamily="34" charset="0"/>
              </a:rPr>
              <a:t>The rapid growth of online learning has expanded access to education, but most e-learning platforms rely on stable internet connectivity and modern devices, which are often unavailable in developing countries such as Cameroon. Students frequently experience buffering, poor audio quality, interrupted live sessions, and disconnections due to unstable networks, while existing platforms rarely consider learners' Quality of Experience (</a:t>
            </a:r>
            <a:r>
              <a:rPr lang="en-CM" sz="1400" dirty="0" err="1">
                <a:effectLst/>
                <a:latin typeface="Times New Roman" panose="02020603050405020304" pitchFamily="18" charset="0"/>
                <a:ea typeface="Calibri" panose="020F0502020204030204" pitchFamily="34" charset="0"/>
              </a:rPr>
              <a:t>QoE</a:t>
            </a:r>
            <a:r>
              <a:rPr lang="en-CM" sz="1400" dirty="0">
                <a:effectLst/>
                <a:latin typeface="Times New Roman" panose="02020603050405020304" pitchFamily="18" charset="0"/>
                <a:ea typeface="Calibri" panose="020F0502020204030204" pitchFamily="34" charset="0"/>
              </a:rPr>
              <a:t>) or adapt to changing network conditions.</a:t>
            </a:r>
            <a:endParaRPr lang="en-CM"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marL="0" indent="0">
              <a:buNone/>
            </a:pPr>
            <a:r>
              <a:rPr lang="en-US" sz="1200" b="1" kern="0" spc="200" dirty="0">
                <a:solidFill>
                  <a:srgbClr val="1E88E5"/>
                </a:solidFill>
                <a:latin typeface="Calibri" pitchFamily="34" charset="0"/>
                <a:ea typeface="Calibri" pitchFamily="34" charset="-122"/>
                <a:cs typeface="Calibri" pitchFamily="34" charset="-120"/>
              </a:rPr>
              <a:t>THE SOLUTION</a:t>
            </a:r>
            <a:endParaRPr lang="en-US" sz="1200" dirty="0"/>
          </a:p>
        </p:txBody>
      </p:sp>
      <p:sp>
        <p:nvSpPr>
          <p:cNvPr id="3" name="Text 1"/>
          <p:cNvSpPr/>
          <p:nvPr/>
        </p:nvSpPr>
        <p:spPr>
          <a:xfrm>
            <a:off x="640080" y="658368"/>
            <a:ext cx="10607040" cy="685800"/>
          </a:xfrm>
          <a:prstGeom prst="rect">
            <a:avLst/>
          </a:prstGeom>
          <a:noFill/>
          <a:ln/>
        </p:spPr>
        <p:txBody>
          <a:bodyPr wrap="square" lIns="0" tIns="0" rIns="0" bIns="0" rtlCol="0" anchor="ctr"/>
          <a:lstStyle/>
          <a:p>
            <a:pPr marL="0" indent="0">
              <a:buNone/>
            </a:pPr>
            <a:r>
              <a:rPr lang="en-US" sz="3000" b="1" dirty="0">
                <a:solidFill>
                  <a:srgbClr val="0D2B55"/>
                </a:solidFill>
                <a:latin typeface="Cambria" pitchFamily="34" charset="0"/>
                <a:ea typeface="Cambria" pitchFamily="34" charset="-122"/>
                <a:cs typeface="Cambria" pitchFamily="34" charset="-120"/>
              </a:rPr>
              <a:t>EduStream: one platform, built network-first</a:t>
            </a:r>
            <a:endParaRPr lang="en-US" sz="3000" dirty="0"/>
          </a:p>
        </p:txBody>
      </p:sp>
      <p:sp>
        <p:nvSpPr>
          <p:cNvPr id="4" name="Text 2"/>
          <p:cNvSpPr/>
          <p:nvPr/>
        </p:nvSpPr>
        <p:spPr>
          <a:xfrm>
            <a:off x="640080" y="1481328"/>
            <a:ext cx="6400800" cy="1005840"/>
          </a:xfrm>
          <a:prstGeom prst="rect">
            <a:avLst/>
          </a:prstGeom>
          <a:noFill/>
          <a:ln/>
        </p:spPr>
        <p:txBody>
          <a:bodyPr wrap="square" lIns="0" tIns="0" rIns="0" bIns="0" rtlCol="0" anchor="ctr"/>
          <a:lstStyle/>
          <a:p>
            <a:pPr marL="0" indent="0">
              <a:lnSpc>
                <a:spcPct val="125000"/>
              </a:lnSpc>
              <a:buNone/>
            </a:pPr>
            <a:r>
              <a:rPr lang="en-US" sz="1450" dirty="0">
                <a:solidFill>
                  <a:srgbClr val="1A1A1A"/>
                </a:solidFill>
                <a:latin typeface="Calibri" pitchFamily="34" charset="0"/>
                <a:ea typeface="Calibri" pitchFamily="34" charset="-122"/>
                <a:cs typeface="Calibri" pitchFamily="34" charset="-120"/>
              </a:rPr>
              <a:t>EduStream is a cross-platform mobile e-learning app that continuously reads live network conditions and adapts what it delivers - so learning continues through poor connectivity instead of stopping for it.</a:t>
            </a:r>
            <a:endParaRPr lang="en-US" sz="1450" dirty="0"/>
          </a:p>
        </p:txBody>
      </p:sp>
      <p:sp>
        <p:nvSpPr>
          <p:cNvPr id="5" name="Shape 3"/>
          <p:cNvSpPr/>
          <p:nvPr/>
        </p:nvSpPr>
        <p:spPr>
          <a:xfrm>
            <a:off x="640080" y="2651760"/>
            <a:ext cx="146304" cy="146304"/>
          </a:xfrm>
          <a:prstGeom prst="ellipse">
            <a:avLst/>
          </a:prstGeom>
          <a:solidFill>
            <a:srgbClr val="1E88E5"/>
          </a:solidFill>
          <a:ln/>
        </p:spPr>
      </p:sp>
      <p:sp>
        <p:nvSpPr>
          <p:cNvPr id="6" name="Text 4"/>
          <p:cNvSpPr/>
          <p:nvPr/>
        </p:nvSpPr>
        <p:spPr>
          <a:xfrm>
            <a:off x="914400" y="2532888"/>
            <a:ext cx="6035040" cy="292608"/>
          </a:xfrm>
          <a:prstGeom prst="rect">
            <a:avLst/>
          </a:prstGeom>
          <a:noFill/>
          <a:ln/>
        </p:spPr>
        <p:txBody>
          <a:bodyPr wrap="square" lIns="0" tIns="0" rIns="0" bIns="0" rtlCol="0" anchor="ctr"/>
          <a:lstStyle/>
          <a:p>
            <a:pPr marL="0" indent="0">
              <a:buNone/>
            </a:pPr>
            <a:r>
              <a:rPr lang="en-US" sz="1350" b="1" dirty="0">
                <a:solidFill>
                  <a:srgbClr val="0D2B55"/>
                </a:solidFill>
                <a:latin typeface="Calibri" pitchFamily="34" charset="0"/>
                <a:ea typeface="Calibri" pitchFamily="34" charset="-122"/>
                <a:cs typeface="Calibri" pitchFamily="34" charset="-120"/>
              </a:rPr>
              <a:t>Cross-platform mobile app</a:t>
            </a:r>
            <a:endParaRPr lang="en-US" sz="1350" dirty="0"/>
          </a:p>
        </p:txBody>
      </p:sp>
      <p:sp>
        <p:nvSpPr>
          <p:cNvPr id="7" name="Text 5"/>
          <p:cNvSpPr/>
          <p:nvPr/>
        </p:nvSpPr>
        <p:spPr>
          <a:xfrm>
            <a:off x="914400" y="2825496"/>
            <a:ext cx="6126480" cy="365760"/>
          </a:xfrm>
          <a:prstGeom prst="rect">
            <a:avLst/>
          </a:prstGeom>
          <a:noFill/>
          <a:ln/>
        </p:spPr>
        <p:txBody>
          <a:bodyPr wrap="square" lIns="0" tIns="0" rIns="0" bIns="0" rtlCol="0" anchor="ctr"/>
          <a:lstStyle/>
          <a:p>
            <a:pPr marL="0" indent="0">
              <a:buNone/>
            </a:pPr>
            <a:r>
              <a:rPr lang="en-US" sz="1150" dirty="0">
                <a:solidFill>
                  <a:srgbClr val="5B6B82"/>
                </a:solidFill>
                <a:latin typeface="Calibri" pitchFamily="34" charset="0"/>
                <a:ea typeface="Calibri" pitchFamily="34" charset="-122"/>
                <a:cs typeface="Calibri" pitchFamily="34" charset="-120"/>
              </a:rPr>
              <a:t>React Native + Expo - one codebase, Android and iOS</a:t>
            </a:r>
            <a:endParaRPr lang="en-US" sz="1150" dirty="0"/>
          </a:p>
        </p:txBody>
      </p:sp>
      <p:sp>
        <p:nvSpPr>
          <p:cNvPr id="8" name="Shape 6"/>
          <p:cNvSpPr/>
          <p:nvPr/>
        </p:nvSpPr>
        <p:spPr>
          <a:xfrm>
            <a:off x="640080" y="3364992"/>
            <a:ext cx="146304" cy="146304"/>
          </a:xfrm>
          <a:prstGeom prst="ellipse">
            <a:avLst/>
          </a:prstGeom>
          <a:solidFill>
            <a:srgbClr val="1E88E5"/>
          </a:solidFill>
          <a:ln/>
        </p:spPr>
      </p:sp>
      <p:sp>
        <p:nvSpPr>
          <p:cNvPr id="9" name="Text 7"/>
          <p:cNvSpPr/>
          <p:nvPr/>
        </p:nvSpPr>
        <p:spPr>
          <a:xfrm>
            <a:off x="914400" y="3246120"/>
            <a:ext cx="6035040" cy="292608"/>
          </a:xfrm>
          <a:prstGeom prst="rect">
            <a:avLst/>
          </a:prstGeom>
          <a:noFill/>
          <a:ln/>
        </p:spPr>
        <p:txBody>
          <a:bodyPr wrap="square" lIns="0" tIns="0" rIns="0" bIns="0" rtlCol="0" anchor="ctr"/>
          <a:lstStyle/>
          <a:p>
            <a:pPr marL="0" indent="0">
              <a:buNone/>
            </a:pPr>
            <a:r>
              <a:rPr lang="en-US" sz="1350" b="1" dirty="0">
                <a:solidFill>
                  <a:srgbClr val="0D2B55"/>
                </a:solidFill>
                <a:latin typeface="Calibri" pitchFamily="34" charset="0"/>
                <a:ea typeface="Calibri" pitchFamily="34" charset="-122"/>
                <a:cs typeface="Calibri" pitchFamily="34" charset="-120"/>
              </a:rPr>
              <a:t>Unified backend-as-a-service</a:t>
            </a:r>
            <a:endParaRPr lang="en-US" sz="1350" dirty="0"/>
          </a:p>
        </p:txBody>
      </p:sp>
      <p:sp>
        <p:nvSpPr>
          <p:cNvPr id="10" name="Text 8"/>
          <p:cNvSpPr/>
          <p:nvPr/>
        </p:nvSpPr>
        <p:spPr>
          <a:xfrm>
            <a:off x="914400" y="3538728"/>
            <a:ext cx="6126480" cy="365760"/>
          </a:xfrm>
          <a:prstGeom prst="rect">
            <a:avLst/>
          </a:prstGeom>
          <a:noFill/>
          <a:ln/>
        </p:spPr>
        <p:txBody>
          <a:bodyPr wrap="square" lIns="0" tIns="0" rIns="0" bIns="0" rtlCol="0" anchor="ctr"/>
          <a:lstStyle/>
          <a:p>
            <a:pPr marL="0" indent="0">
              <a:buNone/>
            </a:pPr>
            <a:r>
              <a:rPr lang="en-US" sz="1150" dirty="0">
                <a:solidFill>
                  <a:srgbClr val="5B6B82"/>
                </a:solidFill>
                <a:latin typeface="Calibri" pitchFamily="34" charset="0"/>
                <a:ea typeface="Calibri" pitchFamily="34" charset="-122"/>
                <a:cs typeface="Calibri" pitchFamily="34" charset="-120"/>
              </a:rPr>
              <a:t>Supabase: authentication, PostgreSQL, storage, realtime - no fragile custom server</a:t>
            </a:r>
            <a:endParaRPr lang="en-US" sz="1150" dirty="0"/>
          </a:p>
        </p:txBody>
      </p:sp>
      <p:sp>
        <p:nvSpPr>
          <p:cNvPr id="11" name="Shape 9"/>
          <p:cNvSpPr/>
          <p:nvPr/>
        </p:nvSpPr>
        <p:spPr>
          <a:xfrm>
            <a:off x="640080" y="4078224"/>
            <a:ext cx="146304" cy="146304"/>
          </a:xfrm>
          <a:prstGeom prst="ellipse">
            <a:avLst/>
          </a:prstGeom>
          <a:solidFill>
            <a:srgbClr val="1E88E5"/>
          </a:solidFill>
          <a:ln/>
        </p:spPr>
      </p:sp>
      <p:sp>
        <p:nvSpPr>
          <p:cNvPr id="12" name="Text 10"/>
          <p:cNvSpPr/>
          <p:nvPr/>
        </p:nvSpPr>
        <p:spPr>
          <a:xfrm>
            <a:off x="914400" y="3959352"/>
            <a:ext cx="6035040" cy="292608"/>
          </a:xfrm>
          <a:prstGeom prst="rect">
            <a:avLst/>
          </a:prstGeom>
          <a:noFill/>
          <a:ln/>
        </p:spPr>
        <p:txBody>
          <a:bodyPr wrap="square" lIns="0" tIns="0" rIns="0" bIns="0" rtlCol="0" anchor="ctr"/>
          <a:lstStyle/>
          <a:p>
            <a:pPr marL="0" indent="0">
              <a:buNone/>
            </a:pPr>
            <a:r>
              <a:rPr lang="en-US" sz="1350" b="1" dirty="0">
                <a:solidFill>
                  <a:srgbClr val="0D2B55"/>
                </a:solidFill>
                <a:latin typeface="Calibri" pitchFamily="34" charset="0"/>
                <a:ea typeface="Calibri" pitchFamily="34" charset="-122"/>
                <a:cs typeface="Calibri" pitchFamily="34" charset="-120"/>
              </a:rPr>
              <a:t>Adaptive QoE engine</a:t>
            </a:r>
            <a:endParaRPr lang="en-US" sz="1350" dirty="0"/>
          </a:p>
        </p:txBody>
      </p:sp>
      <p:sp>
        <p:nvSpPr>
          <p:cNvPr id="13" name="Text 11"/>
          <p:cNvSpPr/>
          <p:nvPr/>
        </p:nvSpPr>
        <p:spPr>
          <a:xfrm>
            <a:off x="914400" y="4251960"/>
            <a:ext cx="6126480" cy="365760"/>
          </a:xfrm>
          <a:prstGeom prst="rect">
            <a:avLst/>
          </a:prstGeom>
          <a:noFill/>
          <a:ln/>
        </p:spPr>
        <p:txBody>
          <a:bodyPr wrap="square" lIns="0" tIns="0" rIns="0" bIns="0" rtlCol="0" anchor="ctr"/>
          <a:lstStyle/>
          <a:p>
            <a:pPr marL="0" indent="0">
              <a:buNone/>
            </a:pPr>
            <a:r>
              <a:rPr lang="en-US" sz="1150" dirty="0">
                <a:solidFill>
                  <a:srgbClr val="5B6B82"/>
                </a:solidFill>
                <a:latin typeface="Calibri" pitchFamily="34" charset="0"/>
                <a:ea typeface="Calibri" pitchFamily="34" charset="-122"/>
                <a:cs typeface="Calibri" pitchFamily="34" charset="-120"/>
              </a:rPr>
              <a:t>Samples bandwidth, latency &amp; packet loss every 30s, selects HD / SD / Audio-only / Text</a:t>
            </a:r>
            <a:endParaRPr lang="en-US" sz="1150" dirty="0"/>
          </a:p>
        </p:txBody>
      </p:sp>
      <p:sp>
        <p:nvSpPr>
          <p:cNvPr id="14" name="Shape 12"/>
          <p:cNvSpPr/>
          <p:nvPr/>
        </p:nvSpPr>
        <p:spPr>
          <a:xfrm>
            <a:off x="640080" y="4791456"/>
            <a:ext cx="146304" cy="146304"/>
          </a:xfrm>
          <a:prstGeom prst="ellipse">
            <a:avLst/>
          </a:prstGeom>
          <a:solidFill>
            <a:srgbClr val="1E88E5"/>
          </a:solidFill>
          <a:ln/>
        </p:spPr>
      </p:sp>
      <p:sp>
        <p:nvSpPr>
          <p:cNvPr id="15" name="Text 13"/>
          <p:cNvSpPr/>
          <p:nvPr/>
        </p:nvSpPr>
        <p:spPr>
          <a:xfrm>
            <a:off x="914400" y="4672584"/>
            <a:ext cx="6035040" cy="292608"/>
          </a:xfrm>
          <a:prstGeom prst="rect">
            <a:avLst/>
          </a:prstGeom>
          <a:noFill/>
          <a:ln/>
        </p:spPr>
        <p:txBody>
          <a:bodyPr wrap="square" lIns="0" tIns="0" rIns="0" bIns="0" rtlCol="0" anchor="ctr"/>
          <a:lstStyle/>
          <a:p>
            <a:pPr marL="0" indent="0">
              <a:buNone/>
            </a:pPr>
            <a:r>
              <a:rPr lang="en-US" sz="1350" b="1" dirty="0">
                <a:solidFill>
                  <a:srgbClr val="0D2B55"/>
                </a:solidFill>
                <a:latin typeface="Calibri" pitchFamily="34" charset="0"/>
                <a:ea typeface="Calibri" pitchFamily="34" charset="-122"/>
                <a:cs typeface="Calibri" pitchFamily="34" charset="-120"/>
              </a:rPr>
              <a:t>Role-based dashboards</a:t>
            </a:r>
            <a:endParaRPr lang="en-US" sz="1350" dirty="0"/>
          </a:p>
        </p:txBody>
      </p:sp>
      <p:sp>
        <p:nvSpPr>
          <p:cNvPr id="16" name="Text 14"/>
          <p:cNvSpPr/>
          <p:nvPr/>
        </p:nvSpPr>
        <p:spPr>
          <a:xfrm>
            <a:off x="914400" y="4965192"/>
            <a:ext cx="6126480" cy="365760"/>
          </a:xfrm>
          <a:prstGeom prst="rect">
            <a:avLst/>
          </a:prstGeom>
          <a:noFill/>
          <a:ln/>
        </p:spPr>
        <p:txBody>
          <a:bodyPr wrap="square" lIns="0" tIns="0" rIns="0" bIns="0" rtlCol="0" anchor="ctr"/>
          <a:lstStyle/>
          <a:p>
            <a:pPr marL="0" indent="0">
              <a:buNone/>
            </a:pPr>
            <a:r>
              <a:rPr lang="en-US" sz="1150" dirty="0">
                <a:solidFill>
                  <a:srgbClr val="5B6B82"/>
                </a:solidFill>
                <a:latin typeface="Calibri" pitchFamily="34" charset="0"/>
                <a:ea typeface="Calibri" pitchFamily="34" charset="-122"/>
                <a:cs typeface="Calibri" pitchFamily="34" charset="-120"/>
              </a:rPr>
              <a:t>Purpose-built views for students, instructors and administrators</a:t>
            </a:r>
            <a:endParaRPr lang="en-US" sz="1150" dirty="0"/>
          </a:p>
        </p:txBody>
      </p:sp>
      <p:sp>
        <p:nvSpPr>
          <p:cNvPr id="17" name="Shape 15"/>
          <p:cNvSpPr/>
          <p:nvPr/>
        </p:nvSpPr>
        <p:spPr>
          <a:xfrm>
            <a:off x="7360920" y="1463040"/>
            <a:ext cx="4160520" cy="4709160"/>
          </a:xfrm>
          <a:prstGeom prst="roundRect">
            <a:avLst>
              <a:gd name="adj" fmla="val 2198"/>
            </a:avLst>
          </a:prstGeom>
          <a:solidFill>
            <a:srgbClr val="0D2B55"/>
          </a:solidFill>
          <a:ln/>
          <a:effectLst>
            <a:outerShdw blurRad="127000" dist="38100" dir="5400000" algn="bl" rotWithShape="0">
              <a:srgbClr val="0D2B55">
                <a:alpha val="12000"/>
              </a:srgbClr>
            </a:outerShdw>
          </a:effectLst>
        </p:spPr>
      </p:sp>
      <p:sp>
        <p:nvSpPr>
          <p:cNvPr id="18" name="Text 16"/>
          <p:cNvSpPr/>
          <p:nvPr/>
        </p:nvSpPr>
        <p:spPr>
          <a:xfrm>
            <a:off x="7680960" y="1691640"/>
            <a:ext cx="3566160" cy="274320"/>
          </a:xfrm>
          <a:prstGeom prst="rect">
            <a:avLst/>
          </a:prstGeom>
          <a:noFill/>
          <a:ln/>
        </p:spPr>
        <p:txBody>
          <a:bodyPr wrap="square" lIns="0" tIns="0" rIns="0" bIns="0" rtlCol="0" anchor="ctr"/>
          <a:lstStyle/>
          <a:p>
            <a:pPr marL="0" indent="0">
              <a:buNone/>
            </a:pPr>
            <a:r>
              <a:rPr lang="en-US" sz="1150" b="1" kern="0" spc="150" dirty="0">
                <a:solidFill>
                  <a:srgbClr val="26C6DA"/>
                </a:solidFill>
                <a:latin typeface="Calibri" pitchFamily="34" charset="0"/>
                <a:ea typeface="Calibri" pitchFamily="34" charset="-122"/>
                <a:cs typeface="Calibri" pitchFamily="34" charset="-120"/>
              </a:rPr>
              <a:t>HOW ADAPTATION WORKS</a:t>
            </a:r>
            <a:endParaRPr lang="en-US" sz="1150" dirty="0"/>
          </a:p>
        </p:txBody>
      </p:sp>
      <p:sp>
        <p:nvSpPr>
          <p:cNvPr id="19" name="Shape 17"/>
          <p:cNvSpPr/>
          <p:nvPr/>
        </p:nvSpPr>
        <p:spPr>
          <a:xfrm>
            <a:off x="7680960" y="2148840"/>
            <a:ext cx="365760" cy="365760"/>
          </a:xfrm>
          <a:prstGeom prst="ellipse">
            <a:avLst/>
          </a:prstGeom>
          <a:solidFill>
            <a:srgbClr val="1E88E5"/>
          </a:solidFill>
          <a:ln/>
        </p:spPr>
      </p:sp>
      <p:sp>
        <p:nvSpPr>
          <p:cNvPr id="20" name="Text 18"/>
          <p:cNvSpPr/>
          <p:nvPr/>
        </p:nvSpPr>
        <p:spPr>
          <a:xfrm>
            <a:off x="7680960" y="214884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1" name="Text 19"/>
          <p:cNvSpPr/>
          <p:nvPr/>
        </p:nvSpPr>
        <p:spPr>
          <a:xfrm>
            <a:off x="8183880" y="2167128"/>
            <a:ext cx="3154680" cy="502920"/>
          </a:xfrm>
          <a:prstGeom prst="rect">
            <a:avLst/>
          </a:prstGeom>
          <a:noFill/>
          <a:ln/>
        </p:spPr>
        <p:txBody>
          <a:bodyPr wrap="square" lIns="0" tIns="0" rIns="0" bIns="0" rtlCol="0" anchor="ctr"/>
          <a:lstStyle/>
          <a:p>
            <a:pPr marL="0" indent="0">
              <a:lnSpc>
                <a:spcPct val="110000"/>
              </a:lnSpc>
              <a:buNone/>
            </a:pPr>
            <a:r>
              <a:rPr lang="en-US" sz="1150" dirty="0">
                <a:solidFill>
                  <a:srgbClr val="FFFFFF"/>
                </a:solidFill>
                <a:latin typeface="Calibri" pitchFamily="34" charset="0"/>
                <a:ea typeface="Calibri" pitchFamily="34" charset="-122"/>
                <a:cs typeface="Calibri" pitchFamily="34" charset="-120"/>
              </a:rPr>
              <a:t>Student opens a lesson</a:t>
            </a:r>
            <a:endParaRPr lang="en-US" sz="1150" dirty="0"/>
          </a:p>
        </p:txBody>
      </p:sp>
      <p:sp>
        <p:nvSpPr>
          <p:cNvPr id="22" name="Shape 20"/>
          <p:cNvSpPr/>
          <p:nvPr/>
        </p:nvSpPr>
        <p:spPr>
          <a:xfrm>
            <a:off x="7680960" y="2807208"/>
            <a:ext cx="365760" cy="365760"/>
          </a:xfrm>
          <a:prstGeom prst="ellipse">
            <a:avLst/>
          </a:prstGeom>
          <a:solidFill>
            <a:srgbClr val="1E88E5"/>
          </a:solidFill>
          <a:ln/>
        </p:spPr>
      </p:sp>
      <p:sp>
        <p:nvSpPr>
          <p:cNvPr id="23" name="Text 21"/>
          <p:cNvSpPr/>
          <p:nvPr/>
        </p:nvSpPr>
        <p:spPr>
          <a:xfrm>
            <a:off x="7680960" y="280720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4" name="Text 22"/>
          <p:cNvSpPr/>
          <p:nvPr/>
        </p:nvSpPr>
        <p:spPr>
          <a:xfrm>
            <a:off x="8183880" y="2825496"/>
            <a:ext cx="3154680" cy="502920"/>
          </a:xfrm>
          <a:prstGeom prst="rect">
            <a:avLst/>
          </a:prstGeom>
          <a:noFill/>
          <a:ln/>
        </p:spPr>
        <p:txBody>
          <a:bodyPr wrap="square" lIns="0" tIns="0" rIns="0" bIns="0" rtlCol="0" anchor="ctr"/>
          <a:lstStyle/>
          <a:p>
            <a:pPr marL="0" indent="0">
              <a:lnSpc>
                <a:spcPct val="110000"/>
              </a:lnSpc>
              <a:buNone/>
            </a:pPr>
            <a:r>
              <a:rPr lang="en-US" sz="1150" dirty="0">
                <a:solidFill>
                  <a:srgbClr val="FFFFFF"/>
                </a:solidFill>
                <a:latin typeface="Calibri" pitchFamily="34" charset="0"/>
                <a:ea typeface="Calibri" pitchFamily="34" charset="-122"/>
                <a:cs typeface="Calibri" pitchFamily="34" charset="-120"/>
              </a:rPr>
              <a:t>Engine samples bandwidth, latency, packet loss</a:t>
            </a:r>
            <a:endParaRPr lang="en-US" sz="1150" dirty="0"/>
          </a:p>
        </p:txBody>
      </p:sp>
      <p:sp>
        <p:nvSpPr>
          <p:cNvPr id="25" name="Shape 23"/>
          <p:cNvSpPr/>
          <p:nvPr/>
        </p:nvSpPr>
        <p:spPr>
          <a:xfrm>
            <a:off x="7680960" y="3465576"/>
            <a:ext cx="365760" cy="365760"/>
          </a:xfrm>
          <a:prstGeom prst="ellipse">
            <a:avLst/>
          </a:prstGeom>
          <a:solidFill>
            <a:srgbClr val="1E88E5"/>
          </a:solidFill>
          <a:ln/>
        </p:spPr>
      </p:sp>
      <p:sp>
        <p:nvSpPr>
          <p:cNvPr id="26" name="Text 24"/>
          <p:cNvSpPr/>
          <p:nvPr/>
        </p:nvSpPr>
        <p:spPr>
          <a:xfrm>
            <a:off x="7680960" y="346557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7" name="Text 25"/>
          <p:cNvSpPr/>
          <p:nvPr/>
        </p:nvSpPr>
        <p:spPr>
          <a:xfrm>
            <a:off x="8183880" y="3483864"/>
            <a:ext cx="3154680" cy="502920"/>
          </a:xfrm>
          <a:prstGeom prst="rect">
            <a:avLst/>
          </a:prstGeom>
          <a:noFill/>
          <a:ln/>
        </p:spPr>
        <p:txBody>
          <a:bodyPr wrap="square" lIns="0" tIns="0" rIns="0" bIns="0" rtlCol="0" anchor="ctr"/>
          <a:lstStyle/>
          <a:p>
            <a:pPr marL="0" indent="0">
              <a:lnSpc>
                <a:spcPct val="110000"/>
              </a:lnSpc>
              <a:buNone/>
            </a:pPr>
            <a:r>
              <a:rPr lang="en-US" sz="1150" dirty="0">
                <a:solidFill>
                  <a:srgbClr val="FFFFFF"/>
                </a:solidFill>
                <a:latin typeface="Calibri" pitchFamily="34" charset="0"/>
                <a:ea typeface="Calibri" pitchFamily="34" charset="-122"/>
                <a:cs typeface="Calibri" pitchFamily="34" charset="-120"/>
              </a:rPr>
              <a:t>Best-fit mode selected: HD / SD / Audio / Text</a:t>
            </a:r>
            <a:endParaRPr lang="en-US" sz="1150" dirty="0"/>
          </a:p>
        </p:txBody>
      </p:sp>
      <p:sp>
        <p:nvSpPr>
          <p:cNvPr id="28" name="Shape 26"/>
          <p:cNvSpPr/>
          <p:nvPr/>
        </p:nvSpPr>
        <p:spPr>
          <a:xfrm>
            <a:off x="7680960" y="4123944"/>
            <a:ext cx="365760" cy="365760"/>
          </a:xfrm>
          <a:prstGeom prst="ellipse">
            <a:avLst/>
          </a:prstGeom>
          <a:solidFill>
            <a:srgbClr val="1E88E5"/>
          </a:solidFill>
          <a:ln/>
        </p:spPr>
      </p:sp>
      <p:sp>
        <p:nvSpPr>
          <p:cNvPr id="29" name="Text 27"/>
          <p:cNvSpPr/>
          <p:nvPr/>
        </p:nvSpPr>
        <p:spPr>
          <a:xfrm>
            <a:off x="7680960" y="412394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0" name="Text 28"/>
          <p:cNvSpPr/>
          <p:nvPr/>
        </p:nvSpPr>
        <p:spPr>
          <a:xfrm>
            <a:off x="8183880" y="4142232"/>
            <a:ext cx="3154680" cy="502920"/>
          </a:xfrm>
          <a:prstGeom prst="rect">
            <a:avLst/>
          </a:prstGeom>
          <a:noFill/>
          <a:ln/>
        </p:spPr>
        <p:txBody>
          <a:bodyPr wrap="square" lIns="0" tIns="0" rIns="0" bIns="0" rtlCol="0" anchor="ctr"/>
          <a:lstStyle/>
          <a:p>
            <a:pPr marL="0" indent="0">
              <a:lnSpc>
                <a:spcPct val="110000"/>
              </a:lnSpc>
              <a:buNone/>
            </a:pPr>
            <a:r>
              <a:rPr lang="en-US" sz="1150" dirty="0">
                <a:solidFill>
                  <a:srgbClr val="FFFFFF"/>
                </a:solidFill>
                <a:latin typeface="Calibri" pitchFamily="34" charset="0"/>
                <a:ea typeface="Calibri" pitchFamily="34" charset="-122"/>
                <a:cs typeface="Calibri" pitchFamily="34" charset="-120"/>
              </a:rPr>
              <a:t>Content is delivered in that mode</a:t>
            </a:r>
            <a:endParaRPr lang="en-US" sz="1150" dirty="0"/>
          </a:p>
        </p:txBody>
      </p:sp>
      <p:sp>
        <p:nvSpPr>
          <p:cNvPr id="31" name="Shape 29"/>
          <p:cNvSpPr/>
          <p:nvPr/>
        </p:nvSpPr>
        <p:spPr>
          <a:xfrm>
            <a:off x="7680960" y="4782312"/>
            <a:ext cx="365760" cy="365760"/>
          </a:xfrm>
          <a:prstGeom prst="ellipse">
            <a:avLst/>
          </a:prstGeom>
          <a:solidFill>
            <a:srgbClr val="1E88E5"/>
          </a:solidFill>
          <a:ln/>
        </p:spPr>
      </p:sp>
      <p:sp>
        <p:nvSpPr>
          <p:cNvPr id="32" name="Text 30"/>
          <p:cNvSpPr/>
          <p:nvPr/>
        </p:nvSpPr>
        <p:spPr>
          <a:xfrm>
            <a:off x="7680960" y="478231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3" name="Text 31"/>
          <p:cNvSpPr/>
          <p:nvPr/>
        </p:nvSpPr>
        <p:spPr>
          <a:xfrm>
            <a:off x="8183880" y="4800600"/>
            <a:ext cx="3154680" cy="502920"/>
          </a:xfrm>
          <a:prstGeom prst="rect">
            <a:avLst/>
          </a:prstGeom>
          <a:noFill/>
          <a:ln/>
        </p:spPr>
        <p:txBody>
          <a:bodyPr wrap="square" lIns="0" tIns="0" rIns="0" bIns="0" rtlCol="0" anchor="ctr"/>
          <a:lstStyle/>
          <a:p>
            <a:pPr marL="0" indent="0">
              <a:lnSpc>
                <a:spcPct val="110000"/>
              </a:lnSpc>
              <a:buNone/>
            </a:pPr>
            <a:r>
              <a:rPr lang="en-US" sz="1150" dirty="0">
                <a:solidFill>
                  <a:srgbClr val="FFFFFF"/>
                </a:solidFill>
                <a:latin typeface="Calibri" pitchFamily="34" charset="0"/>
                <a:ea typeface="Calibri" pitchFamily="34" charset="-122"/>
                <a:cs typeface="Calibri" pitchFamily="34" charset="-120"/>
              </a:rPr>
              <a:t>Session logged for instructor QoE analytics</a:t>
            </a:r>
            <a:endParaRPr lang="en-US" sz="1150" dirty="0"/>
          </a:p>
        </p:txBody>
      </p:sp>
      <p:sp>
        <p:nvSpPr>
          <p:cNvPr id="34" name="Shape 32"/>
          <p:cNvSpPr/>
          <p:nvPr/>
        </p:nvSpPr>
        <p:spPr>
          <a:xfrm>
            <a:off x="7680960" y="5440680"/>
            <a:ext cx="365760" cy="365760"/>
          </a:xfrm>
          <a:prstGeom prst="ellipse">
            <a:avLst/>
          </a:prstGeom>
          <a:solidFill>
            <a:srgbClr val="1E88E5"/>
          </a:solidFill>
          <a:ln/>
        </p:spPr>
      </p:sp>
      <p:sp>
        <p:nvSpPr>
          <p:cNvPr id="35" name="Text 33"/>
          <p:cNvSpPr/>
          <p:nvPr/>
        </p:nvSpPr>
        <p:spPr>
          <a:xfrm>
            <a:off x="7680960" y="544068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6" name="Text 34"/>
          <p:cNvSpPr/>
          <p:nvPr/>
        </p:nvSpPr>
        <p:spPr>
          <a:xfrm>
            <a:off x="8183880" y="5458968"/>
            <a:ext cx="3154680" cy="502920"/>
          </a:xfrm>
          <a:prstGeom prst="rect">
            <a:avLst/>
          </a:prstGeom>
          <a:noFill/>
          <a:ln/>
        </p:spPr>
        <p:txBody>
          <a:bodyPr wrap="square" lIns="0" tIns="0" rIns="0" bIns="0" rtlCol="0" anchor="ctr"/>
          <a:lstStyle/>
          <a:p>
            <a:pPr marL="0" indent="0">
              <a:lnSpc>
                <a:spcPct val="110000"/>
              </a:lnSpc>
              <a:buNone/>
            </a:pPr>
            <a:r>
              <a:rPr lang="en-US" sz="1150" dirty="0">
                <a:solidFill>
                  <a:srgbClr val="FFFFFF"/>
                </a:solidFill>
                <a:latin typeface="Calibri" pitchFamily="34" charset="0"/>
                <a:ea typeface="Calibri" pitchFamily="34" charset="-122"/>
                <a:cs typeface="Calibri" pitchFamily="34" charset="-120"/>
              </a:rPr>
              <a:t>Loop repeats every 30 seconds</a:t>
            </a:r>
            <a:endParaRPr lang="en-US" sz="1150" dirty="0"/>
          </a:p>
        </p:txBody>
      </p:sp>
      <p:sp>
        <p:nvSpPr>
          <p:cNvPr id="37" name="Text 35"/>
          <p:cNvSpPr/>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03</a:t>
            </a:r>
            <a:endParaRPr lang="en-US" sz="1000" dirty="0"/>
          </a:p>
        </p:txBody>
      </p:sp>
      <p:pic>
        <p:nvPicPr>
          <p:cNvPr id="38" name="Picture 37">
            <a:extLst>
              <a:ext uri="{FF2B5EF4-FFF2-40B4-BE49-F238E27FC236}">
                <a16:creationId xmlns:a16="http://schemas.microsoft.com/office/drawing/2014/main" id="{C76C34AB-1066-4281-3899-D2D0797BD477}"/>
              </a:ext>
            </a:extLst>
          </p:cNvPr>
          <p:cNvPicPr>
            <a:picLocks noChangeAspect="1"/>
          </p:cNvPicPr>
          <p:nvPr/>
        </p:nvPicPr>
        <p:blipFill>
          <a:blip r:embed="rId3">
            <a:extLst>
              <a:ext uri="{28A0092B-C50C-407E-A947-70E740481C1C}">
                <a14:useLocalDpi xmlns:a14="http://schemas.microsoft.com/office/drawing/2010/main" val="0"/>
              </a:ext>
            </a:extLst>
          </a:blip>
          <a:srcRect l="23239" t="6583" r="29481" b="11234"/>
          <a:stretch>
            <a:fillRect/>
          </a:stretch>
        </p:blipFill>
        <p:spPr>
          <a:xfrm>
            <a:off x="8800328" y="114655"/>
            <a:ext cx="1281703" cy="123408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48840" cy="6858000"/>
          </a:xfrm>
          <a:prstGeom prst="rect">
            <a:avLst/>
          </a:prstGeom>
          <a:solidFill>
            <a:srgbClr val="0D2B55"/>
          </a:solidFill>
          <a:ln/>
        </p:spPr>
      </p:sp>
      <p:sp>
        <p:nvSpPr>
          <p:cNvPr id="3" name="Text 1"/>
          <p:cNvSpPr/>
          <p:nvPr/>
        </p:nvSpPr>
        <p:spPr>
          <a:xfrm>
            <a:off x="320040" y="457200"/>
            <a:ext cx="1463040" cy="914400"/>
          </a:xfrm>
          <a:prstGeom prst="rect">
            <a:avLst/>
          </a:prstGeom>
          <a:noFill/>
          <a:ln/>
        </p:spPr>
        <p:txBody>
          <a:bodyPr wrap="square" lIns="0" tIns="0" rIns="0" bIns="0" rtlCol="0" anchor="ctr"/>
          <a:lstStyle/>
          <a:p>
            <a:pPr marL="0" indent="0">
              <a:buNone/>
            </a:pPr>
            <a:r>
              <a:rPr lang="en-US" sz="4600" b="1" dirty="0">
                <a:solidFill>
                  <a:srgbClr val="1E4C86"/>
                </a:solidFill>
                <a:latin typeface="Cambria" pitchFamily="34" charset="0"/>
                <a:ea typeface="Cambria" pitchFamily="34" charset="-122"/>
                <a:cs typeface="Cambria" pitchFamily="34" charset="-120"/>
              </a:rPr>
              <a:t>01</a:t>
            </a:r>
            <a:endParaRPr lang="en-US" sz="4600" dirty="0"/>
          </a:p>
        </p:txBody>
      </p:sp>
      <p:sp>
        <p:nvSpPr>
          <p:cNvPr id="4" name="Shape 2"/>
          <p:cNvSpPr/>
          <p:nvPr/>
        </p:nvSpPr>
        <p:spPr>
          <a:xfrm>
            <a:off x="502920" y="1417320"/>
            <a:ext cx="1051560" cy="1051560"/>
          </a:xfrm>
          <a:prstGeom prst="ellipse">
            <a:avLst/>
          </a:prstGeom>
          <a:solidFill>
            <a:srgbClr val="FFFFFF"/>
          </a:solidFill>
          <a:ln/>
        </p:spPr>
      </p:sp>
      <p:pic>
        <p:nvPicPr>
          <p:cNvPr id="5" name="Image 0" descr="icons/shield_navy.png"/>
          <p:cNvPicPr>
            <a:picLocks noChangeAspect="1"/>
          </p:cNvPicPr>
          <p:nvPr/>
        </p:nvPicPr>
        <p:blipFill>
          <a:blip r:embed="rId3"/>
          <a:stretch>
            <a:fillRect/>
          </a:stretch>
        </p:blipFill>
        <p:spPr>
          <a:xfrm>
            <a:off x="650138" y="1564538"/>
            <a:ext cx="757123" cy="757123"/>
          </a:xfrm>
          <a:prstGeom prst="rect">
            <a:avLst/>
          </a:prstGeom>
        </p:spPr>
      </p:pic>
      <p:sp>
        <p:nvSpPr>
          <p:cNvPr id="6" name="Text 3"/>
          <p:cNvSpPr/>
          <p:nvPr/>
        </p:nvSpPr>
        <p:spPr>
          <a:xfrm>
            <a:off x="320040" y="2743200"/>
            <a:ext cx="1554480" cy="822960"/>
          </a:xfrm>
          <a:prstGeom prst="rect">
            <a:avLst/>
          </a:prstGeom>
          <a:noFill/>
          <a:ln/>
        </p:spPr>
        <p:txBody>
          <a:bodyPr wrap="square" lIns="0" tIns="0" rIns="0" bIns="0" rtlCol="0" anchor="ctr"/>
          <a:lstStyle/>
          <a:p>
            <a:pPr marL="0" indent="0">
              <a:lnSpc>
                <a:spcPct val="120000"/>
              </a:lnSpc>
              <a:buNone/>
            </a:pPr>
            <a:r>
              <a:rPr lang="en-US" sz="1200" b="1" kern="0" spc="100" dirty="0">
                <a:solidFill>
                  <a:srgbClr val="26C6DA"/>
                </a:solidFill>
                <a:latin typeface="Calibri" pitchFamily="34" charset="0"/>
                <a:ea typeface="Calibri" pitchFamily="34" charset="-122"/>
                <a:cs typeface="Calibri" pitchFamily="34" charset="-120"/>
              </a:rPr>
              <a:t>FOUNDATION</a:t>
            </a:r>
            <a:endParaRPr lang="en-US" sz="1200" dirty="0"/>
          </a:p>
        </p:txBody>
      </p:sp>
      <p:sp>
        <p:nvSpPr>
          <p:cNvPr id="7" name="Text 4"/>
          <p:cNvSpPr/>
          <p:nvPr/>
        </p:nvSpPr>
        <p:spPr>
          <a:xfrm>
            <a:off x="2514600" y="457200"/>
            <a:ext cx="9144000" cy="822960"/>
          </a:xfrm>
          <a:prstGeom prst="rect">
            <a:avLst/>
          </a:prstGeom>
          <a:noFill/>
          <a:ln/>
        </p:spPr>
        <p:txBody>
          <a:bodyPr wrap="square" lIns="0" tIns="0" rIns="0" bIns="0" rtlCol="0" anchor="t"/>
          <a:lstStyle/>
          <a:p>
            <a:pPr marL="0" indent="0">
              <a:buNone/>
            </a:pPr>
            <a:r>
              <a:rPr lang="en-US" sz="2500" b="1" dirty="0">
                <a:solidFill>
                  <a:srgbClr val="0D2B55"/>
                </a:solidFill>
                <a:latin typeface="Cambria" pitchFamily="34" charset="0"/>
                <a:ea typeface="Cambria" pitchFamily="34" charset="-122"/>
                <a:cs typeface="Cambria" pitchFamily="34" charset="-120"/>
              </a:rPr>
              <a:t>Secure, Role-Based Access</a:t>
            </a:r>
            <a:endParaRPr lang="en-US" sz="2500" dirty="0"/>
          </a:p>
        </p:txBody>
      </p:sp>
      <p:sp>
        <p:nvSpPr>
          <p:cNvPr id="8" name="Shape 5"/>
          <p:cNvSpPr/>
          <p:nvPr/>
        </p:nvSpPr>
        <p:spPr>
          <a:xfrm>
            <a:off x="2514600" y="1417320"/>
            <a:ext cx="2880360" cy="4892040"/>
          </a:xfrm>
          <a:prstGeom prst="roundRect">
            <a:avLst>
              <a:gd name="adj" fmla="val 2540"/>
            </a:avLst>
          </a:prstGeom>
          <a:solidFill>
            <a:srgbClr val="F5F7FA"/>
          </a:solidFill>
          <a:ln/>
          <a:effectLst>
            <a:outerShdw blurRad="127000" dist="38100" dir="5400000" algn="bl" rotWithShape="0">
              <a:srgbClr val="0D2B55">
                <a:alpha val="12000"/>
              </a:srgbClr>
            </a:outerShdw>
          </a:effectLst>
        </p:spPr>
      </p:sp>
      <p:sp>
        <p:nvSpPr>
          <p:cNvPr id="9" name="Text 6"/>
          <p:cNvSpPr/>
          <p:nvPr/>
        </p:nvSpPr>
        <p:spPr>
          <a:xfrm>
            <a:off x="2770632" y="1627632"/>
            <a:ext cx="2368296" cy="274320"/>
          </a:xfrm>
          <a:prstGeom prst="rect">
            <a:avLst/>
          </a:prstGeom>
          <a:noFill/>
          <a:ln/>
        </p:spPr>
        <p:txBody>
          <a:bodyPr wrap="square" lIns="0" tIns="0" rIns="0" bIns="0" rtlCol="0" anchor="ctr"/>
          <a:lstStyle/>
          <a:p>
            <a:pPr marL="0" indent="0">
              <a:buNone/>
            </a:pPr>
            <a:r>
              <a:rPr lang="en-US" sz="1100" b="1" kern="0" spc="150" dirty="0">
                <a:solidFill>
                  <a:srgbClr val="0D2B55"/>
                </a:solidFill>
                <a:latin typeface="Calibri" pitchFamily="34" charset="0"/>
                <a:ea typeface="Calibri" pitchFamily="34" charset="-122"/>
                <a:cs typeface="Calibri" pitchFamily="34" charset="-120"/>
              </a:rPr>
              <a:t>THE THINKING</a:t>
            </a:r>
            <a:endParaRPr lang="en-US" sz="1100" dirty="0"/>
          </a:p>
        </p:txBody>
      </p:sp>
      <p:sp>
        <p:nvSpPr>
          <p:cNvPr id="10" name="Shape 7"/>
          <p:cNvSpPr/>
          <p:nvPr/>
        </p:nvSpPr>
        <p:spPr>
          <a:xfrm>
            <a:off x="2770632" y="1938528"/>
            <a:ext cx="2368296" cy="0"/>
          </a:xfrm>
          <a:prstGeom prst="line">
            <a:avLst/>
          </a:prstGeom>
          <a:noFill/>
          <a:ln w="12700">
            <a:solidFill>
              <a:srgbClr val="DCE3EC"/>
            </a:solidFill>
            <a:prstDash val="solid"/>
          </a:ln>
        </p:spPr>
      </p:sp>
      <p:sp>
        <p:nvSpPr>
          <p:cNvPr id="11" name="Text 8"/>
          <p:cNvSpPr/>
          <p:nvPr/>
        </p:nvSpPr>
        <p:spPr>
          <a:xfrm>
            <a:off x="2770632" y="2084832"/>
            <a:ext cx="2368296" cy="4069080"/>
          </a:xfrm>
          <a:prstGeom prst="rect">
            <a:avLst/>
          </a:prstGeom>
          <a:noFill/>
          <a:ln/>
        </p:spPr>
        <p:txBody>
          <a:bodyPr wrap="square" lIns="0" tIns="0" rIns="0" bIns="0" rtlCol="0" anchor="t"/>
          <a:lstStyle/>
          <a:p>
            <a:pPr marL="0" indent="0">
              <a:lnSpc>
                <a:spcPct val="122000"/>
              </a:lnSpc>
              <a:buNone/>
            </a:pPr>
            <a:r>
              <a:rPr lang="en-US" sz="1200" dirty="0">
                <a:solidFill>
                  <a:srgbClr val="1A1A1A"/>
                </a:solidFill>
                <a:latin typeface="Calibri" pitchFamily="34" charset="0"/>
                <a:ea typeface="Calibri" pitchFamily="34" charset="-122"/>
                <a:cs typeface="Calibri" pitchFamily="34" charset="-120"/>
              </a:rPr>
              <a:t>Instructors told us course groups on WhatsApp and open Drive links give zero control over who sees what, and zero accountability for who changed it. Any credible learning platform has to start with identity and permission, not features.</a:t>
            </a:r>
            <a:endParaRPr lang="en-US" sz="1200" dirty="0"/>
          </a:p>
        </p:txBody>
      </p:sp>
      <p:sp>
        <p:nvSpPr>
          <p:cNvPr id="12" name="Shape 9"/>
          <p:cNvSpPr/>
          <p:nvPr/>
        </p:nvSpPr>
        <p:spPr>
          <a:xfrm>
            <a:off x="5532120" y="1417320"/>
            <a:ext cx="2880360" cy="4892040"/>
          </a:xfrm>
          <a:prstGeom prst="roundRect">
            <a:avLst>
              <a:gd name="adj" fmla="val 2540"/>
            </a:avLst>
          </a:prstGeom>
          <a:solidFill>
            <a:srgbClr val="F5F7FA"/>
          </a:solidFill>
          <a:ln/>
          <a:effectLst>
            <a:outerShdw blurRad="127000" dist="38100" dir="5400000" algn="bl" rotWithShape="0">
              <a:srgbClr val="0D2B55">
                <a:alpha val="12000"/>
              </a:srgbClr>
            </a:outerShdw>
          </a:effectLst>
        </p:spPr>
      </p:sp>
      <p:sp>
        <p:nvSpPr>
          <p:cNvPr id="13" name="Text 10"/>
          <p:cNvSpPr/>
          <p:nvPr/>
        </p:nvSpPr>
        <p:spPr>
          <a:xfrm>
            <a:off x="5788152" y="1627632"/>
            <a:ext cx="2368296" cy="274320"/>
          </a:xfrm>
          <a:prstGeom prst="rect">
            <a:avLst/>
          </a:prstGeom>
          <a:noFill/>
          <a:ln/>
        </p:spPr>
        <p:txBody>
          <a:bodyPr wrap="square" lIns="0" tIns="0" rIns="0" bIns="0" rtlCol="0" anchor="ctr"/>
          <a:lstStyle/>
          <a:p>
            <a:pPr marL="0" indent="0">
              <a:buNone/>
            </a:pPr>
            <a:r>
              <a:rPr lang="en-US" sz="1100" b="1" kern="0" spc="150" dirty="0">
                <a:solidFill>
                  <a:srgbClr val="0D2B55"/>
                </a:solidFill>
                <a:latin typeface="Calibri" pitchFamily="34" charset="0"/>
                <a:ea typeface="Calibri" pitchFamily="34" charset="-122"/>
                <a:cs typeface="Calibri" pitchFamily="34" charset="-120"/>
              </a:rPr>
              <a:t>DESIGN &amp; BUILD</a:t>
            </a:r>
            <a:endParaRPr lang="en-US" sz="1100" dirty="0"/>
          </a:p>
        </p:txBody>
      </p:sp>
      <p:sp>
        <p:nvSpPr>
          <p:cNvPr id="14" name="Shape 11"/>
          <p:cNvSpPr/>
          <p:nvPr/>
        </p:nvSpPr>
        <p:spPr>
          <a:xfrm>
            <a:off x="5788152" y="1938528"/>
            <a:ext cx="2368296" cy="0"/>
          </a:xfrm>
          <a:prstGeom prst="line">
            <a:avLst/>
          </a:prstGeom>
          <a:noFill/>
          <a:ln w="12700">
            <a:solidFill>
              <a:srgbClr val="DCE3EC"/>
            </a:solidFill>
            <a:prstDash val="solid"/>
          </a:ln>
        </p:spPr>
      </p:sp>
      <p:sp>
        <p:nvSpPr>
          <p:cNvPr id="15" name="Text 12"/>
          <p:cNvSpPr/>
          <p:nvPr/>
        </p:nvSpPr>
        <p:spPr>
          <a:xfrm>
            <a:off x="5788152" y="2084832"/>
            <a:ext cx="2368296" cy="4069080"/>
          </a:xfrm>
          <a:prstGeom prst="rect">
            <a:avLst/>
          </a:prstGeom>
          <a:noFill/>
          <a:ln/>
        </p:spPr>
        <p:txBody>
          <a:bodyPr wrap="square" lIns="0" tIns="0" rIns="0" bIns="0" rtlCol="0" anchor="t"/>
          <a:lstStyle/>
          <a:p>
            <a:pPr marL="0" indent="0">
              <a:lnSpc>
                <a:spcPct val="122000"/>
              </a:lnSpc>
              <a:buNone/>
            </a:pPr>
            <a:r>
              <a:rPr lang="en-US" sz="1200" dirty="0">
                <a:solidFill>
                  <a:srgbClr val="1A1A1A"/>
                </a:solidFill>
                <a:latin typeface="Calibri" pitchFamily="34" charset="0"/>
                <a:ea typeface="Calibri" pitchFamily="34" charset="-122"/>
                <a:cs typeface="Calibri" pitchFamily="34" charset="-120"/>
              </a:rPr>
              <a:t>Three roles - Student, Instructor, Administrator - each with a distinct dashboard and a distinct, non-overlapping set of permissions baked in from day one.</a:t>
            </a:r>
            <a:endParaRPr lang="en-US" sz="1200" dirty="0"/>
          </a:p>
          <a:p>
            <a:pPr marL="0" indent="0">
              <a:lnSpc>
                <a:spcPct val="122000"/>
              </a:lnSpc>
              <a:buNone/>
            </a:pPr>
            <a:endParaRPr lang="en-US" sz="1200" dirty="0"/>
          </a:p>
          <a:p>
            <a:pPr marL="0" indent="0">
              <a:lnSpc>
                <a:spcPct val="122000"/>
              </a:lnSpc>
              <a:buNone/>
            </a:pPr>
            <a:r>
              <a:rPr lang="en-US" sz="1200" dirty="0">
                <a:solidFill>
                  <a:srgbClr val="1A1A1A"/>
                </a:solidFill>
                <a:latin typeface="Calibri" pitchFamily="34" charset="0"/>
                <a:ea typeface="Calibri" pitchFamily="34" charset="-122"/>
                <a:cs typeface="Calibri" pitchFamily="34" charset="-120"/>
              </a:rPr>
              <a:t>Built on Supabase Auth (JWT-based sessions) with Row Level Security enforced inside PostgreSQL itself - so access rules live in the database, not just the app's UI.</a:t>
            </a:r>
            <a:endParaRPr lang="en-US" sz="1200" dirty="0"/>
          </a:p>
        </p:txBody>
      </p:sp>
      <p:sp>
        <p:nvSpPr>
          <p:cNvPr id="16" name="Shape 13"/>
          <p:cNvSpPr/>
          <p:nvPr/>
        </p:nvSpPr>
        <p:spPr>
          <a:xfrm>
            <a:off x="8549640" y="1417320"/>
            <a:ext cx="2880360" cy="4892040"/>
          </a:xfrm>
          <a:prstGeom prst="roundRect">
            <a:avLst>
              <a:gd name="adj" fmla="val 2540"/>
            </a:avLst>
          </a:prstGeom>
          <a:solidFill>
            <a:srgbClr val="EAF4FB"/>
          </a:solidFill>
          <a:ln/>
          <a:effectLst>
            <a:outerShdw blurRad="127000" dist="38100" dir="5400000" algn="bl" rotWithShape="0">
              <a:srgbClr val="0D2B55">
                <a:alpha val="12000"/>
              </a:srgbClr>
            </a:outerShdw>
          </a:effectLst>
        </p:spPr>
      </p:sp>
      <p:sp>
        <p:nvSpPr>
          <p:cNvPr id="17" name="Text 14"/>
          <p:cNvSpPr/>
          <p:nvPr/>
        </p:nvSpPr>
        <p:spPr>
          <a:xfrm>
            <a:off x="8805672" y="1627632"/>
            <a:ext cx="2368296" cy="274320"/>
          </a:xfrm>
          <a:prstGeom prst="rect">
            <a:avLst/>
          </a:prstGeom>
          <a:noFill/>
          <a:ln/>
        </p:spPr>
        <p:txBody>
          <a:bodyPr wrap="square" lIns="0" tIns="0" rIns="0" bIns="0" rtlCol="0" anchor="ctr"/>
          <a:lstStyle/>
          <a:p>
            <a:pPr marL="0" indent="0">
              <a:buNone/>
            </a:pPr>
            <a:r>
              <a:rPr lang="en-US" sz="1100" b="1" kern="0" spc="150" dirty="0">
                <a:solidFill>
                  <a:srgbClr val="1E88E5"/>
                </a:solidFill>
                <a:latin typeface="Calibri" pitchFamily="34" charset="0"/>
                <a:ea typeface="Calibri" pitchFamily="34" charset="-122"/>
                <a:cs typeface="Calibri" pitchFamily="34" charset="-120"/>
              </a:rPr>
              <a:t>WHY IT WINS</a:t>
            </a:r>
            <a:endParaRPr lang="en-US" sz="1100" dirty="0"/>
          </a:p>
        </p:txBody>
      </p:sp>
      <p:sp>
        <p:nvSpPr>
          <p:cNvPr id="18" name="Shape 15"/>
          <p:cNvSpPr/>
          <p:nvPr/>
        </p:nvSpPr>
        <p:spPr>
          <a:xfrm>
            <a:off x="8805672" y="1938528"/>
            <a:ext cx="2368296" cy="0"/>
          </a:xfrm>
          <a:prstGeom prst="line">
            <a:avLst/>
          </a:prstGeom>
          <a:noFill/>
          <a:ln w="12700">
            <a:solidFill>
              <a:srgbClr val="DCE3EC"/>
            </a:solidFill>
            <a:prstDash val="solid"/>
          </a:ln>
        </p:spPr>
      </p:sp>
      <p:sp>
        <p:nvSpPr>
          <p:cNvPr id="19" name="Text 16"/>
          <p:cNvSpPr/>
          <p:nvPr/>
        </p:nvSpPr>
        <p:spPr>
          <a:xfrm>
            <a:off x="8805672" y="2084832"/>
            <a:ext cx="2368296" cy="4069080"/>
          </a:xfrm>
          <a:prstGeom prst="rect">
            <a:avLst/>
          </a:prstGeom>
          <a:noFill/>
          <a:ln/>
        </p:spPr>
        <p:txBody>
          <a:bodyPr wrap="square" lIns="0" tIns="0" rIns="0" bIns="0" rtlCol="0" anchor="t"/>
          <a:lstStyle/>
          <a:p>
            <a:pPr marL="0" indent="0">
              <a:lnSpc>
                <a:spcPct val="122000"/>
              </a:lnSpc>
              <a:buNone/>
            </a:pPr>
            <a:r>
              <a:rPr lang="en-US" sz="1200" dirty="0">
                <a:solidFill>
                  <a:srgbClr val="081A38"/>
                </a:solidFill>
                <a:latin typeface="Calibri" pitchFamily="34" charset="0"/>
                <a:ea typeface="Calibri" pitchFamily="34" charset="-122"/>
                <a:cs typeface="Calibri" pitchFamily="34" charset="-120"/>
              </a:rPr>
              <a:t>Permissions in WhatsApp / Drive-based setups are social conventions - easy to break by accident. In EduStream, a student's device literally cannot retrieve another student's records, even if the app's front end were bypassed entirely.</a:t>
            </a:r>
            <a:endParaRPr lang="en-US" sz="1200" dirty="0"/>
          </a:p>
        </p:txBody>
      </p:sp>
      <p:sp>
        <p:nvSpPr>
          <p:cNvPr id="20" name="Text 17"/>
          <p:cNvSpPr/>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04</a:t>
            </a:r>
            <a:endParaRPr lang="en-US" sz="1000" dirty="0"/>
          </a:p>
        </p:txBody>
      </p:sp>
      <p:pic>
        <p:nvPicPr>
          <p:cNvPr id="21" name="Picture 20">
            <a:extLst>
              <a:ext uri="{FF2B5EF4-FFF2-40B4-BE49-F238E27FC236}">
                <a16:creationId xmlns:a16="http://schemas.microsoft.com/office/drawing/2014/main" id="{2E48ED27-017E-2DA3-CCC3-05F7A1AB4F24}"/>
              </a:ext>
            </a:extLst>
          </p:cNvPr>
          <p:cNvPicPr>
            <a:picLocks noChangeAspect="1"/>
          </p:cNvPicPr>
          <p:nvPr/>
        </p:nvPicPr>
        <p:blipFill>
          <a:blip r:embed="rId4">
            <a:extLst>
              <a:ext uri="{28A0092B-C50C-407E-A947-70E740481C1C}">
                <a14:useLocalDpi xmlns:a14="http://schemas.microsoft.com/office/drawing/2010/main" val="0"/>
              </a:ext>
            </a:extLst>
          </a:blip>
          <a:srcRect t="6132" r="25010" b="13984"/>
          <a:stretch>
            <a:fillRect/>
          </a:stretch>
        </p:blipFill>
        <p:spPr>
          <a:xfrm>
            <a:off x="6508551" y="196596"/>
            <a:ext cx="4594242" cy="94183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48840" cy="6858000"/>
          </a:xfrm>
          <a:prstGeom prst="rect">
            <a:avLst/>
          </a:prstGeom>
          <a:solidFill>
            <a:srgbClr val="0D2B55"/>
          </a:solidFill>
          <a:ln/>
        </p:spPr>
      </p:sp>
      <p:sp>
        <p:nvSpPr>
          <p:cNvPr id="3" name="Text 1"/>
          <p:cNvSpPr/>
          <p:nvPr/>
        </p:nvSpPr>
        <p:spPr>
          <a:xfrm>
            <a:off x="320040" y="457200"/>
            <a:ext cx="1463040" cy="914400"/>
          </a:xfrm>
          <a:prstGeom prst="rect">
            <a:avLst/>
          </a:prstGeom>
          <a:noFill/>
          <a:ln/>
        </p:spPr>
        <p:txBody>
          <a:bodyPr wrap="square" lIns="0" tIns="0" rIns="0" bIns="0" rtlCol="0" anchor="ctr"/>
          <a:lstStyle/>
          <a:p>
            <a:pPr marL="0" indent="0">
              <a:buNone/>
            </a:pPr>
            <a:r>
              <a:rPr lang="en-US" sz="4600" b="1" dirty="0">
                <a:solidFill>
                  <a:srgbClr val="1E4C86"/>
                </a:solidFill>
                <a:latin typeface="Cambria" pitchFamily="34" charset="0"/>
                <a:ea typeface="Cambria" pitchFamily="34" charset="-122"/>
                <a:cs typeface="Cambria" pitchFamily="34" charset="-120"/>
              </a:rPr>
              <a:t>02</a:t>
            </a:r>
            <a:endParaRPr lang="en-US" sz="4600" dirty="0"/>
          </a:p>
        </p:txBody>
      </p:sp>
      <p:sp>
        <p:nvSpPr>
          <p:cNvPr id="4" name="Shape 2"/>
          <p:cNvSpPr/>
          <p:nvPr/>
        </p:nvSpPr>
        <p:spPr>
          <a:xfrm>
            <a:off x="502920" y="1417320"/>
            <a:ext cx="1051560" cy="1051560"/>
          </a:xfrm>
          <a:prstGeom prst="ellipse">
            <a:avLst/>
          </a:prstGeom>
          <a:solidFill>
            <a:srgbClr val="FFFFFF"/>
          </a:solidFill>
          <a:ln/>
        </p:spPr>
      </p:sp>
      <p:pic>
        <p:nvPicPr>
          <p:cNvPr id="5" name="Image 0" descr="icons/course_navy.png"/>
          <p:cNvPicPr>
            <a:picLocks noChangeAspect="1"/>
          </p:cNvPicPr>
          <p:nvPr/>
        </p:nvPicPr>
        <p:blipFill>
          <a:blip r:embed="rId3"/>
          <a:stretch>
            <a:fillRect/>
          </a:stretch>
        </p:blipFill>
        <p:spPr>
          <a:xfrm>
            <a:off x="650138" y="1564538"/>
            <a:ext cx="757123" cy="757123"/>
          </a:xfrm>
          <a:prstGeom prst="rect">
            <a:avLst/>
          </a:prstGeom>
        </p:spPr>
      </p:pic>
      <p:sp>
        <p:nvSpPr>
          <p:cNvPr id="6" name="Text 3"/>
          <p:cNvSpPr/>
          <p:nvPr/>
        </p:nvSpPr>
        <p:spPr>
          <a:xfrm>
            <a:off x="320040" y="2743200"/>
            <a:ext cx="1554480" cy="822960"/>
          </a:xfrm>
          <a:prstGeom prst="rect">
            <a:avLst/>
          </a:prstGeom>
          <a:noFill/>
          <a:ln/>
        </p:spPr>
        <p:txBody>
          <a:bodyPr wrap="square" lIns="0" tIns="0" rIns="0" bIns="0" rtlCol="0" anchor="ctr"/>
          <a:lstStyle/>
          <a:p>
            <a:pPr marL="0" indent="0">
              <a:lnSpc>
                <a:spcPct val="120000"/>
              </a:lnSpc>
              <a:buNone/>
            </a:pPr>
            <a:r>
              <a:rPr lang="en-US" sz="1200" b="1" kern="0" spc="100" dirty="0">
                <a:solidFill>
                  <a:srgbClr val="26C6DA"/>
                </a:solidFill>
                <a:latin typeface="Calibri" pitchFamily="34" charset="0"/>
                <a:ea typeface="Calibri" pitchFamily="34" charset="-122"/>
                <a:cs typeface="Calibri" pitchFamily="34" charset="-120"/>
              </a:rPr>
              <a:t>CONTENT LAYER</a:t>
            </a:r>
            <a:endParaRPr lang="en-US" sz="1200" dirty="0"/>
          </a:p>
        </p:txBody>
      </p:sp>
      <p:sp>
        <p:nvSpPr>
          <p:cNvPr id="7" name="Text 4"/>
          <p:cNvSpPr/>
          <p:nvPr/>
        </p:nvSpPr>
        <p:spPr>
          <a:xfrm>
            <a:off x="2514600" y="457200"/>
            <a:ext cx="9144000" cy="822960"/>
          </a:xfrm>
          <a:prstGeom prst="rect">
            <a:avLst/>
          </a:prstGeom>
          <a:noFill/>
          <a:ln/>
        </p:spPr>
        <p:txBody>
          <a:bodyPr wrap="square" lIns="0" tIns="0" rIns="0" bIns="0" rtlCol="0" anchor="t"/>
          <a:lstStyle/>
          <a:p>
            <a:pPr marL="0" indent="0">
              <a:buNone/>
            </a:pPr>
            <a:r>
              <a:rPr lang="en-US" sz="2500" b="1" dirty="0">
                <a:solidFill>
                  <a:srgbClr val="0D2B55"/>
                </a:solidFill>
                <a:latin typeface="Cambria" pitchFamily="34" charset="0"/>
                <a:ea typeface="Cambria" pitchFamily="34" charset="-122"/>
                <a:cs typeface="Cambria" pitchFamily="34" charset="-120"/>
              </a:rPr>
              <a:t>Unified Course &amp; Content Management</a:t>
            </a:r>
            <a:endParaRPr lang="en-US" sz="2500" dirty="0"/>
          </a:p>
        </p:txBody>
      </p:sp>
      <p:sp>
        <p:nvSpPr>
          <p:cNvPr id="8" name="Shape 5"/>
          <p:cNvSpPr/>
          <p:nvPr/>
        </p:nvSpPr>
        <p:spPr>
          <a:xfrm>
            <a:off x="2514600" y="1417320"/>
            <a:ext cx="2880360" cy="4892040"/>
          </a:xfrm>
          <a:prstGeom prst="roundRect">
            <a:avLst>
              <a:gd name="adj" fmla="val 2540"/>
            </a:avLst>
          </a:prstGeom>
          <a:solidFill>
            <a:srgbClr val="F5F7FA"/>
          </a:solidFill>
          <a:ln/>
          <a:effectLst>
            <a:outerShdw blurRad="127000" dist="38100" dir="5400000" algn="bl" rotWithShape="0">
              <a:srgbClr val="0D2B55">
                <a:alpha val="12000"/>
              </a:srgbClr>
            </a:outerShdw>
          </a:effectLst>
        </p:spPr>
      </p:sp>
      <p:sp>
        <p:nvSpPr>
          <p:cNvPr id="9" name="Text 6"/>
          <p:cNvSpPr/>
          <p:nvPr/>
        </p:nvSpPr>
        <p:spPr>
          <a:xfrm>
            <a:off x="2770632" y="1627632"/>
            <a:ext cx="2368296" cy="274320"/>
          </a:xfrm>
          <a:prstGeom prst="rect">
            <a:avLst/>
          </a:prstGeom>
          <a:noFill/>
          <a:ln/>
        </p:spPr>
        <p:txBody>
          <a:bodyPr wrap="square" lIns="0" tIns="0" rIns="0" bIns="0" rtlCol="0" anchor="ctr"/>
          <a:lstStyle/>
          <a:p>
            <a:pPr marL="0" indent="0">
              <a:buNone/>
            </a:pPr>
            <a:r>
              <a:rPr lang="en-US" sz="1100" b="1" kern="0" spc="150" dirty="0">
                <a:solidFill>
                  <a:srgbClr val="0D2B55"/>
                </a:solidFill>
                <a:latin typeface="Calibri" pitchFamily="34" charset="0"/>
                <a:ea typeface="Calibri" pitchFamily="34" charset="-122"/>
                <a:cs typeface="Calibri" pitchFamily="34" charset="-120"/>
              </a:rPr>
              <a:t>THE THINKING</a:t>
            </a:r>
            <a:endParaRPr lang="en-US" sz="1100" dirty="0"/>
          </a:p>
        </p:txBody>
      </p:sp>
      <p:sp>
        <p:nvSpPr>
          <p:cNvPr id="10" name="Shape 7"/>
          <p:cNvSpPr/>
          <p:nvPr/>
        </p:nvSpPr>
        <p:spPr>
          <a:xfrm>
            <a:off x="2770632" y="1938528"/>
            <a:ext cx="2368296" cy="0"/>
          </a:xfrm>
          <a:prstGeom prst="line">
            <a:avLst/>
          </a:prstGeom>
          <a:noFill/>
          <a:ln w="12700">
            <a:solidFill>
              <a:srgbClr val="DCE3EC"/>
            </a:solidFill>
            <a:prstDash val="solid"/>
          </a:ln>
        </p:spPr>
      </p:sp>
      <p:sp>
        <p:nvSpPr>
          <p:cNvPr id="11" name="Text 8"/>
          <p:cNvSpPr/>
          <p:nvPr/>
        </p:nvSpPr>
        <p:spPr>
          <a:xfrm>
            <a:off x="2770632" y="2084832"/>
            <a:ext cx="2368296" cy="4069080"/>
          </a:xfrm>
          <a:prstGeom prst="rect">
            <a:avLst/>
          </a:prstGeom>
          <a:noFill/>
          <a:ln/>
        </p:spPr>
        <p:txBody>
          <a:bodyPr wrap="square" lIns="0" tIns="0" rIns="0" bIns="0" rtlCol="0" anchor="t"/>
          <a:lstStyle/>
          <a:p>
            <a:pPr marL="0" indent="0">
              <a:lnSpc>
                <a:spcPct val="122000"/>
              </a:lnSpc>
              <a:buNone/>
            </a:pPr>
            <a:r>
              <a:rPr lang="en-US" sz="1200" dirty="0">
                <a:solidFill>
                  <a:srgbClr val="1A1A1A"/>
                </a:solidFill>
                <a:latin typeface="Calibri" pitchFamily="34" charset="0"/>
                <a:ea typeface="Calibri" pitchFamily="34" charset="-122"/>
                <a:cs typeface="Calibri" pitchFamily="34" charset="-120"/>
              </a:rPr>
              <a:t>Survey data showed lecturers spread materials across WhatsApp, YouTube links and Google Drive - students had no single place to look, and no reliable way to know what was current.</a:t>
            </a:r>
            <a:endParaRPr lang="en-US" sz="1200" dirty="0"/>
          </a:p>
        </p:txBody>
      </p:sp>
      <p:sp>
        <p:nvSpPr>
          <p:cNvPr id="12" name="Shape 9"/>
          <p:cNvSpPr/>
          <p:nvPr/>
        </p:nvSpPr>
        <p:spPr>
          <a:xfrm>
            <a:off x="5532120" y="1417320"/>
            <a:ext cx="2880360" cy="4892040"/>
          </a:xfrm>
          <a:prstGeom prst="roundRect">
            <a:avLst>
              <a:gd name="adj" fmla="val 2540"/>
            </a:avLst>
          </a:prstGeom>
          <a:solidFill>
            <a:srgbClr val="F5F7FA"/>
          </a:solidFill>
          <a:ln/>
          <a:effectLst>
            <a:outerShdw blurRad="127000" dist="38100" dir="5400000" algn="bl" rotWithShape="0">
              <a:srgbClr val="0D2B55">
                <a:alpha val="12000"/>
              </a:srgbClr>
            </a:outerShdw>
          </a:effectLst>
        </p:spPr>
      </p:sp>
      <p:sp>
        <p:nvSpPr>
          <p:cNvPr id="13" name="Text 10"/>
          <p:cNvSpPr/>
          <p:nvPr/>
        </p:nvSpPr>
        <p:spPr>
          <a:xfrm>
            <a:off x="5788152" y="1627632"/>
            <a:ext cx="2368296" cy="274320"/>
          </a:xfrm>
          <a:prstGeom prst="rect">
            <a:avLst/>
          </a:prstGeom>
          <a:noFill/>
          <a:ln/>
        </p:spPr>
        <p:txBody>
          <a:bodyPr wrap="square" lIns="0" tIns="0" rIns="0" bIns="0" rtlCol="0" anchor="ctr"/>
          <a:lstStyle/>
          <a:p>
            <a:pPr marL="0" indent="0">
              <a:buNone/>
            </a:pPr>
            <a:r>
              <a:rPr lang="en-US" sz="1100" b="1" kern="0" spc="150" dirty="0">
                <a:solidFill>
                  <a:srgbClr val="0D2B55"/>
                </a:solidFill>
                <a:latin typeface="Calibri" pitchFamily="34" charset="0"/>
                <a:ea typeface="Calibri" pitchFamily="34" charset="-122"/>
                <a:cs typeface="Calibri" pitchFamily="34" charset="-120"/>
              </a:rPr>
              <a:t>DESIGN &amp; BUILD</a:t>
            </a:r>
            <a:endParaRPr lang="en-US" sz="1100" dirty="0"/>
          </a:p>
        </p:txBody>
      </p:sp>
      <p:sp>
        <p:nvSpPr>
          <p:cNvPr id="14" name="Shape 11"/>
          <p:cNvSpPr/>
          <p:nvPr/>
        </p:nvSpPr>
        <p:spPr>
          <a:xfrm>
            <a:off x="5788152" y="1938528"/>
            <a:ext cx="2368296" cy="0"/>
          </a:xfrm>
          <a:prstGeom prst="line">
            <a:avLst/>
          </a:prstGeom>
          <a:noFill/>
          <a:ln w="12700">
            <a:solidFill>
              <a:srgbClr val="DCE3EC"/>
            </a:solidFill>
            <a:prstDash val="solid"/>
          </a:ln>
        </p:spPr>
      </p:sp>
      <p:sp>
        <p:nvSpPr>
          <p:cNvPr id="15" name="Text 12"/>
          <p:cNvSpPr/>
          <p:nvPr/>
        </p:nvSpPr>
        <p:spPr>
          <a:xfrm>
            <a:off x="5788152" y="2084832"/>
            <a:ext cx="2368296" cy="4069080"/>
          </a:xfrm>
          <a:prstGeom prst="rect">
            <a:avLst/>
          </a:prstGeom>
          <a:noFill/>
          <a:ln/>
        </p:spPr>
        <p:txBody>
          <a:bodyPr wrap="square" lIns="0" tIns="0" rIns="0" bIns="0" rtlCol="0" anchor="t"/>
          <a:lstStyle/>
          <a:p>
            <a:pPr marL="0" indent="0">
              <a:lnSpc>
                <a:spcPct val="122000"/>
              </a:lnSpc>
              <a:buNone/>
            </a:pPr>
            <a:r>
              <a:rPr lang="en-US" sz="1200" dirty="0">
                <a:solidFill>
                  <a:srgbClr val="1A1A1A"/>
                </a:solidFill>
                <a:latin typeface="Calibri" pitchFamily="34" charset="0"/>
                <a:ea typeface="Calibri" pitchFamily="34" charset="-122"/>
                <a:cs typeface="Calibri" pitchFamily="34" charset="-120"/>
              </a:rPr>
              <a:t>Courses contain ordered lessons (video, audio, text or mixed) inside a normalized schema; content unlocks only after enrollment.</a:t>
            </a:r>
            <a:endParaRPr lang="en-US" sz="1200" dirty="0"/>
          </a:p>
          <a:p>
            <a:pPr marL="0" indent="0">
              <a:lnSpc>
                <a:spcPct val="122000"/>
              </a:lnSpc>
              <a:buNone/>
            </a:pPr>
            <a:endParaRPr lang="en-US" sz="1200" dirty="0"/>
          </a:p>
          <a:p>
            <a:pPr marL="0" indent="0">
              <a:lnSpc>
                <a:spcPct val="122000"/>
              </a:lnSpc>
              <a:buNone/>
            </a:pPr>
            <a:r>
              <a:rPr lang="en-US" sz="1200" dirty="0">
                <a:solidFill>
                  <a:srgbClr val="1A1A1A"/>
                </a:solidFill>
                <a:latin typeface="Calibri" pitchFamily="34" charset="0"/>
                <a:ea typeface="Calibri" pitchFamily="34" charset="-122"/>
                <a:cs typeface="Calibri" pitchFamily="34" charset="-120"/>
              </a:rPr>
              <a:t>PostgreSQL relational schema (courses -&gt; lessons -&gt; enrollments) with segmented Supabase storage buckets by content type and size limit.</a:t>
            </a:r>
            <a:endParaRPr lang="en-US" sz="1200" dirty="0"/>
          </a:p>
        </p:txBody>
      </p:sp>
      <p:sp>
        <p:nvSpPr>
          <p:cNvPr id="16" name="Shape 13"/>
          <p:cNvSpPr/>
          <p:nvPr/>
        </p:nvSpPr>
        <p:spPr>
          <a:xfrm>
            <a:off x="8549640" y="1417320"/>
            <a:ext cx="2880360" cy="4892040"/>
          </a:xfrm>
          <a:prstGeom prst="roundRect">
            <a:avLst>
              <a:gd name="adj" fmla="val 2540"/>
            </a:avLst>
          </a:prstGeom>
          <a:solidFill>
            <a:srgbClr val="EAF4FB"/>
          </a:solidFill>
          <a:ln/>
          <a:effectLst>
            <a:outerShdw blurRad="127000" dist="38100" dir="5400000" algn="bl" rotWithShape="0">
              <a:srgbClr val="0D2B55">
                <a:alpha val="12000"/>
              </a:srgbClr>
            </a:outerShdw>
          </a:effectLst>
        </p:spPr>
      </p:sp>
      <p:sp>
        <p:nvSpPr>
          <p:cNvPr id="17" name="Text 14"/>
          <p:cNvSpPr/>
          <p:nvPr/>
        </p:nvSpPr>
        <p:spPr>
          <a:xfrm>
            <a:off x="8805672" y="1627632"/>
            <a:ext cx="2368296" cy="274320"/>
          </a:xfrm>
          <a:prstGeom prst="rect">
            <a:avLst/>
          </a:prstGeom>
          <a:noFill/>
          <a:ln/>
        </p:spPr>
        <p:txBody>
          <a:bodyPr wrap="square" lIns="0" tIns="0" rIns="0" bIns="0" rtlCol="0" anchor="ctr"/>
          <a:lstStyle/>
          <a:p>
            <a:pPr marL="0" indent="0">
              <a:buNone/>
            </a:pPr>
            <a:r>
              <a:rPr lang="en-US" sz="1100" b="1" kern="0" spc="150" dirty="0">
                <a:solidFill>
                  <a:srgbClr val="1E88E5"/>
                </a:solidFill>
                <a:latin typeface="Calibri" pitchFamily="34" charset="0"/>
                <a:ea typeface="Calibri" pitchFamily="34" charset="-122"/>
                <a:cs typeface="Calibri" pitchFamily="34" charset="-120"/>
              </a:rPr>
              <a:t>WHY IT WINS</a:t>
            </a:r>
            <a:endParaRPr lang="en-US" sz="1100" dirty="0"/>
          </a:p>
        </p:txBody>
      </p:sp>
      <p:sp>
        <p:nvSpPr>
          <p:cNvPr id="18" name="Shape 15"/>
          <p:cNvSpPr/>
          <p:nvPr/>
        </p:nvSpPr>
        <p:spPr>
          <a:xfrm>
            <a:off x="8805672" y="1938528"/>
            <a:ext cx="2368296" cy="0"/>
          </a:xfrm>
          <a:prstGeom prst="line">
            <a:avLst/>
          </a:prstGeom>
          <a:noFill/>
          <a:ln w="12700">
            <a:solidFill>
              <a:srgbClr val="DCE3EC"/>
            </a:solidFill>
            <a:prstDash val="solid"/>
          </a:ln>
        </p:spPr>
      </p:sp>
      <p:sp>
        <p:nvSpPr>
          <p:cNvPr id="19" name="Text 16"/>
          <p:cNvSpPr/>
          <p:nvPr/>
        </p:nvSpPr>
        <p:spPr>
          <a:xfrm>
            <a:off x="8805672" y="2084832"/>
            <a:ext cx="2368296" cy="4069080"/>
          </a:xfrm>
          <a:prstGeom prst="rect">
            <a:avLst/>
          </a:prstGeom>
          <a:noFill/>
          <a:ln/>
        </p:spPr>
        <p:txBody>
          <a:bodyPr wrap="square" lIns="0" tIns="0" rIns="0" bIns="0" rtlCol="0" anchor="t"/>
          <a:lstStyle/>
          <a:p>
            <a:pPr marL="0" indent="0">
              <a:lnSpc>
                <a:spcPct val="122000"/>
              </a:lnSpc>
              <a:buNone/>
            </a:pPr>
            <a:r>
              <a:rPr lang="en-US" sz="1200" dirty="0">
                <a:solidFill>
                  <a:srgbClr val="081A38"/>
                </a:solidFill>
                <a:latin typeface="Calibri" pitchFamily="34" charset="0"/>
                <a:ea typeface="Calibri" pitchFamily="34" charset="-122"/>
                <a:cs typeface="Calibri" pitchFamily="34" charset="-120"/>
              </a:rPr>
              <a:t>One integrated system replaces a fragmented WhatsApp + Drive + YouTube workflow. Enrollment-gated access also means course material isn't sitting on a public link anyone can forward.</a:t>
            </a:r>
            <a:endParaRPr lang="en-US" sz="1200" dirty="0"/>
          </a:p>
        </p:txBody>
      </p:sp>
      <p:sp>
        <p:nvSpPr>
          <p:cNvPr id="20" name="Text 17"/>
          <p:cNvSpPr/>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05</a:t>
            </a:r>
            <a:endParaRPr lang="en-US" sz="1000" dirty="0"/>
          </a:p>
        </p:txBody>
      </p:sp>
      <p:pic>
        <p:nvPicPr>
          <p:cNvPr id="22" name="Picture 21">
            <a:extLst>
              <a:ext uri="{FF2B5EF4-FFF2-40B4-BE49-F238E27FC236}">
                <a16:creationId xmlns:a16="http://schemas.microsoft.com/office/drawing/2014/main" id="{6995A3E8-82F4-F88C-AA48-0EC7F76DCAD5}"/>
              </a:ext>
            </a:extLst>
          </p:cNvPr>
          <p:cNvPicPr>
            <a:picLocks noChangeAspect="1"/>
          </p:cNvPicPr>
          <p:nvPr/>
        </p:nvPicPr>
        <p:blipFill>
          <a:blip r:embed="rId4">
            <a:extLst>
              <a:ext uri="{28A0092B-C50C-407E-A947-70E740481C1C}">
                <a14:useLocalDpi xmlns:a14="http://schemas.microsoft.com/office/drawing/2010/main" val="0"/>
              </a:ext>
            </a:extLst>
          </a:blip>
          <a:srcRect l="23239" t="6583" r="29481" b="11234"/>
          <a:stretch>
            <a:fillRect/>
          </a:stretch>
        </p:blipFill>
        <p:spPr>
          <a:xfrm>
            <a:off x="387847" y="4595037"/>
            <a:ext cx="1281703" cy="123408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0B6EF7A-3732-39A0-371A-D4D2E3475D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21373" y="685988"/>
            <a:ext cx="3698543" cy="5892233"/>
          </a:xfrm>
          <a:prstGeom prst="rect">
            <a:avLst/>
          </a:prstGeom>
        </p:spPr>
      </p:pic>
      <p:sp>
        <p:nvSpPr>
          <p:cNvPr id="4" name="TextBox 3">
            <a:extLst>
              <a:ext uri="{FF2B5EF4-FFF2-40B4-BE49-F238E27FC236}">
                <a16:creationId xmlns:a16="http://schemas.microsoft.com/office/drawing/2014/main" id="{A54775D1-7B99-1B87-1B19-724263C10DF3}"/>
              </a:ext>
            </a:extLst>
          </p:cNvPr>
          <p:cNvSpPr txBox="1"/>
          <p:nvPr/>
        </p:nvSpPr>
        <p:spPr>
          <a:xfrm>
            <a:off x="3951026" y="316656"/>
            <a:ext cx="3439236" cy="369332"/>
          </a:xfrm>
          <a:prstGeom prst="rect">
            <a:avLst/>
          </a:prstGeom>
          <a:noFill/>
        </p:spPr>
        <p:txBody>
          <a:bodyPr wrap="square" rtlCol="0">
            <a:spAutoFit/>
          </a:bodyPr>
          <a:lstStyle/>
          <a:p>
            <a:r>
              <a:rPr lang="en-US" b="1" dirty="0"/>
              <a:t>Course Details Screen</a:t>
            </a:r>
            <a:endParaRPr lang="en-US" dirty="0"/>
          </a:p>
        </p:txBody>
      </p:sp>
    </p:spTree>
    <p:extLst>
      <p:ext uri="{BB962C8B-B14F-4D97-AF65-F5344CB8AC3E}">
        <p14:creationId xmlns:p14="http://schemas.microsoft.com/office/powerpoint/2010/main" val="34977229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48840" cy="6858000"/>
          </a:xfrm>
          <a:prstGeom prst="rect">
            <a:avLst/>
          </a:prstGeom>
          <a:solidFill>
            <a:srgbClr val="0D2B55"/>
          </a:solidFill>
          <a:ln/>
        </p:spPr>
      </p:sp>
      <p:sp>
        <p:nvSpPr>
          <p:cNvPr id="3" name="Text 1"/>
          <p:cNvSpPr/>
          <p:nvPr/>
        </p:nvSpPr>
        <p:spPr>
          <a:xfrm>
            <a:off x="320040" y="457200"/>
            <a:ext cx="1463040" cy="914400"/>
          </a:xfrm>
          <a:prstGeom prst="rect">
            <a:avLst/>
          </a:prstGeom>
          <a:noFill/>
          <a:ln/>
        </p:spPr>
        <p:txBody>
          <a:bodyPr wrap="square" lIns="0" tIns="0" rIns="0" bIns="0" rtlCol="0" anchor="ctr"/>
          <a:lstStyle/>
          <a:p>
            <a:pPr marL="0" indent="0">
              <a:buNone/>
            </a:pPr>
            <a:r>
              <a:rPr lang="en-US" sz="4600" b="1" dirty="0">
                <a:solidFill>
                  <a:srgbClr val="1E4C86"/>
                </a:solidFill>
                <a:latin typeface="Cambria" pitchFamily="34" charset="0"/>
                <a:ea typeface="Cambria" pitchFamily="34" charset="-122"/>
                <a:cs typeface="Cambria" pitchFamily="34" charset="-120"/>
              </a:rPr>
              <a:t>03</a:t>
            </a:r>
            <a:endParaRPr lang="en-US" sz="4600" dirty="0"/>
          </a:p>
        </p:txBody>
      </p:sp>
      <p:sp>
        <p:nvSpPr>
          <p:cNvPr id="4" name="Shape 2"/>
          <p:cNvSpPr/>
          <p:nvPr/>
        </p:nvSpPr>
        <p:spPr>
          <a:xfrm>
            <a:off x="502920" y="1417320"/>
            <a:ext cx="1051560" cy="1051560"/>
          </a:xfrm>
          <a:prstGeom prst="ellipse">
            <a:avLst/>
          </a:prstGeom>
          <a:solidFill>
            <a:srgbClr val="FFFFFF"/>
          </a:solidFill>
          <a:ln/>
        </p:spPr>
      </p:sp>
      <p:pic>
        <p:nvPicPr>
          <p:cNvPr id="5" name="Image 0" descr="icons/qoe_navy.png"/>
          <p:cNvPicPr>
            <a:picLocks noChangeAspect="1"/>
          </p:cNvPicPr>
          <p:nvPr/>
        </p:nvPicPr>
        <p:blipFill>
          <a:blip r:embed="rId3"/>
          <a:stretch>
            <a:fillRect/>
          </a:stretch>
        </p:blipFill>
        <p:spPr>
          <a:xfrm>
            <a:off x="650138" y="1564538"/>
            <a:ext cx="757123" cy="757123"/>
          </a:xfrm>
          <a:prstGeom prst="rect">
            <a:avLst/>
          </a:prstGeom>
        </p:spPr>
      </p:pic>
      <p:sp>
        <p:nvSpPr>
          <p:cNvPr id="6" name="Text 3"/>
          <p:cNvSpPr/>
          <p:nvPr/>
        </p:nvSpPr>
        <p:spPr>
          <a:xfrm>
            <a:off x="320040" y="2743200"/>
            <a:ext cx="1554480" cy="822960"/>
          </a:xfrm>
          <a:prstGeom prst="rect">
            <a:avLst/>
          </a:prstGeom>
          <a:noFill/>
          <a:ln/>
        </p:spPr>
        <p:txBody>
          <a:bodyPr wrap="square" lIns="0" tIns="0" rIns="0" bIns="0" rtlCol="0" anchor="ctr"/>
          <a:lstStyle/>
          <a:p>
            <a:pPr marL="0" indent="0">
              <a:lnSpc>
                <a:spcPct val="120000"/>
              </a:lnSpc>
              <a:buNone/>
            </a:pPr>
            <a:r>
              <a:rPr lang="en-US" sz="1200" b="1" kern="0" spc="100" dirty="0">
                <a:solidFill>
                  <a:srgbClr val="26C6DA"/>
                </a:solidFill>
                <a:latin typeface="Calibri" pitchFamily="34" charset="0"/>
                <a:ea typeface="Calibri" pitchFamily="34" charset="-122"/>
                <a:cs typeface="Calibri" pitchFamily="34" charset="-120"/>
              </a:rPr>
              <a:t>CORE INNOVATION</a:t>
            </a:r>
            <a:endParaRPr lang="en-US" sz="1200" dirty="0"/>
          </a:p>
        </p:txBody>
      </p:sp>
      <p:sp>
        <p:nvSpPr>
          <p:cNvPr id="7" name="Text 4"/>
          <p:cNvSpPr/>
          <p:nvPr/>
        </p:nvSpPr>
        <p:spPr>
          <a:xfrm>
            <a:off x="2514600" y="457200"/>
            <a:ext cx="9144000" cy="822960"/>
          </a:xfrm>
          <a:prstGeom prst="rect">
            <a:avLst/>
          </a:prstGeom>
          <a:noFill/>
          <a:ln/>
        </p:spPr>
        <p:txBody>
          <a:bodyPr wrap="square" lIns="0" tIns="0" rIns="0" bIns="0" rtlCol="0" anchor="t"/>
          <a:lstStyle/>
          <a:p>
            <a:pPr marL="0" indent="0">
              <a:buNone/>
            </a:pPr>
            <a:r>
              <a:rPr lang="en-US" sz="2500" b="1" dirty="0">
                <a:solidFill>
                  <a:srgbClr val="0D2B55"/>
                </a:solidFill>
                <a:latin typeface="Cambria" pitchFamily="34" charset="0"/>
                <a:ea typeface="Cambria" pitchFamily="34" charset="-122"/>
                <a:cs typeface="Cambria" pitchFamily="34" charset="-120"/>
              </a:rPr>
              <a:t>The QoE Adaptive Engine</a:t>
            </a:r>
            <a:endParaRPr lang="en-US" sz="2500" dirty="0"/>
          </a:p>
        </p:txBody>
      </p:sp>
      <p:sp>
        <p:nvSpPr>
          <p:cNvPr id="8" name="Shape 5"/>
          <p:cNvSpPr/>
          <p:nvPr/>
        </p:nvSpPr>
        <p:spPr>
          <a:xfrm>
            <a:off x="2514600" y="1417320"/>
            <a:ext cx="2880360" cy="4892040"/>
          </a:xfrm>
          <a:prstGeom prst="roundRect">
            <a:avLst>
              <a:gd name="adj" fmla="val 2540"/>
            </a:avLst>
          </a:prstGeom>
          <a:solidFill>
            <a:srgbClr val="F5F7FA"/>
          </a:solidFill>
          <a:ln/>
          <a:effectLst>
            <a:outerShdw blurRad="127000" dist="38100" dir="5400000" algn="bl" rotWithShape="0">
              <a:srgbClr val="0D2B55">
                <a:alpha val="12000"/>
              </a:srgbClr>
            </a:outerShdw>
          </a:effectLst>
        </p:spPr>
      </p:sp>
      <p:sp>
        <p:nvSpPr>
          <p:cNvPr id="9" name="Text 6"/>
          <p:cNvSpPr/>
          <p:nvPr/>
        </p:nvSpPr>
        <p:spPr>
          <a:xfrm>
            <a:off x="2770632" y="1627632"/>
            <a:ext cx="2368296" cy="274320"/>
          </a:xfrm>
          <a:prstGeom prst="rect">
            <a:avLst/>
          </a:prstGeom>
          <a:noFill/>
          <a:ln/>
        </p:spPr>
        <p:txBody>
          <a:bodyPr wrap="square" lIns="0" tIns="0" rIns="0" bIns="0" rtlCol="0" anchor="ctr"/>
          <a:lstStyle/>
          <a:p>
            <a:pPr marL="0" indent="0">
              <a:buNone/>
            </a:pPr>
            <a:r>
              <a:rPr lang="en-US" sz="1100" b="1" kern="0" spc="150" dirty="0">
                <a:solidFill>
                  <a:srgbClr val="0D2B55"/>
                </a:solidFill>
                <a:latin typeface="Calibri" pitchFamily="34" charset="0"/>
                <a:ea typeface="Calibri" pitchFamily="34" charset="-122"/>
                <a:cs typeface="Calibri" pitchFamily="34" charset="-120"/>
              </a:rPr>
              <a:t>THE THINKING</a:t>
            </a:r>
            <a:endParaRPr lang="en-US" sz="1100" dirty="0"/>
          </a:p>
        </p:txBody>
      </p:sp>
      <p:sp>
        <p:nvSpPr>
          <p:cNvPr id="10" name="Shape 7"/>
          <p:cNvSpPr/>
          <p:nvPr/>
        </p:nvSpPr>
        <p:spPr>
          <a:xfrm>
            <a:off x="2770632" y="1938528"/>
            <a:ext cx="2368296" cy="0"/>
          </a:xfrm>
          <a:prstGeom prst="line">
            <a:avLst/>
          </a:prstGeom>
          <a:noFill/>
          <a:ln w="12700">
            <a:solidFill>
              <a:srgbClr val="DCE3EC"/>
            </a:solidFill>
            <a:prstDash val="solid"/>
          </a:ln>
        </p:spPr>
      </p:sp>
      <p:sp>
        <p:nvSpPr>
          <p:cNvPr id="11" name="Text 8"/>
          <p:cNvSpPr/>
          <p:nvPr/>
        </p:nvSpPr>
        <p:spPr>
          <a:xfrm>
            <a:off x="2770632" y="2084832"/>
            <a:ext cx="2368296" cy="4069080"/>
          </a:xfrm>
          <a:prstGeom prst="rect">
            <a:avLst/>
          </a:prstGeom>
          <a:noFill/>
          <a:ln/>
        </p:spPr>
        <p:txBody>
          <a:bodyPr wrap="square" lIns="0" tIns="0" rIns="0" bIns="0" rtlCol="0" anchor="t"/>
          <a:lstStyle/>
          <a:p>
            <a:pPr marL="0" indent="0">
              <a:lnSpc>
                <a:spcPct val="122000"/>
              </a:lnSpc>
              <a:buNone/>
            </a:pPr>
            <a:r>
              <a:rPr lang="en-US" sz="1200" dirty="0">
                <a:solidFill>
                  <a:srgbClr val="1A1A1A"/>
                </a:solidFill>
                <a:latin typeface="Calibri" pitchFamily="34" charset="0"/>
                <a:ea typeface="Calibri" pitchFamily="34" charset="-122"/>
                <a:cs typeface="Calibri" pitchFamily="34" charset="-120"/>
              </a:rPr>
              <a:t>Reverse-engineering Zoom, Meet and YouTube showed the same gap in all of them: when a network degrades, the platform just buffers or freezes. None of them make an active decision to protect the learning session.</a:t>
            </a:r>
            <a:endParaRPr lang="en-US" sz="1200" dirty="0"/>
          </a:p>
        </p:txBody>
      </p:sp>
      <p:sp>
        <p:nvSpPr>
          <p:cNvPr id="12" name="Shape 9"/>
          <p:cNvSpPr/>
          <p:nvPr/>
        </p:nvSpPr>
        <p:spPr>
          <a:xfrm>
            <a:off x="5532120" y="1417320"/>
            <a:ext cx="2880360" cy="4892040"/>
          </a:xfrm>
          <a:prstGeom prst="roundRect">
            <a:avLst>
              <a:gd name="adj" fmla="val 2540"/>
            </a:avLst>
          </a:prstGeom>
          <a:solidFill>
            <a:srgbClr val="F5F7FA"/>
          </a:solidFill>
          <a:ln/>
          <a:effectLst>
            <a:outerShdw blurRad="127000" dist="38100" dir="5400000" algn="bl" rotWithShape="0">
              <a:srgbClr val="0D2B55">
                <a:alpha val="12000"/>
              </a:srgbClr>
            </a:outerShdw>
          </a:effectLst>
        </p:spPr>
      </p:sp>
      <p:sp>
        <p:nvSpPr>
          <p:cNvPr id="13" name="Text 10"/>
          <p:cNvSpPr/>
          <p:nvPr/>
        </p:nvSpPr>
        <p:spPr>
          <a:xfrm>
            <a:off x="5788152" y="1627632"/>
            <a:ext cx="2368296" cy="274320"/>
          </a:xfrm>
          <a:prstGeom prst="rect">
            <a:avLst/>
          </a:prstGeom>
          <a:noFill/>
          <a:ln/>
        </p:spPr>
        <p:txBody>
          <a:bodyPr wrap="square" lIns="0" tIns="0" rIns="0" bIns="0" rtlCol="0" anchor="ctr"/>
          <a:lstStyle/>
          <a:p>
            <a:pPr marL="0" indent="0">
              <a:buNone/>
            </a:pPr>
            <a:r>
              <a:rPr lang="en-US" sz="1100" b="1" kern="0" spc="150" dirty="0">
                <a:solidFill>
                  <a:srgbClr val="0D2B55"/>
                </a:solidFill>
                <a:latin typeface="Calibri" pitchFamily="34" charset="0"/>
                <a:ea typeface="Calibri" pitchFamily="34" charset="-122"/>
                <a:cs typeface="Calibri" pitchFamily="34" charset="-120"/>
              </a:rPr>
              <a:t>DESIGN &amp; BUILD</a:t>
            </a:r>
            <a:endParaRPr lang="en-US" sz="1100" dirty="0"/>
          </a:p>
        </p:txBody>
      </p:sp>
      <p:sp>
        <p:nvSpPr>
          <p:cNvPr id="14" name="Shape 11"/>
          <p:cNvSpPr/>
          <p:nvPr/>
        </p:nvSpPr>
        <p:spPr>
          <a:xfrm>
            <a:off x="5788152" y="1938528"/>
            <a:ext cx="2368296" cy="0"/>
          </a:xfrm>
          <a:prstGeom prst="line">
            <a:avLst/>
          </a:prstGeom>
          <a:noFill/>
          <a:ln w="12700">
            <a:solidFill>
              <a:srgbClr val="DCE3EC"/>
            </a:solidFill>
            <a:prstDash val="solid"/>
          </a:ln>
        </p:spPr>
      </p:sp>
      <p:sp>
        <p:nvSpPr>
          <p:cNvPr id="15" name="Text 12"/>
          <p:cNvSpPr/>
          <p:nvPr/>
        </p:nvSpPr>
        <p:spPr>
          <a:xfrm>
            <a:off x="5788152" y="2084832"/>
            <a:ext cx="2368296" cy="4069080"/>
          </a:xfrm>
          <a:prstGeom prst="rect">
            <a:avLst/>
          </a:prstGeom>
          <a:noFill/>
          <a:ln/>
        </p:spPr>
        <p:txBody>
          <a:bodyPr wrap="square" lIns="0" tIns="0" rIns="0" bIns="0" rtlCol="0" anchor="t"/>
          <a:lstStyle/>
          <a:p>
            <a:pPr marL="0" indent="0">
              <a:lnSpc>
                <a:spcPct val="122000"/>
              </a:lnSpc>
              <a:buNone/>
            </a:pPr>
            <a:r>
              <a:rPr lang="en-US" sz="1200" dirty="0">
                <a:solidFill>
                  <a:srgbClr val="1A1A1A"/>
                </a:solidFill>
                <a:latin typeface="Calibri" pitchFamily="34" charset="0"/>
                <a:ea typeface="Calibri" pitchFamily="34" charset="-122"/>
                <a:cs typeface="Calibri" pitchFamily="34" charset="-120"/>
              </a:rPr>
              <a:t>A monitoring loop samples bandwidth, latency and packet loss every 30 seconds and selects the best-fit delivery mode: HD Video, SD Video, Audio-only, or Text - logged to a QoE table for every session.</a:t>
            </a:r>
            <a:endParaRPr lang="en-US" sz="1200" dirty="0"/>
          </a:p>
          <a:p>
            <a:pPr marL="0" indent="0">
              <a:lnSpc>
                <a:spcPct val="122000"/>
              </a:lnSpc>
              <a:buNone/>
            </a:pPr>
            <a:endParaRPr lang="en-US" sz="1200" dirty="0"/>
          </a:p>
          <a:p>
            <a:pPr marL="0" indent="0">
              <a:lnSpc>
                <a:spcPct val="122000"/>
              </a:lnSpc>
              <a:buNone/>
            </a:pPr>
            <a:r>
              <a:rPr lang="en-US" sz="1200" dirty="0">
                <a:solidFill>
                  <a:srgbClr val="1A1A1A"/>
                </a:solidFill>
                <a:latin typeface="Calibri" pitchFamily="34" charset="0"/>
                <a:ea typeface="Calibri" pitchFamily="34" charset="-122"/>
                <a:cs typeface="Calibri" pitchFamily="34" charset="-120"/>
              </a:rPr>
              <a:t>Phase 1 (shipped): live network sampling, rule-based mode selection, and full QoE logging for analytics. Phase 2 (roadmap): true multi-bitrate HLS/DASH streaming and WebRTC live adaptation.</a:t>
            </a:r>
            <a:endParaRPr lang="en-US" sz="1200" dirty="0"/>
          </a:p>
        </p:txBody>
      </p:sp>
      <p:sp>
        <p:nvSpPr>
          <p:cNvPr id="16" name="Shape 13"/>
          <p:cNvSpPr/>
          <p:nvPr/>
        </p:nvSpPr>
        <p:spPr>
          <a:xfrm>
            <a:off x="8549640" y="1417320"/>
            <a:ext cx="2880360" cy="4892040"/>
          </a:xfrm>
          <a:prstGeom prst="roundRect">
            <a:avLst>
              <a:gd name="adj" fmla="val 2540"/>
            </a:avLst>
          </a:prstGeom>
          <a:solidFill>
            <a:srgbClr val="EAF4FB"/>
          </a:solidFill>
          <a:ln/>
          <a:effectLst>
            <a:outerShdw blurRad="127000" dist="38100" dir="5400000" algn="bl" rotWithShape="0">
              <a:srgbClr val="0D2B55">
                <a:alpha val="12000"/>
              </a:srgbClr>
            </a:outerShdw>
          </a:effectLst>
        </p:spPr>
      </p:sp>
      <p:sp>
        <p:nvSpPr>
          <p:cNvPr id="17" name="Text 14"/>
          <p:cNvSpPr/>
          <p:nvPr/>
        </p:nvSpPr>
        <p:spPr>
          <a:xfrm>
            <a:off x="8805672" y="1627632"/>
            <a:ext cx="2368296" cy="274320"/>
          </a:xfrm>
          <a:prstGeom prst="rect">
            <a:avLst/>
          </a:prstGeom>
          <a:noFill/>
          <a:ln/>
        </p:spPr>
        <p:txBody>
          <a:bodyPr wrap="square" lIns="0" tIns="0" rIns="0" bIns="0" rtlCol="0" anchor="ctr"/>
          <a:lstStyle/>
          <a:p>
            <a:pPr marL="0" indent="0">
              <a:buNone/>
            </a:pPr>
            <a:r>
              <a:rPr lang="en-US" sz="1100" b="1" kern="0" spc="150" dirty="0">
                <a:solidFill>
                  <a:srgbClr val="1E88E5"/>
                </a:solidFill>
                <a:latin typeface="Calibri" pitchFamily="34" charset="0"/>
                <a:ea typeface="Calibri" pitchFamily="34" charset="-122"/>
                <a:cs typeface="Calibri" pitchFamily="34" charset="-120"/>
              </a:rPr>
              <a:t>WHY IT WINS</a:t>
            </a:r>
            <a:endParaRPr lang="en-US" sz="1100" dirty="0"/>
          </a:p>
        </p:txBody>
      </p:sp>
      <p:sp>
        <p:nvSpPr>
          <p:cNvPr id="18" name="Shape 15"/>
          <p:cNvSpPr/>
          <p:nvPr/>
        </p:nvSpPr>
        <p:spPr>
          <a:xfrm>
            <a:off x="8805672" y="1938528"/>
            <a:ext cx="2368296" cy="0"/>
          </a:xfrm>
          <a:prstGeom prst="line">
            <a:avLst/>
          </a:prstGeom>
          <a:noFill/>
          <a:ln w="12700">
            <a:solidFill>
              <a:srgbClr val="DCE3EC"/>
            </a:solidFill>
            <a:prstDash val="solid"/>
          </a:ln>
        </p:spPr>
      </p:sp>
      <p:sp>
        <p:nvSpPr>
          <p:cNvPr id="19" name="Text 16"/>
          <p:cNvSpPr/>
          <p:nvPr/>
        </p:nvSpPr>
        <p:spPr>
          <a:xfrm>
            <a:off x="8805672" y="2084832"/>
            <a:ext cx="2368296" cy="4069080"/>
          </a:xfrm>
          <a:prstGeom prst="rect">
            <a:avLst/>
          </a:prstGeom>
          <a:noFill/>
          <a:ln/>
        </p:spPr>
        <p:txBody>
          <a:bodyPr wrap="square" lIns="0" tIns="0" rIns="0" bIns="0" rtlCol="0" anchor="t"/>
          <a:lstStyle/>
          <a:p>
            <a:pPr marL="0" indent="0">
              <a:lnSpc>
                <a:spcPct val="122000"/>
              </a:lnSpc>
              <a:buNone/>
            </a:pPr>
            <a:r>
              <a:rPr lang="en-US" sz="1200" dirty="0">
                <a:solidFill>
                  <a:srgbClr val="081A38"/>
                </a:solidFill>
                <a:latin typeface="Calibri" pitchFamily="34" charset="0"/>
                <a:ea typeface="Calibri" pitchFamily="34" charset="-122"/>
                <a:cs typeface="Calibri" pitchFamily="34" charset="-120"/>
              </a:rPr>
              <a:t>EduStream is the only platform of the six we studied that treats degraded connectivity as a signal to act on, not an error to display. We're shipping the decision engine now and scaling it to full adaptive streaming next.</a:t>
            </a:r>
            <a:endParaRPr lang="en-US" sz="1200" dirty="0"/>
          </a:p>
        </p:txBody>
      </p:sp>
      <p:sp>
        <p:nvSpPr>
          <p:cNvPr id="20" name="Text 17"/>
          <p:cNvSpPr/>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06</a:t>
            </a:r>
            <a:endParaRPr lang="en-US" sz="1000" dirty="0"/>
          </a:p>
        </p:txBody>
      </p:sp>
      <p:pic>
        <p:nvPicPr>
          <p:cNvPr id="22" name="Picture 21">
            <a:extLst>
              <a:ext uri="{FF2B5EF4-FFF2-40B4-BE49-F238E27FC236}">
                <a16:creationId xmlns:a16="http://schemas.microsoft.com/office/drawing/2014/main" id="{FB2C93B0-1153-0AAB-068F-38060F47E415}"/>
              </a:ext>
            </a:extLst>
          </p:cNvPr>
          <p:cNvPicPr>
            <a:picLocks noChangeAspect="1"/>
          </p:cNvPicPr>
          <p:nvPr/>
        </p:nvPicPr>
        <p:blipFill>
          <a:blip r:embed="rId4">
            <a:extLst>
              <a:ext uri="{28A0092B-C50C-407E-A947-70E740481C1C}">
                <a14:useLocalDpi xmlns:a14="http://schemas.microsoft.com/office/drawing/2010/main" val="0"/>
              </a:ext>
            </a:extLst>
          </a:blip>
          <a:srcRect l="23239" t="6583" r="29481" b="11234"/>
          <a:stretch>
            <a:fillRect/>
          </a:stretch>
        </p:blipFill>
        <p:spPr>
          <a:xfrm>
            <a:off x="6445748" y="87045"/>
            <a:ext cx="1281703" cy="123408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48840" cy="6858000"/>
          </a:xfrm>
          <a:prstGeom prst="rect">
            <a:avLst/>
          </a:prstGeom>
          <a:solidFill>
            <a:srgbClr val="0D2B55"/>
          </a:solidFill>
          <a:ln/>
        </p:spPr>
      </p:sp>
      <p:sp>
        <p:nvSpPr>
          <p:cNvPr id="3" name="Text 1"/>
          <p:cNvSpPr/>
          <p:nvPr/>
        </p:nvSpPr>
        <p:spPr>
          <a:xfrm>
            <a:off x="320040" y="457200"/>
            <a:ext cx="1463040" cy="914400"/>
          </a:xfrm>
          <a:prstGeom prst="rect">
            <a:avLst/>
          </a:prstGeom>
          <a:noFill/>
          <a:ln/>
        </p:spPr>
        <p:txBody>
          <a:bodyPr wrap="square" lIns="0" tIns="0" rIns="0" bIns="0" rtlCol="0" anchor="ctr"/>
          <a:lstStyle/>
          <a:p>
            <a:pPr marL="0" indent="0">
              <a:buNone/>
            </a:pPr>
            <a:r>
              <a:rPr lang="en-US" sz="4600" b="1" dirty="0">
                <a:solidFill>
                  <a:srgbClr val="1E4C86"/>
                </a:solidFill>
                <a:latin typeface="Cambria" pitchFamily="34" charset="0"/>
                <a:ea typeface="Cambria" pitchFamily="34" charset="-122"/>
                <a:cs typeface="Cambria" pitchFamily="34" charset="-120"/>
              </a:rPr>
              <a:t>04</a:t>
            </a:r>
            <a:endParaRPr lang="en-US" sz="4600" dirty="0"/>
          </a:p>
        </p:txBody>
      </p:sp>
      <p:sp>
        <p:nvSpPr>
          <p:cNvPr id="4" name="Shape 2"/>
          <p:cNvSpPr/>
          <p:nvPr/>
        </p:nvSpPr>
        <p:spPr>
          <a:xfrm>
            <a:off x="502920" y="1417320"/>
            <a:ext cx="1051560" cy="1051560"/>
          </a:xfrm>
          <a:prstGeom prst="ellipse">
            <a:avLst/>
          </a:prstGeom>
          <a:solidFill>
            <a:srgbClr val="FFFFFF"/>
          </a:solidFill>
          <a:ln/>
        </p:spPr>
      </p:sp>
      <p:pic>
        <p:nvPicPr>
          <p:cNvPr id="5" name="Image 0" descr="icons/comms_navy.png"/>
          <p:cNvPicPr>
            <a:picLocks noChangeAspect="1"/>
          </p:cNvPicPr>
          <p:nvPr/>
        </p:nvPicPr>
        <p:blipFill>
          <a:blip r:embed="rId3"/>
          <a:stretch>
            <a:fillRect/>
          </a:stretch>
        </p:blipFill>
        <p:spPr>
          <a:xfrm>
            <a:off x="650138" y="1564538"/>
            <a:ext cx="757123" cy="757123"/>
          </a:xfrm>
          <a:prstGeom prst="rect">
            <a:avLst/>
          </a:prstGeom>
        </p:spPr>
      </p:pic>
      <p:sp>
        <p:nvSpPr>
          <p:cNvPr id="6" name="Text 3"/>
          <p:cNvSpPr/>
          <p:nvPr/>
        </p:nvSpPr>
        <p:spPr>
          <a:xfrm>
            <a:off x="320040" y="2743200"/>
            <a:ext cx="1554480" cy="822960"/>
          </a:xfrm>
          <a:prstGeom prst="rect">
            <a:avLst/>
          </a:prstGeom>
          <a:noFill/>
          <a:ln/>
        </p:spPr>
        <p:txBody>
          <a:bodyPr wrap="square" lIns="0" tIns="0" rIns="0" bIns="0" rtlCol="0" anchor="ctr"/>
          <a:lstStyle/>
          <a:p>
            <a:pPr marL="0" indent="0">
              <a:lnSpc>
                <a:spcPct val="120000"/>
              </a:lnSpc>
              <a:buNone/>
            </a:pPr>
            <a:r>
              <a:rPr lang="en-US" sz="1200" b="1" kern="0" spc="100" dirty="0">
                <a:solidFill>
                  <a:srgbClr val="26C6DA"/>
                </a:solidFill>
                <a:latin typeface="Calibri" pitchFamily="34" charset="0"/>
                <a:ea typeface="Calibri" pitchFamily="34" charset="-122"/>
                <a:cs typeface="Calibri" pitchFamily="34" charset="-120"/>
              </a:rPr>
              <a:t>ENGAGEMENT</a:t>
            </a:r>
            <a:endParaRPr lang="en-US" sz="1200" dirty="0"/>
          </a:p>
        </p:txBody>
      </p:sp>
      <p:sp>
        <p:nvSpPr>
          <p:cNvPr id="7" name="Text 4"/>
          <p:cNvSpPr/>
          <p:nvPr/>
        </p:nvSpPr>
        <p:spPr>
          <a:xfrm>
            <a:off x="2514600" y="457200"/>
            <a:ext cx="9144000" cy="822960"/>
          </a:xfrm>
          <a:prstGeom prst="rect">
            <a:avLst/>
          </a:prstGeom>
          <a:noFill/>
          <a:ln/>
        </p:spPr>
        <p:txBody>
          <a:bodyPr wrap="square" lIns="0" tIns="0" rIns="0" bIns="0" rtlCol="0" anchor="t"/>
          <a:lstStyle/>
          <a:p>
            <a:pPr marL="0" indent="0">
              <a:buNone/>
            </a:pPr>
            <a:r>
              <a:rPr lang="en-US" sz="2500" b="1" dirty="0">
                <a:solidFill>
                  <a:srgbClr val="0D2B55"/>
                </a:solidFill>
                <a:latin typeface="Cambria" pitchFamily="34" charset="0"/>
                <a:ea typeface="Cambria" pitchFamily="34" charset="-122"/>
                <a:cs typeface="Cambria" pitchFamily="34" charset="-120"/>
              </a:rPr>
              <a:t>Real-Time Messaging &amp; Notifications</a:t>
            </a:r>
            <a:endParaRPr lang="en-US" sz="2500" dirty="0"/>
          </a:p>
        </p:txBody>
      </p:sp>
      <p:sp>
        <p:nvSpPr>
          <p:cNvPr id="8" name="Shape 5"/>
          <p:cNvSpPr/>
          <p:nvPr/>
        </p:nvSpPr>
        <p:spPr>
          <a:xfrm>
            <a:off x="2514600" y="1417320"/>
            <a:ext cx="2880360" cy="4892040"/>
          </a:xfrm>
          <a:prstGeom prst="roundRect">
            <a:avLst>
              <a:gd name="adj" fmla="val 2540"/>
            </a:avLst>
          </a:prstGeom>
          <a:solidFill>
            <a:srgbClr val="F5F7FA"/>
          </a:solidFill>
          <a:ln/>
          <a:effectLst>
            <a:outerShdw blurRad="127000" dist="38100" dir="5400000" algn="bl" rotWithShape="0">
              <a:srgbClr val="0D2B55">
                <a:alpha val="12000"/>
              </a:srgbClr>
            </a:outerShdw>
          </a:effectLst>
        </p:spPr>
      </p:sp>
      <p:sp>
        <p:nvSpPr>
          <p:cNvPr id="9" name="Text 6"/>
          <p:cNvSpPr/>
          <p:nvPr/>
        </p:nvSpPr>
        <p:spPr>
          <a:xfrm>
            <a:off x="2770632" y="1627632"/>
            <a:ext cx="2368296" cy="274320"/>
          </a:xfrm>
          <a:prstGeom prst="rect">
            <a:avLst/>
          </a:prstGeom>
          <a:noFill/>
          <a:ln/>
        </p:spPr>
        <p:txBody>
          <a:bodyPr wrap="square" lIns="0" tIns="0" rIns="0" bIns="0" rtlCol="0" anchor="ctr"/>
          <a:lstStyle/>
          <a:p>
            <a:pPr marL="0" indent="0">
              <a:buNone/>
            </a:pPr>
            <a:r>
              <a:rPr lang="en-US" sz="1100" b="1" kern="0" spc="150" dirty="0">
                <a:solidFill>
                  <a:srgbClr val="0D2B55"/>
                </a:solidFill>
                <a:latin typeface="Calibri" pitchFamily="34" charset="0"/>
                <a:ea typeface="Calibri" pitchFamily="34" charset="-122"/>
                <a:cs typeface="Calibri" pitchFamily="34" charset="-120"/>
              </a:rPr>
              <a:t>THE THINKING</a:t>
            </a:r>
            <a:endParaRPr lang="en-US" sz="1100" dirty="0"/>
          </a:p>
        </p:txBody>
      </p:sp>
      <p:sp>
        <p:nvSpPr>
          <p:cNvPr id="10" name="Shape 7"/>
          <p:cNvSpPr/>
          <p:nvPr/>
        </p:nvSpPr>
        <p:spPr>
          <a:xfrm>
            <a:off x="2770632" y="1938528"/>
            <a:ext cx="2368296" cy="0"/>
          </a:xfrm>
          <a:prstGeom prst="line">
            <a:avLst/>
          </a:prstGeom>
          <a:noFill/>
          <a:ln w="12700">
            <a:solidFill>
              <a:srgbClr val="DCE3EC"/>
            </a:solidFill>
            <a:prstDash val="solid"/>
          </a:ln>
        </p:spPr>
      </p:sp>
      <p:sp>
        <p:nvSpPr>
          <p:cNvPr id="11" name="Text 8"/>
          <p:cNvSpPr/>
          <p:nvPr/>
        </p:nvSpPr>
        <p:spPr>
          <a:xfrm>
            <a:off x="2770632" y="2084832"/>
            <a:ext cx="2368296" cy="4069080"/>
          </a:xfrm>
          <a:prstGeom prst="rect">
            <a:avLst/>
          </a:prstGeom>
          <a:noFill/>
          <a:ln/>
        </p:spPr>
        <p:txBody>
          <a:bodyPr wrap="square" lIns="0" tIns="0" rIns="0" bIns="0" rtlCol="0" anchor="t"/>
          <a:lstStyle/>
          <a:p>
            <a:pPr marL="0" indent="0">
              <a:lnSpc>
                <a:spcPct val="122000"/>
              </a:lnSpc>
              <a:buNone/>
            </a:pPr>
            <a:r>
              <a:rPr lang="en-US" sz="1200" dirty="0">
                <a:solidFill>
                  <a:srgbClr val="1A1A1A"/>
                </a:solidFill>
                <a:latin typeface="Calibri" pitchFamily="34" charset="0"/>
                <a:ea typeface="Calibri" pitchFamily="34" charset="-122"/>
                <a:cs typeface="Calibri" pitchFamily="34" charset="-120"/>
              </a:rPr>
              <a:t>Instructors said broadcast-only WhatsApp groups make it impossible to reach a specific student, and students said they miss deadlines buried in group chat noise.</a:t>
            </a:r>
            <a:endParaRPr lang="en-US" sz="1200" dirty="0"/>
          </a:p>
        </p:txBody>
      </p:sp>
      <p:sp>
        <p:nvSpPr>
          <p:cNvPr id="12" name="Shape 9"/>
          <p:cNvSpPr/>
          <p:nvPr/>
        </p:nvSpPr>
        <p:spPr>
          <a:xfrm>
            <a:off x="5532120" y="1417320"/>
            <a:ext cx="2880360" cy="4892040"/>
          </a:xfrm>
          <a:prstGeom prst="roundRect">
            <a:avLst>
              <a:gd name="adj" fmla="val 2540"/>
            </a:avLst>
          </a:prstGeom>
          <a:solidFill>
            <a:srgbClr val="F5F7FA"/>
          </a:solidFill>
          <a:ln/>
          <a:effectLst>
            <a:outerShdw blurRad="127000" dist="38100" dir="5400000" algn="bl" rotWithShape="0">
              <a:srgbClr val="0D2B55">
                <a:alpha val="12000"/>
              </a:srgbClr>
            </a:outerShdw>
          </a:effectLst>
        </p:spPr>
      </p:sp>
      <p:sp>
        <p:nvSpPr>
          <p:cNvPr id="13" name="Text 10"/>
          <p:cNvSpPr/>
          <p:nvPr/>
        </p:nvSpPr>
        <p:spPr>
          <a:xfrm>
            <a:off x="5788152" y="1627632"/>
            <a:ext cx="2368296" cy="274320"/>
          </a:xfrm>
          <a:prstGeom prst="rect">
            <a:avLst/>
          </a:prstGeom>
          <a:noFill/>
          <a:ln/>
        </p:spPr>
        <p:txBody>
          <a:bodyPr wrap="square" lIns="0" tIns="0" rIns="0" bIns="0" rtlCol="0" anchor="ctr"/>
          <a:lstStyle/>
          <a:p>
            <a:pPr marL="0" indent="0">
              <a:buNone/>
            </a:pPr>
            <a:r>
              <a:rPr lang="en-US" sz="1100" b="1" kern="0" spc="150" dirty="0">
                <a:solidFill>
                  <a:srgbClr val="0D2B55"/>
                </a:solidFill>
                <a:latin typeface="Calibri" pitchFamily="34" charset="0"/>
                <a:ea typeface="Calibri" pitchFamily="34" charset="-122"/>
                <a:cs typeface="Calibri" pitchFamily="34" charset="-120"/>
              </a:rPr>
              <a:t>DESIGN &amp; BUILD</a:t>
            </a:r>
            <a:endParaRPr lang="en-US" sz="1100" dirty="0"/>
          </a:p>
        </p:txBody>
      </p:sp>
      <p:sp>
        <p:nvSpPr>
          <p:cNvPr id="14" name="Shape 11"/>
          <p:cNvSpPr/>
          <p:nvPr/>
        </p:nvSpPr>
        <p:spPr>
          <a:xfrm>
            <a:off x="5788152" y="1938528"/>
            <a:ext cx="2368296" cy="0"/>
          </a:xfrm>
          <a:prstGeom prst="line">
            <a:avLst/>
          </a:prstGeom>
          <a:noFill/>
          <a:ln w="12700">
            <a:solidFill>
              <a:srgbClr val="DCE3EC"/>
            </a:solidFill>
            <a:prstDash val="solid"/>
          </a:ln>
        </p:spPr>
      </p:sp>
      <p:sp>
        <p:nvSpPr>
          <p:cNvPr id="15" name="Text 12"/>
          <p:cNvSpPr/>
          <p:nvPr/>
        </p:nvSpPr>
        <p:spPr>
          <a:xfrm>
            <a:off x="5788152" y="2084832"/>
            <a:ext cx="2368296" cy="4069080"/>
          </a:xfrm>
          <a:prstGeom prst="rect">
            <a:avLst/>
          </a:prstGeom>
          <a:noFill/>
          <a:ln/>
        </p:spPr>
        <p:txBody>
          <a:bodyPr wrap="square" lIns="0" tIns="0" rIns="0" bIns="0" rtlCol="0" anchor="t"/>
          <a:lstStyle/>
          <a:p>
            <a:pPr marL="0" indent="0">
              <a:lnSpc>
                <a:spcPct val="122000"/>
              </a:lnSpc>
              <a:buNone/>
            </a:pPr>
            <a:r>
              <a:rPr lang="en-US" sz="1200" dirty="0">
                <a:solidFill>
                  <a:srgbClr val="1A1A1A"/>
                </a:solidFill>
                <a:latin typeface="Calibri" pitchFamily="34" charset="0"/>
                <a:ea typeface="Calibri" pitchFamily="34" charset="-122"/>
                <a:cs typeface="Calibri" pitchFamily="34" charset="-120"/>
              </a:rPr>
              <a:t>Direct instructor-student messaging plus automatic, targeted notifications for assignments, live classes, quizzes and announcements.</a:t>
            </a:r>
            <a:endParaRPr lang="en-US" sz="1200" dirty="0"/>
          </a:p>
          <a:p>
            <a:pPr marL="0" indent="0">
              <a:lnSpc>
                <a:spcPct val="122000"/>
              </a:lnSpc>
              <a:buNone/>
            </a:pPr>
            <a:endParaRPr lang="en-US" sz="1200" dirty="0"/>
          </a:p>
          <a:p>
            <a:pPr marL="0" indent="0">
              <a:lnSpc>
                <a:spcPct val="122000"/>
              </a:lnSpc>
              <a:buNone/>
            </a:pPr>
            <a:r>
              <a:rPr lang="en-US" sz="1200" dirty="0">
                <a:solidFill>
                  <a:srgbClr val="1A1A1A"/>
                </a:solidFill>
                <a:latin typeface="Calibri" pitchFamily="34" charset="0"/>
                <a:ea typeface="Calibri" pitchFamily="34" charset="-122"/>
                <a:cs typeface="Calibri" pitchFamily="34" charset="-120"/>
              </a:rPr>
              <a:t>Supabase Realtime (WebSocket channels) pushes updates instantly; database triggers auto-generate notifications the moment an event occurs - no manual broadcasting.</a:t>
            </a:r>
            <a:endParaRPr lang="en-US" sz="1200" dirty="0"/>
          </a:p>
        </p:txBody>
      </p:sp>
      <p:sp>
        <p:nvSpPr>
          <p:cNvPr id="16" name="Shape 13"/>
          <p:cNvSpPr/>
          <p:nvPr/>
        </p:nvSpPr>
        <p:spPr>
          <a:xfrm>
            <a:off x="8549640" y="1417320"/>
            <a:ext cx="2880360" cy="4892040"/>
          </a:xfrm>
          <a:prstGeom prst="roundRect">
            <a:avLst>
              <a:gd name="adj" fmla="val 2540"/>
            </a:avLst>
          </a:prstGeom>
          <a:solidFill>
            <a:srgbClr val="EAF4FB"/>
          </a:solidFill>
          <a:ln/>
          <a:effectLst>
            <a:outerShdw blurRad="127000" dist="38100" dir="5400000" algn="bl" rotWithShape="0">
              <a:srgbClr val="0D2B55">
                <a:alpha val="12000"/>
              </a:srgbClr>
            </a:outerShdw>
          </a:effectLst>
        </p:spPr>
      </p:sp>
      <p:sp>
        <p:nvSpPr>
          <p:cNvPr id="17" name="Text 14"/>
          <p:cNvSpPr/>
          <p:nvPr/>
        </p:nvSpPr>
        <p:spPr>
          <a:xfrm>
            <a:off x="8805672" y="1627632"/>
            <a:ext cx="2368296" cy="274320"/>
          </a:xfrm>
          <a:prstGeom prst="rect">
            <a:avLst/>
          </a:prstGeom>
          <a:noFill/>
          <a:ln/>
        </p:spPr>
        <p:txBody>
          <a:bodyPr wrap="square" lIns="0" tIns="0" rIns="0" bIns="0" rtlCol="0" anchor="ctr"/>
          <a:lstStyle/>
          <a:p>
            <a:pPr marL="0" indent="0">
              <a:buNone/>
            </a:pPr>
            <a:r>
              <a:rPr lang="en-US" sz="1100" b="1" kern="0" spc="150" dirty="0">
                <a:solidFill>
                  <a:srgbClr val="1E88E5"/>
                </a:solidFill>
                <a:latin typeface="Calibri" pitchFamily="34" charset="0"/>
                <a:ea typeface="Calibri" pitchFamily="34" charset="-122"/>
                <a:cs typeface="Calibri" pitchFamily="34" charset="-120"/>
              </a:rPr>
              <a:t>WHY IT WINS</a:t>
            </a:r>
            <a:endParaRPr lang="en-US" sz="1100" dirty="0"/>
          </a:p>
        </p:txBody>
      </p:sp>
      <p:sp>
        <p:nvSpPr>
          <p:cNvPr id="18" name="Shape 15"/>
          <p:cNvSpPr/>
          <p:nvPr/>
        </p:nvSpPr>
        <p:spPr>
          <a:xfrm>
            <a:off x="8805672" y="1938528"/>
            <a:ext cx="2368296" cy="0"/>
          </a:xfrm>
          <a:prstGeom prst="line">
            <a:avLst/>
          </a:prstGeom>
          <a:noFill/>
          <a:ln w="12700">
            <a:solidFill>
              <a:srgbClr val="DCE3EC"/>
            </a:solidFill>
            <a:prstDash val="solid"/>
          </a:ln>
        </p:spPr>
      </p:sp>
      <p:sp>
        <p:nvSpPr>
          <p:cNvPr id="19" name="Text 16"/>
          <p:cNvSpPr/>
          <p:nvPr/>
        </p:nvSpPr>
        <p:spPr>
          <a:xfrm>
            <a:off x="8805672" y="2084832"/>
            <a:ext cx="2368296" cy="4069080"/>
          </a:xfrm>
          <a:prstGeom prst="rect">
            <a:avLst/>
          </a:prstGeom>
          <a:noFill/>
          <a:ln/>
        </p:spPr>
        <p:txBody>
          <a:bodyPr wrap="square" lIns="0" tIns="0" rIns="0" bIns="0" rtlCol="0" anchor="t"/>
          <a:lstStyle/>
          <a:p>
            <a:pPr marL="0" indent="0">
              <a:lnSpc>
                <a:spcPct val="122000"/>
              </a:lnSpc>
              <a:buNone/>
            </a:pPr>
            <a:r>
              <a:rPr lang="en-US" sz="1200" dirty="0">
                <a:solidFill>
                  <a:srgbClr val="081A38"/>
                </a:solidFill>
                <a:latin typeface="Calibri" pitchFamily="34" charset="0"/>
                <a:ea typeface="Calibri" pitchFamily="34" charset="-122"/>
                <a:cs typeface="Calibri" pitchFamily="34" charset="-120"/>
              </a:rPr>
              <a:t>Unlike a WhatsApp group where messages disappear into scroll and everyone sees everything, EduStream delivers targeted, timestamped, auditable communication tied directly to the course record.</a:t>
            </a:r>
            <a:endParaRPr lang="en-US" sz="1200" dirty="0"/>
          </a:p>
        </p:txBody>
      </p:sp>
      <p:sp>
        <p:nvSpPr>
          <p:cNvPr id="20" name="Text 17"/>
          <p:cNvSpPr/>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48840" cy="6858000"/>
          </a:xfrm>
          <a:prstGeom prst="rect">
            <a:avLst/>
          </a:prstGeom>
          <a:solidFill>
            <a:srgbClr val="0D2B55"/>
          </a:solidFill>
          <a:ln/>
        </p:spPr>
      </p:sp>
      <p:sp>
        <p:nvSpPr>
          <p:cNvPr id="3" name="Text 1"/>
          <p:cNvSpPr/>
          <p:nvPr/>
        </p:nvSpPr>
        <p:spPr>
          <a:xfrm>
            <a:off x="320040" y="457200"/>
            <a:ext cx="1463040" cy="914400"/>
          </a:xfrm>
          <a:prstGeom prst="rect">
            <a:avLst/>
          </a:prstGeom>
          <a:noFill/>
          <a:ln/>
        </p:spPr>
        <p:txBody>
          <a:bodyPr wrap="square" lIns="0" tIns="0" rIns="0" bIns="0" rtlCol="0" anchor="ctr"/>
          <a:lstStyle/>
          <a:p>
            <a:pPr marL="0" indent="0">
              <a:buNone/>
            </a:pPr>
            <a:r>
              <a:rPr lang="en-US" sz="4600" b="1" dirty="0">
                <a:solidFill>
                  <a:srgbClr val="1E4C86"/>
                </a:solidFill>
                <a:latin typeface="Cambria" pitchFamily="34" charset="0"/>
                <a:ea typeface="Cambria" pitchFamily="34" charset="-122"/>
                <a:cs typeface="Cambria" pitchFamily="34" charset="-120"/>
              </a:rPr>
              <a:t>05</a:t>
            </a:r>
            <a:endParaRPr lang="en-US" sz="4600" dirty="0"/>
          </a:p>
        </p:txBody>
      </p:sp>
      <p:sp>
        <p:nvSpPr>
          <p:cNvPr id="4" name="Shape 2"/>
          <p:cNvSpPr/>
          <p:nvPr/>
        </p:nvSpPr>
        <p:spPr>
          <a:xfrm>
            <a:off x="502920" y="1417320"/>
            <a:ext cx="1051560" cy="1051560"/>
          </a:xfrm>
          <a:prstGeom prst="ellipse">
            <a:avLst/>
          </a:prstGeom>
          <a:solidFill>
            <a:srgbClr val="FFFFFF"/>
          </a:solidFill>
          <a:ln/>
        </p:spPr>
      </p:sp>
      <p:pic>
        <p:nvPicPr>
          <p:cNvPr id="5" name="Image 0" descr="icons/analytics_navy.png"/>
          <p:cNvPicPr>
            <a:picLocks noChangeAspect="1"/>
          </p:cNvPicPr>
          <p:nvPr/>
        </p:nvPicPr>
        <p:blipFill>
          <a:blip r:embed="rId3"/>
          <a:stretch>
            <a:fillRect/>
          </a:stretch>
        </p:blipFill>
        <p:spPr>
          <a:xfrm>
            <a:off x="650138" y="1564538"/>
            <a:ext cx="757123" cy="757123"/>
          </a:xfrm>
          <a:prstGeom prst="rect">
            <a:avLst/>
          </a:prstGeom>
        </p:spPr>
      </p:pic>
      <p:sp>
        <p:nvSpPr>
          <p:cNvPr id="6" name="Text 3"/>
          <p:cNvSpPr/>
          <p:nvPr/>
        </p:nvSpPr>
        <p:spPr>
          <a:xfrm>
            <a:off x="320040" y="2743200"/>
            <a:ext cx="1554480" cy="822960"/>
          </a:xfrm>
          <a:prstGeom prst="rect">
            <a:avLst/>
          </a:prstGeom>
          <a:noFill/>
          <a:ln/>
        </p:spPr>
        <p:txBody>
          <a:bodyPr wrap="square" lIns="0" tIns="0" rIns="0" bIns="0" rtlCol="0" anchor="ctr"/>
          <a:lstStyle/>
          <a:p>
            <a:pPr marL="0" indent="0">
              <a:lnSpc>
                <a:spcPct val="120000"/>
              </a:lnSpc>
              <a:buNone/>
            </a:pPr>
            <a:r>
              <a:rPr lang="en-US" sz="1200" b="1" kern="0" spc="100" dirty="0">
                <a:solidFill>
                  <a:srgbClr val="26C6DA"/>
                </a:solidFill>
                <a:latin typeface="Calibri" pitchFamily="34" charset="0"/>
                <a:ea typeface="Calibri" pitchFamily="34" charset="-122"/>
                <a:cs typeface="Calibri" pitchFamily="34" charset="-120"/>
              </a:rPr>
              <a:t>VISIBILITY</a:t>
            </a:r>
            <a:endParaRPr lang="en-US" sz="1200" dirty="0"/>
          </a:p>
        </p:txBody>
      </p:sp>
      <p:sp>
        <p:nvSpPr>
          <p:cNvPr id="7" name="Text 4"/>
          <p:cNvSpPr/>
          <p:nvPr/>
        </p:nvSpPr>
        <p:spPr>
          <a:xfrm>
            <a:off x="2514600" y="457200"/>
            <a:ext cx="9144000" cy="822960"/>
          </a:xfrm>
          <a:prstGeom prst="rect">
            <a:avLst/>
          </a:prstGeom>
          <a:noFill/>
          <a:ln/>
        </p:spPr>
        <p:txBody>
          <a:bodyPr wrap="square" lIns="0" tIns="0" rIns="0" bIns="0" rtlCol="0" anchor="t"/>
          <a:lstStyle/>
          <a:p>
            <a:pPr marL="0" indent="0">
              <a:buNone/>
            </a:pPr>
            <a:r>
              <a:rPr lang="en-US" sz="2500" b="1" dirty="0">
                <a:solidFill>
                  <a:srgbClr val="0D2B55"/>
                </a:solidFill>
                <a:latin typeface="Cambria" pitchFamily="34" charset="0"/>
                <a:ea typeface="Cambria" pitchFamily="34" charset="-122"/>
                <a:cs typeface="Cambria" pitchFamily="34" charset="-120"/>
              </a:rPr>
              <a:t>Analytics &amp; QoE Dashboards</a:t>
            </a:r>
            <a:endParaRPr lang="en-US" sz="2500" dirty="0"/>
          </a:p>
        </p:txBody>
      </p:sp>
      <p:sp>
        <p:nvSpPr>
          <p:cNvPr id="8" name="Shape 5"/>
          <p:cNvSpPr/>
          <p:nvPr/>
        </p:nvSpPr>
        <p:spPr>
          <a:xfrm>
            <a:off x="2514600" y="1417320"/>
            <a:ext cx="2880360" cy="4892040"/>
          </a:xfrm>
          <a:prstGeom prst="roundRect">
            <a:avLst>
              <a:gd name="adj" fmla="val 2540"/>
            </a:avLst>
          </a:prstGeom>
          <a:solidFill>
            <a:srgbClr val="F5F7FA"/>
          </a:solidFill>
          <a:ln/>
          <a:effectLst>
            <a:outerShdw blurRad="127000" dist="38100" dir="5400000" algn="bl" rotWithShape="0">
              <a:srgbClr val="0D2B55">
                <a:alpha val="12000"/>
              </a:srgbClr>
            </a:outerShdw>
          </a:effectLst>
        </p:spPr>
      </p:sp>
      <p:sp>
        <p:nvSpPr>
          <p:cNvPr id="9" name="Text 6"/>
          <p:cNvSpPr/>
          <p:nvPr/>
        </p:nvSpPr>
        <p:spPr>
          <a:xfrm>
            <a:off x="2770632" y="1627632"/>
            <a:ext cx="2368296" cy="274320"/>
          </a:xfrm>
          <a:prstGeom prst="rect">
            <a:avLst/>
          </a:prstGeom>
          <a:noFill/>
          <a:ln/>
        </p:spPr>
        <p:txBody>
          <a:bodyPr wrap="square" lIns="0" tIns="0" rIns="0" bIns="0" rtlCol="0" anchor="ctr"/>
          <a:lstStyle/>
          <a:p>
            <a:pPr marL="0" indent="0">
              <a:buNone/>
            </a:pPr>
            <a:r>
              <a:rPr lang="en-US" sz="1100" b="1" kern="0" spc="150" dirty="0">
                <a:solidFill>
                  <a:srgbClr val="0D2B55"/>
                </a:solidFill>
                <a:latin typeface="Calibri" pitchFamily="34" charset="0"/>
                <a:ea typeface="Calibri" pitchFamily="34" charset="-122"/>
                <a:cs typeface="Calibri" pitchFamily="34" charset="-120"/>
              </a:rPr>
              <a:t>THE THINKING</a:t>
            </a:r>
            <a:endParaRPr lang="en-US" sz="1100" dirty="0"/>
          </a:p>
        </p:txBody>
      </p:sp>
      <p:sp>
        <p:nvSpPr>
          <p:cNvPr id="10" name="Shape 7"/>
          <p:cNvSpPr/>
          <p:nvPr/>
        </p:nvSpPr>
        <p:spPr>
          <a:xfrm>
            <a:off x="2770632" y="1938528"/>
            <a:ext cx="2368296" cy="0"/>
          </a:xfrm>
          <a:prstGeom prst="line">
            <a:avLst/>
          </a:prstGeom>
          <a:noFill/>
          <a:ln w="12700">
            <a:solidFill>
              <a:srgbClr val="DCE3EC"/>
            </a:solidFill>
            <a:prstDash val="solid"/>
          </a:ln>
        </p:spPr>
      </p:sp>
      <p:sp>
        <p:nvSpPr>
          <p:cNvPr id="11" name="Text 8"/>
          <p:cNvSpPr/>
          <p:nvPr/>
        </p:nvSpPr>
        <p:spPr>
          <a:xfrm>
            <a:off x="2770632" y="2084832"/>
            <a:ext cx="2368296" cy="4069080"/>
          </a:xfrm>
          <a:prstGeom prst="rect">
            <a:avLst/>
          </a:prstGeom>
          <a:noFill/>
          <a:ln/>
        </p:spPr>
        <p:txBody>
          <a:bodyPr wrap="square" lIns="0" tIns="0" rIns="0" bIns="0" rtlCol="0" anchor="t"/>
          <a:lstStyle/>
          <a:p>
            <a:pPr marL="0" indent="0">
              <a:lnSpc>
                <a:spcPct val="122000"/>
              </a:lnSpc>
              <a:buNone/>
            </a:pPr>
            <a:r>
              <a:rPr lang="en-US" sz="1200" dirty="0">
                <a:solidFill>
                  <a:srgbClr val="1A1A1A"/>
                </a:solidFill>
                <a:latin typeface="Calibri" pitchFamily="34" charset="0"/>
                <a:ea typeface="Calibri" pitchFamily="34" charset="-122"/>
                <a:cs typeface="Calibri" pitchFamily="34" charset="-120"/>
              </a:rPr>
              <a:t>Instructors were candid: they have no idea whether a student who 'attended' a live session actually experienced it well, or sat through a frozen screen for 40 minutes.</a:t>
            </a:r>
            <a:endParaRPr lang="en-US" sz="1200" dirty="0"/>
          </a:p>
        </p:txBody>
      </p:sp>
      <p:sp>
        <p:nvSpPr>
          <p:cNvPr id="12" name="Shape 9"/>
          <p:cNvSpPr/>
          <p:nvPr/>
        </p:nvSpPr>
        <p:spPr>
          <a:xfrm>
            <a:off x="5532120" y="1417320"/>
            <a:ext cx="2880360" cy="4892040"/>
          </a:xfrm>
          <a:prstGeom prst="roundRect">
            <a:avLst>
              <a:gd name="adj" fmla="val 2540"/>
            </a:avLst>
          </a:prstGeom>
          <a:solidFill>
            <a:srgbClr val="F5F7FA"/>
          </a:solidFill>
          <a:ln/>
          <a:effectLst>
            <a:outerShdw blurRad="127000" dist="38100" dir="5400000" algn="bl" rotWithShape="0">
              <a:srgbClr val="0D2B55">
                <a:alpha val="12000"/>
              </a:srgbClr>
            </a:outerShdw>
          </a:effectLst>
        </p:spPr>
      </p:sp>
      <p:sp>
        <p:nvSpPr>
          <p:cNvPr id="13" name="Text 10"/>
          <p:cNvSpPr/>
          <p:nvPr/>
        </p:nvSpPr>
        <p:spPr>
          <a:xfrm>
            <a:off x="5788152" y="1627632"/>
            <a:ext cx="2368296" cy="274320"/>
          </a:xfrm>
          <a:prstGeom prst="rect">
            <a:avLst/>
          </a:prstGeom>
          <a:noFill/>
          <a:ln/>
        </p:spPr>
        <p:txBody>
          <a:bodyPr wrap="square" lIns="0" tIns="0" rIns="0" bIns="0" rtlCol="0" anchor="ctr"/>
          <a:lstStyle/>
          <a:p>
            <a:pPr marL="0" indent="0">
              <a:buNone/>
            </a:pPr>
            <a:r>
              <a:rPr lang="en-US" sz="1100" b="1" kern="0" spc="150" dirty="0">
                <a:solidFill>
                  <a:srgbClr val="0D2B55"/>
                </a:solidFill>
                <a:latin typeface="Calibri" pitchFamily="34" charset="0"/>
                <a:ea typeface="Calibri" pitchFamily="34" charset="-122"/>
                <a:cs typeface="Calibri" pitchFamily="34" charset="-120"/>
              </a:rPr>
              <a:t>DESIGN &amp; BUILD</a:t>
            </a:r>
            <a:endParaRPr lang="en-US" sz="1100" dirty="0"/>
          </a:p>
        </p:txBody>
      </p:sp>
      <p:sp>
        <p:nvSpPr>
          <p:cNvPr id="14" name="Shape 11"/>
          <p:cNvSpPr/>
          <p:nvPr/>
        </p:nvSpPr>
        <p:spPr>
          <a:xfrm>
            <a:off x="5788152" y="1938528"/>
            <a:ext cx="2368296" cy="0"/>
          </a:xfrm>
          <a:prstGeom prst="line">
            <a:avLst/>
          </a:prstGeom>
          <a:noFill/>
          <a:ln w="12700">
            <a:solidFill>
              <a:srgbClr val="DCE3EC"/>
            </a:solidFill>
            <a:prstDash val="solid"/>
          </a:ln>
        </p:spPr>
      </p:sp>
      <p:sp>
        <p:nvSpPr>
          <p:cNvPr id="15" name="Text 12"/>
          <p:cNvSpPr/>
          <p:nvPr/>
        </p:nvSpPr>
        <p:spPr>
          <a:xfrm>
            <a:off x="5788152" y="2084832"/>
            <a:ext cx="2368296" cy="4069080"/>
          </a:xfrm>
          <a:prstGeom prst="rect">
            <a:avLst/>
          </a:prstGeom>
          <a:noFill/>
          <a:ln/>
        </p:spPr>
        <p:txBody>
          <a:bodyPr wrap="square" lIns="0" tIns="0" rIns="0" bIns="0" rtlCol="0" anchor="t"/>
          <a:lstStyle/>
          <a:p>
            <a:pPr marL="0" indent="0">
              <a:lnSpc>
                <a:spcPct val="122000"/>
              </a:lnSpc>
              <a:buNone/>
            </a:pPr>
            <a:r>
              <a:rPr lang="en-US" sz="1200" dirty="0">
                <a:solidFill>
                  <a:srgbClr val="1A1A1A"/>
                </a:solidFill>
                <a:latin typeface="Calibri" pitchFamily="34" charset="0"/>
                <a:ea typeface="Calibri" pitchFamily="34" charset="-122"/>
                <a:cs typeface="Calibri" pitchFamily="34" charset="-120"/>
              </a:rPr>
              <a:t>Role-specific dashboards: instructors see per-course engagement and QoE summaries; administrators see platform-wide health and adoption trends.</a:t>
            </a:r>
            <a:endParaRPr lang="en-US" sz="1200" dirty="0"/>
          </a:p>
          <a:p>
            <a:pPr marL="0" indent="0">
              <a:lnSpc>
                <a:spcPct val="122000"/>
              </a:lnSpc>
              <a:buNone/>
            </a:pPr>
            <a:endParaRPr lang="en-US" sz="1200" dirty="0"/>
          </a:p>
          <a:p>
            <a:pPr marL="0" indent="0">
              <a:lnSpc>
                <a:spcPct val="122000"/>
              </a:lnSpc>
              <a:buNone/>
            </a:pPr>
            <a:r>
              <a:rPr lang="en-US" sz="1200" dirty="0">
                <a:solidFill>
                  <a:srgbClr val="1A1A1A"/>
                </a:solidFill>
                <a:latin typeface="Calibri" pitchFamily="34" charset="0"/>
                <a:ea typeface="Calibri" pitchFamily="34" charset="-122"/>
                <a:cs typeface="Calibri" pitchFamily="34" charset="-120"/>
              </a:rPr>
              <a:t>Six SQL analytics views (course completion, average QoE, delivery-mode distribution, and more) queried directly for near real-time dashboard rendering.</a:t>
            </a:r>
            <a:endParaRPr lang="en-US" sz="1200" dirty="0"/>
          </a:p>
        </p:txBody>
      </p:sp>
      <p:sp>
        <p:nvSpPr>
          <p:cNvPr id="16" name="Shape 13"/>
          <p:cNvSpPr/>
          <p:nvPr/>
        </p:nvSpPr>
        <p:spPr>
          <a:xfrm>
            <a:off x="8549640" y="1417320"/>
            <a:ext cx="2880360" cy="4892040"/>
          </a:xfrm>
          <a:prstGeom prst="roundRect">
            <a:avLst>
              <a:gd name="adj" fmla="val 2540"/>
            </a:avLst>
          </a:prstGeom>
          <a:solidFill>
            <a:srgbClr val="EAF4FB"/>
          </a:solidFill>
          <a:ln/>
          <a:effectLst>
            <a:outerShdw blurRad="127000" dist="38100" dir="5400000" algn="bl" rotWithShape="0">
              <a:srgbClr val="0D2B55">
                <a:alpha val="12000"/>
              </a:srgbClr>
            </a:outerShdw>
          </a:effectLst>
        </p:spPr>
      </p:sp>
      <p:sp>
        <p:nvSpPr>
          <p:cNvPr id="17" name="Text 14"/>
          <p:cNvSpPr/>
          <p:nvPr/>
        </p:nvSpPr>
        <p:spPr>
          <a:xfrm>
            <a:off x="8805672" y="1627632"/>
            <a:ext cx="2368296" cy="274320"/>
          </a:xfrm>
          <a:prstGeom prst="rect">
            <a:avLst/>
          </a:prstGeom>
          <a:noFill/>
          <a:ln/>
        </p:spPr>
        <p:txBody>
          <a:bodyPr wrap="square" lIns="0" tIns="0" rIns="0" bIns="0" rtlCol="0" anchor="ctr"/>
          <a:lstStyle/>
          <a:p>
            <a:pPr marL="0" indent="0">
              <a:buNone/>
            </a:pPr>
            <a:r>
              <a:rPr lang="en-US" sz="1100" b="1" kern="0" spc="150" dirty="0">
                <a:solidFill>
                  <a:srgbClr val="1E88E5"/>
                </a:solidFill>
                <a:latin typeface="Calibri" pitchFamily="34" charset="0"/>
                <a:ea typeface="Calibri" pitchFamily="34" charset="-122"/>
                <a:cs typeface="Calibri" pitchFamily="34" charset="-120"/>
              </a:rPr>
              <a:t>WHY IT WINS</a:t>
            </a:r>
            <a:endParaRPr lang="en-US" sz="1100" dirty="0"/>
          </a:p>
        </p:txBody>
      </p:sp>
      <p:sp>
        <p:nvSpPr>
          <p:cNvPr id="18" name="Shape 15"/>
          <p:cNvSpPr/>
          <p:nvPr/>
        </p:nvSpPr>
        <p:spPr>
          <a:xfrm>
            <a:off x="8805672" y="1938528"/>
            <a:ext cx="2368296" cy="0"/>
          </a:xfrm>
          <a:prstGeom prst="line">
            <a:avLst/>
          </a:prstGeom>
          <a:noFill/>
          <a:ln w="12700">
            <a:solidFill>
              <a:srgbClr val="DCE3EC"/>
            </a:solidFill>
            <a:prstDash val="solid"/>
          </a:ln>
        </p:spPr>
      </p:sp>
      <p:sp>
        <p:nvSpPr>
          <p:cNvPr id="19" name="Text 16"/>
          <p:cNvSpPr/>
          <p:nvPr/>
        </p:nvSpPr>
        <p:spPr>
          <a:xfrm>
            <a:off x="8805672" y="2084832"/>
            <a:ext cx="2368296" cy="4069080"/>
          </a:xfrm>
          <a:prstGeom prst="rect">
            <a:avLst/>
          </a:prstGeom>
          <a:noFill/>
          <a:ln/>
        </p:spPr>
        <p:txBody>
          <a:bodyPr wrap="square" lIns="0" tIns="0" rIns="0" bIns="0" rtlCol="0" anchor="t"/>
          <a:lstStyle/>
          <a:p>
            <a:pPr marL="0" indent="0">
              <a:lnSpc>
                <a:spcPct val="122000"/>
              </a:lnSpc>
              <a:buNone/>
            </a:pPr>
            <a:r>
              <a:rPr lang="en-US" sz="1200" dirty="0">
                <a:solidFill>
                  <a:srgbClr val="081A38"/>
                </a:solidFill>
                <a:latin typeface="Calibri" pitchFamily="34" charset="0"/>
                <a:ea typeface="Calibri" pitchFamily="34" charset="-122"/>
                <a:cs typeface="Calibri" pitchFamily="34" charset="-120"/>
              </a:rPr>
              <a:t>Zoom gives you an attendance count. EduStream gives instructors a network-quality-adjusted view of engagement - a metric no platform in our benchmark set exposes today.</a:t>
            </a:r>
            <a:endParaRPr lang="en-US" sz="1200" dirty="0"/>
          </a:p>
        </p:txBody>
      </p:sp>
      <p:sp>
        <p:nvSpPr>
          <p:cNvPr id="20" name="Text 17"/>
          <p:cNvSpPr/>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08</a:t>
            </a:r>
            <a:endParaRPr lang="en-US" sz="1000" dirty="0"/>
          </a:p>
        </p:txBody>
      </p:sp>
      <p:pic>
        <p:nvPicPr>
          <p:cNvPr id="22" name="Picture 21">
            <a:extLst>
              <a:ext uri="{FF2B5EF4-FFF2-40B4-BE49-F238E27FC236}">
                <a16:creationId xmlns:a16="http://schemas.microsoft.com/office/drawing/2014/main" id="{69C80548-6518-D475-F199-D1E89CEF1E79}"/>
              </a:ext>
            </a:extLst>
          </p:cNvPr>
          <p:cNvPicPr>
            <a:picLocks noChangeAspect="1"/>
          </p:cNvPicPr>
          <p:nvPr/>
        </p:nvPicPr>
        <p:blipFill>
          <a:blip r:embed="rId4">
            <a:extLst>
              <a:ext uri="{28A0092B-C50C-407E-A947-70E740481C1C}">
                <a14:useLocalDpi xmlns:a14="http://schemas.microsoft.com/office/drawing/2010/main" val="0"/>
              </a:ext>
            </a:extLst>
          </a:blip>
          <a:srcRect l="23239" t="6583" r="29481" b="11234"/>
          <a:stretch>
            <a:fillRect/>
          </a:stretch>
        </p:blipFill>
        <p:spPr>
          <a:xfrm>
            <a:off x="387847" y="4595037"/>
            <a:ext cx="1281703" cy="123408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CF0EC-3275-9250-00D8-847232B3776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605F2A00-22FB-CC30-A168-F80825FD1D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5496" y="1138328"/>
            <a:ext cx="2937638" cy="4975870"/>
          </a:xfrm>
          <a:prstGeom prst="rect">
            <a:avLst/>
          </a:prstGeom>
        </p:spPr>
      </p:pic>
      <p:sp>
        <p:nvSpPr>
          <p:cNvPr id="4" name="TextBox 3">
            <a:extLst>
              <a:ext uri="{FF2B5EF4-FFF2-40B4-BE49-F238E27FC236}">
                <a16:creationId xmlns:a16="http://schemas.microsoft.com/office/drawing/2014/main" id="{35902256-BE08-14E4-4BFE-2A07710C34FF}"/>
              </a:ext>
            </a:extLst>
          </p:cNvPr>
          <p:cNvSpPr txBox="1"/>
          <p:nvPr/>
        </p:nvSpPr>
        <p:spPr>
          <a:xfrm>
            <a:off x="815496" y="750627"/>
            <a:ext cx="2937638" cy="369332"/>
          </a:xfrm>
          <a:prstGeom prst="rect">
            <a:avLst/>
          </a:prstGeom>
          <a:noFill/>
        </p:spPr>
        <p:txBody>
          <a:bodyPr wrap="square" rtlCol="0">
            <a:spAutoFit/>
          </a:bodyPr>
          <a:lstStyle/>
          <a:p>
            <a:r>
              <a:rPr lang="en-US" b="1" dirty="0"/>
              <a:t>Student Dashboard</a:t>
            </a:r>
            <a:endParaRPr lang="en-US" dirty="0"/>
          </a:p>
        </p:txBody>
      </p:sp>
      <p:pic>
        <p:nvPicPr>
          <p:cNvPr id="5" name="Picture 4">
            <a:extLst>
              <a:ext uri="{FF2B5EF4-FFF2-40B4-BE49-F238E27FC236}">
                <a16:creationId xmlns:a16="http://schemas.microsoft.com/office/drawing/2014/main" id="{C1520269-12B0-608C-C4F2-5C20059811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38103" y="1138328"/>
            <a:ext cx="3063700" cy="4784800"/>
          </a:xfrm>
          <a:prstGeom prst="rect">
            <a:avLst/>
          </a:prstGeom>
        </p:spPr>
      </p:pic>
      <p:sp>
        <p:nvSpPr>
          <p:cNvPr id="7" name="TextBox 6">
            <a:extLst>
              <a:ext uri="{FF2B5EF4-FFF2-40B4-BE49-F238E27FC236}">
                <a16:creationId xmlns:a16="http://schemas.microsoft.com/office/drawing/2014/main" id="{6C30ED83-2CB4-1572-1FD6-6676C0CD4875}"/>
              </a:ext>
            </a:extLst>
          </p:cNvPr>
          <p:cNvSpPr txBox="1"/>
          <p:nvPr/>
        </p:nvSpPr>
        <p:spPr>
          <a:xfrm>
            <a:off x="4538103" y="648269"/>
            <a:ext cx="2937638" cy="369332"/>
          </a:xfrm>
          <a:prstGeom prst="rect">
            <a:avLst/>
          </a:prstGeom>
          <a:noFill/>
        </p:spPr>
        <p:txBody>
          <a:bodyPr wrap="square" rtlCol="0">
            <a:spAutoFit/>
          </a:bodyPr>
          <a:lstStyle/>
          <a:p>
            <a:r>
              <a:rPr lang="en-US" b="1" dirty="0"/>
              <a:t>Instructor Dashboard</a:t>
            </a:r>
            <a:endParaRPr lang="en-US" dirty="0"/>
          </a:p>
        </p:txBody>
      </p:sp>
      <p:pic>
        <p:nvPicPr>
          <p:cNvPr id="8" name="Picture 7">
            <a:extLst>
              <a:ext uri="{FF2B5EF4-FFF2-40B4-BE49-F238E27FC236}">
                <a16:creationId xmlns:a16="http://schemas.microsoft.com/office/drawing/2014/main" id="{4BBFFE2E-D7EE-558F-E80C-4DD949A5AA1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13816" y="1138328"/>
            <a:ext cx="3063700" cy="4784800"/>
          </a:xfrm>
          <a:prstGeom prst="rect">
            <a:avLst/>
          </a:prstGeom>
        </p:spPr>
      </p:pic>
      <p:sp>
        <p:nvSpPr>
          <p:cNvPr id="9" name="TextBox 8">
            <a:extLst>
              <a:ext uri="{FF2B5EF4-FFF2-40B4-BE49-F238E27FC236}">
                <a16:creationId xmlns:a16="http://schemas.microsoft.com/office/drawing/2014/main" id="{780925FA-ACD0-855B-5267-7B29457A6228}"/>
              </a:ext>
            </a:extLst>
          </p:cNvPr>
          <p:cNvSpPr txBox="1"/>
          <p:nvPr/>
        </p:nvSpPr>
        <p:spPr>
          <a:xfrm>
            <a:off x="8113816" y="627798"/>
            <a:ext cx="2937638" cy="369332"/>
          </a:xfrm>
          <a:prstGeom prst="rect">
            <a:avLst/>
          </a:prstGeom>
          <a:noFill/>
        </p:spPr>
        <p:txBody>
          <a:bodyPr wrap="square" rtlCol="0">
            <a:spAutoFit/>
          </a:bodyPr>
          <a:lstStyle/>
          <a:p>
            <a:r>
              <a:rPr lang="en-US" b="1" dirty="0"/>
              <a:t>Admin Dashboard</a:t>
            </a:r>
            <a:endParaRPr lang="en-US" dirty="0"/>
          </a:p>
        </p:txBody>
      </p:sp>
    </p:spTree>
    <p:extLst>
      <p:ext uri="{BB962C8B-B14F-4D97-AF65-F5344CB8AC3E}">
        <p14:creationId xmlns:p14="http://schemas.microsoft.com/office/powerpoint/2010/main" val="14517335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48840" cy="6858000"/>
          </a:xfrm>
          <a:prstGeom prst="rect">
            <a:avLst/>
          </a:prstGeom>
          <a:solidFill>
            <a:srgbClr val="0D2B55"/>
          </a:solidFill>
          <a:ln/>
        </p:spPr>
      </p:sp>
      <p:sp>
        <p:nvSpPr>
          <p:cNvPr id="3" name="Text 1"/>
          <p:cNvSpPr/>
          <p:nvPr/>
        </p:nvSpPr>
        <p:spPr>
          <a:xfrm>
            <a:off x="320040" y="457200"/>
            <a:ext cx="1463040" cy="914400"/>
          </a:xfrm>
          <a:prstGeom prst="rect">
            <a:avLst/>
          </a:prstGeom>
          <a:noFill/>
          <a:ln/>
        </p:spPr>
        <p:txBody>
          <a:bodyPr wrap="square" lIns="0" tIns="0" rIns="0" bIns="0" rtlCol="0" anchor="ctr"/>
          <a:lstStyle/>
          <a:p>
            <a:pPr marL="0" indent="0">
              <a:buNone/>
            </a:pPr>
            <a:r>
              <a:rPr lang="en-US" sz="4600" b="1" dirty="0">
                <a:solidFill>
                  <a:srgbClr val="1E4C86"/>
                </a:solidFill>
                <a:latin typeface="Cambria" pitchFamily="34" charset="0"/>
                <a:ea typeface="Cambria" pitchFamily="34" charset="-122"/>
                <a:cs typeface="Cambria" pitchFamily="34" charset="-120"/>
              </a:rPr>
              <a:t>06</a:t>
            </a:r>
            <a:endParaRPr lang="en-US" sz="4600" dirty="0"/>
          </a:p>
        </p:txBody>
      </p:sp>
      <p:sp>
        <p:nvSpPr>
          <p:cNvPr id="4" name="Shape 2"/>
          <p:cNvSpPr/>
          <p:nvPr/>
        </p:nvSpPr>
        <p:spPr>
          <a:xfrm>
            <a:off x="502920" y="1417320"/>
            <a:ext cx="1051560" cy="1051560"/>
          </a:xfrm>
          <a:prstGeom prst="ellipse">
            <a:avLst/>
          </a:prstGeom>
          <a:solidFill>
            <a:srgbClr val="FFFFFF"/>
          </a:solidFill>
          <a:ln/>
        </p:spPr>
      </p:sp>
      <p:pic>
        <p:nvPicPr>
          <p:cNvPr id="5" name="Image 0" descr="icons/database_navy.png"/>
          <p:cNvPicPr>
            <a:picLocks noChangeAspect="1"/>
          </p:cNvPicPr>
          <p:nvPr/>
        </p:nvPicPr>
        <p:blipFill>
          <a:blip r:embed="rId3"/>
          <a:stretch>
            <a:fillRect/>
          </a:stretch>
        </p:blipFill>
        <p:spPr>
          <a:xfrm>
            <a:off x="650138" y="1564538"/>
            <a:ext cx="757123" cy="757123"/>
          </a:xfrm>
          <a:prstGeom prst="rect">
            <a:avLst/>
          </a:prstGeom>
        </p:spPr>
      </p:pic>
      <p:sp>
        <p:nvSpPr>
          <p:cNvPr id="6" name="Text 3"/>
          <p:cNvSpPr/>
          <p:nvPr/>
        </p:nvSpPr>
        <p:spPr>
          <a:xfrm>
            <a:off x="320040" y="2743200"/>
            <a:ext cx="1554480" cy="822960"/>
          </a:xfrm>
          <a:prstGeom prst="rect">
            <a:avLst/>
          </a:prstGeom>
          <a:noFill/>
          <a:ln/>
        </p:spPr>
        <p:txBody>
          <a:bodyPr wrap="square" lIns="0" tIns="0" rIns="0" bIns="0" rtlCol="0" anchor="ctr"/>
          <a:lstStyle/>
          <a:p>
            <a:pPr marL="0" indent="0">
              <a:lnSpc>
                <a:spcPct val="120000"/>
              </a:lnSpc>
              <a:buNone/>
            </a:pPr>
            <a:r>
              <a:rPr lang="en-US" sz="1200" b="1" kern="0" spc="100" dirty="0">
                <a:solidFill>
                  <a:srgbClr val="26C6DA"/>
                </a:solidFill>
                <a:latin typeface="Calibri" pitchFamily="34" charset="0"/>
                <a:ea typeface="Calibri" pitchFamily="34" charset="-122"/>
                <a:cs typeface="Calibri" pitchFamily="34" charset="-120"/>
              </a:rPr>
              <a:t>INFRASTRUCTURE</a:t>
            </a:r>
            <a:endParaRPr lang="en-US" sz="1200" dirty="0"/>
          </a:p>
        </p:txBody>
      </p:sp>
      <p:sp>
        <p:nvSpPr>
          <p:cNvPr id="7" name="Text 4"/>
          <p:cNvSpPr/>
          <p:nvPr/>
        </p:nvSpPr>
        <p:spPr>
          <a:xfrm>
            <a:off x="2514600" y="457200"/>
            <a:ext cx="9144000" cy="822960"/>
          </a:xfrm>
          <a:prstGeom prst="rect">
            <a:avLst/>
          </a:prstGeom>
          <a:noFill/>
          <a:ln/>
        </p:spPr>
        <p:txBody>
          <a:bodyPr wrap="square" lIns="0" tIns="0" rIns="0" bIns="0" rtlCol="0" anchor="t"/>
          <a:lstStyle/>
          <a:p>
            <a:pPr marL="0" indent="0">
              <a:buNone/>
            </a:pPr>
            <a:r>
              <a:rPr lang="en-US" sz="2500" b="1" dirty="0">
                <a:solidFill>
                  <a:srgbClr val="0D2B55"/>
                </a:solidFill>
                <a:latin typeface="Cambria" pitchFamily="34" charset="0"/>
                <a:ea typeface="Cambria" pitchFamily="34" charset="-122"/>
                <a:cs typeface="Cambria" pitchFamily="34" charset="-120"/>
              </a:rPr>
              <a:t>Secure, Scalable Cloud Architecture</a:t>
            </a:r>
            <a:endParaRPr lang="en-US" sz="2500" dirty="0"/>
          </a:p>
        </p:txBody>
      </p:sp>
      <p:sp>
        <p:nvSpPr>
          <p:cNvPr id="8" name="Shape 5"/>
          <p:cNvSpPr/>
          <p:nvPr/>
        </p:nvSpPr>
        <p:spPr>
          <a:xfrm>
            <a:off x="2514600" y="1417320"/>
            <a:ext cx="2880360" cy="4892040"/>
          </a:xfrm>
          <a:prstGeom prst="roundRect">
            <a:avLst>
              <a:gd name="adj" fmla="val 2540"/>
            </a:avLst>
          </a:prstGeom>
          <a:solidFill>
            <a:srgbClr val="F5F7FA"/>
          </a:solidFill>
          <a:ln/>
          <a:effectLst>
            <a:outerShdw blurRad="127000" dist="38100" dir="5400000" algn="bl" rotWithShape="0">
              <a:srgbClr val="0D2B55">
                <a:alpha val="12000"/>
              </a:srgbClr>
            </a:outerShdw>
          </a:effectLst>
        </p:spPr>
      </p:sp>
      <p:sp>
        <p:nvSpPr>
          <p:cNvPr id="9" name="Text 6"/>
          <p:cNvSpPr/>
          <p:nvPr/>
        </p:nvSpPr>
        <p:spPr>
          <a:xfrm>
            <a:off x="2770632" y="1627632"/>
            <a:ext cx="2368296" cy="274320"/>
          </a:xfrm>
          <a:prstGeom prst="rect">
            <a:avLst/>
          </a:prstGeom>
          <a:noFill/>
          <a:ln/>
        </p:spPr>
        <p:txBody>
          <a:bodyPr wrap="square" lIns="0" tIns="0" rIns="0" bIns="0" rtlCol="0" anchor="ctr"/>
          <a:lstStyle/>
          <a:p>
            <a:pPr marL="0" indent="0">
              <a:buNone/>
            </a:pPr>
            <a:r>
              <a:rPr lang="en-US" sz="1100" b="1" kern="0" spc="150" dirty="0">
                <a:solidFill>
                  <a:srgbClr val="0D2B55"/>
                </a:solidFill>
                <a:latin typeface="Calibri" pitchFamily="34" charset="0"/>
                <a:ea typeface="Calibri" pitchFamily="34" charset="-122"/>
                <a:cs typeface="Calibri" pitchFamily="34" charset="-120"/>
              </a:rPr>
              <a:t>THE THINKING</a:t>
            </a:r>
            <a:endParaRPr lang="en-US" sz="1100" dirty="0"/>
          </a:p>
        </p:txBody>
      </p:sp>
      <p:sp>
        <p:nvSpPr>
          <p:cNvPr id="10" name="Shape 7"/>
          <p:cNvSpPr/>
          <p:nvPr/>
        </p:nvSpPr>
        <p:spPr>
          <a:xfrm>
            <a:off x="2770632" y="1938528"/>
            <a:ext cx="2368296" cy="0"/>
          </a:xfrm>
          <a:prstGeom prst="line">
            <a:avLst/>
          </a:prstGeom>
          <a:noFill/>
          <a:ln w="12700">
            <a:solidFill>
              <a:srgbClr val="DCE3EC"/>
            </a:solidFill>
            <a:prstDash val="solid"/>
          </a:ln>
        </p:spPr>
      </p:sp>
      <p:sp>
        <p:nvSpPr>
          <p:cNvPr id="11" name="Text 8"/>
          <p:cNvSpPr/>
          <p:nvPr/>
        </p:nvSpPr>
        <p:spPr>
          <a:xfrm>
            <a:off x="2770632" y="2084832"/>
            <a:ext cx="2368296" cy="4069080"/>
          </a:xfrm>
          <a:prstGeom prst="rect">
            <a:avLst/>
          </a:prstGeom>
          <a:noFill/>
          <a:ln/>
        </p:spPr>
        <p:txBody>
          <a:bodyPr wrap="square" lIns="0" tIns="0" rIns="0" bIns="0" rtlCol="0" anchor="t"/>
          <a:lstStyle/>
          <a:p>
            <a:pPr marL="0" indent="0">
              <a:lnSpc>
                <a:spcPct val="122000"/>
              </a:lnSpc>
              <a:buNone/>
            </a:pPr>
            <a:r>
              <a:rPr lang="en-US" sz="1200" dirty="0">
                <a:solidFill>
                  <a:srgbClr val="1A1A1A"/>
                </a:solidFill>
                <a:latin typeface="Calibri" pitchFamily="34" charset="0"/>
                <a:ea typeface="Calibri" pitchFamily="34" charset="-122"/>
                <a:cs typeface="Calibri" pitchFamily="34" charset="-120"/>
              </a:rPr>
              <a:t>A single-university deployment still has to scale and stay secure without a rebuild - and institutions are wary of any system that can leak student records.</a:t>
            </a:r>
            <a:endParaRPr lang="en-US" sz="1200" dirty="0"/>
          </a:p>
        </p:txBody>
      </p:sp>
      <p:sp>
        <p:nvSpPr>
          <p:cNvPr id="12" name="Shape 9"/>
          <p:cNvSpPr/>
          <p:nvPr/>
        </p:nvSpPr>
        <p:spPr>
          <a:xfrm>
            <a:off x="5532120" y="1417320"/>
            <a:ext cx="2880360" cy="4892040"/>
          </a:xfrm>
          <a:prstGeom prst="roundRect">
            <a:avLst>
              <a:gd name="adj" fmla="val 2540"/>
            </a:avLst>
          </a:prstGeom>
          <a:solidFill>
            <a:srgbClr val="F5F7FA"/>
          </a:solidFill>
          <a:ln/>
          <a:effectLst>
            <a:outerShdw blurRad="127000" dist="38100" dir="5400000" algn="bl" rotWithShape="0">
              <a:srgbClr val="0D2B55">
                <a:alpha val="12000"/>
              </a:srgbClr>
            </a:outerShdw>
          </a:effectLst>
        </p:spPr>
      </p:sp>
      <p:sp>
        <p:nvSpPr>
          <p:cNvPr id="13" name="Text 10"/>
          <p:cNvSpPr/>
          <p:nvPr/>
        </p:nvSpPr>
        <p:spPr>
          <a:xfrm>
            <a:off x="5788152" y="1627632"/>
            <a:ext cx="2368296" cy="274320"/>
          </a:xfrm>
          <a:prstGeom prst="rect">
            <a:avLst/>
          </a:prstGeom>
          <a:noFill/>
          <a:ln/>
        </p:spPr>
        <p:txBody>
          <a:bodyPr wrap="square" lIns="0" tIns="0" rIns="0" bIns="0" rtlCol="0" anchor="ctr"/>
          <a:lstStyle/>
          <a:p>
            <a:pPr marL="0" indent="0">
              <a:buNone/>
            </a:pPr>
            <a:r>
              <a:rPr lang="en-US" sz="1100" b="1" kern="0" spc="150" dirty="0">
                <a:solidFill>
                  <a:srgbClr val="0D2B55"/>
                </a:solidFill>
                <a:latin typeface="Calibri" pitchFamily="34" charset="0"/>
                <a:ea typeface="Calibri" pitchFamily="34" charset="-122"/>
                <a:cs typeface="Calibri" pitchFamily="34" charset="-120"/>
              </a:rPr>
              <a:t>DESIGN &amp; BUILD</a:t>
            </a:r>
            <a:endParaRPr lang="en-US" sz="1100" dirty="0"/>
          </a:p>
        </p:txBody>
      </p:sp>
      <p:sp>
        <p:nvSpPr>
          <p:cNvPr id="14" name="Shape 11"/>
          <p:cNvSpPr/>
          <p:nvPr/>
        </p:nvSpPr>
        <p:spPr>
          <a:xfrm>
            <a:off x="5788152" y="1938528"/>
            <a:ext cx="2368296" cy="0"/>
          </a:xfrm>
          <a:prstGeom prst="line">
            <a:avLst/>
          </a:prstGeom>
          <a:noFill/>
          <a:ln w="12700">
            <a:solidFill>
              <a:srgbClr val="DCE3EC"/>
            </a:solidFill>
            <a:prstDash val="solid"/>
          </a:ln>
        </p:spPr>
      </p:sp>
      <p:sp>
        <p:nvSpPr>
          <p:cNvPr id="15" name="Text 12"/>
          <p:cNvSpPr/>
          <p:nvPr/>
        </p:nvSpPr>
        <p:spPr>
          <a:xfrm>
            <a:off x="5788152" y="2084832"/>
            <a:ext cx="2368296" cy="4069080"/>
          </a:xfrm>
          <a:prstGeom prst="rect">
            <a:avLst/>
          </a:prstGeom>
          <a:noFill/>
          <a:ln/>
        </p:spPr>
        <p:txBody>
          <a:bodyPr wrap="square" lIns="0" tIns="0" rIns="0" bIns="0" rtlCol="0" anchor="t"/>
          <a:lstStyle/>
          <a:p>
            <a:pPr marL="0" indent="0">
              <a:lnSpc>
                <a:spcPct val="122000"/>
              </a:lnSpc>
              <a:buNone/>
            </a:pPr>
            <a:r>
              <a:rPr lang="en-US" sz="1200" dirty="0">
                <a:solidFill>
                  <a:srgbClr val="1A1A1A"/>
                </a:solidFill>
                <a:latin typeface="Calibri" pitchFamily="34" charset="0"/>
                <a:ea typeface="Calibri" pitchFamily="34" charset="-122"/>
                <a:cs typeface="Calibri" pitchFamily="34" charset="-120"/>
              </a:rPr>
              <a:t>Fifteen normalized entities with foreign-key-enforced integrity, one relational source of truth instead of scattered spreadsheets and files.</a:t>
            </a:r>
            <a:endParaRPr lang="en-US" sz="1200" dirty="0"/>
          </a:p>
          <a:p>
            <a:pPr marL="0" indent="0">
              <a:lnSpc>
                <a:spcPct val="122000"/>
              </a:lnSpc>
              <a:buNone/>
            </a:pPr>
            <a:endParaRPr lang="en-US" sz="1200" dirty="0"/>
          </a:p>
          <a:p>
            <a:pPr marL="0" indent="0">
              <a:lnSpc>
                <a:spcPct val="122000"/>
              </a:lnSpc>
              <a:buNone/>
            </a:pPr>
            <a:r>
              <a:rPr lang="en-US" sz="1200" dirty="0">
                <a:solidFill>
                  <a:srgbClr val="1A1A1A"/>
                </a:solidFill>
                <a:latin typeface="Calibri" pitchFamily="34" charset="0"/>
                <a:ea typeface="Calibri" pitchFamily="34" charset="-122"/>
                <a:cs typeface="Calibri" pitchFamily="34" charset="-120"/>
              </a:rPr>
              <a:t>PostgreSQL 15 on Supabase, Row Level Security enabled on every table, and versioned storage buckets segmented by content type and access policy.</a:t>
            </a:r>
            <a:endParaRPr lang="en-US" sz="1200" dirty="0"/>
          </a:p>
        </p:txBody>
      </p:sp>
      <p:sp>
        <p:nvSpPr>
          <p:cNvPr id="16" name="Shape 13"/>
          <p:cNvSpPr/>
          <p:nvPr/>
        </p:nvSpPr>
        <p:spPr>
          <a:xfrm>
            <a:off x="8549640" y="1417320"/>
            <a:ext cx="2880360" cy="4892040"/>
          </a:xfrm>
          <a:prstGeom prst="roundRect">
            <a:avLst>
              <a:gd name="adj" fmla="val 2540"/>
            </a:avLst>
          </a:prstGeom>
          <a:solidFill>
            <a:srgbClr val="EAF4FB"/>
          </a:solidFill>
          <a:ln/>
          <a:effectLst>
            <a:outerShdw blurRad="127000" dist="38100" dir="5400000" algn="bl" rotWithShape="0">
              <a:srgbClr val="0D2B55">
                <a:alpha val="12000"/>
              </a:srgbClr>
            </a:outerShdw>
          </a:effectLst>
        </p:spPr>
      </p:sp>
      <p:sp>
        <p:nvSpPr>
          <p:cNvPr id="17" name="Text 14"/>
          <p:cNvSpPr/>
          <p:nvPr/>
        </p:nvSpPr>
        <p:spPr>
          <a:xfrm>
            <a:off x="8805672" y="1627632"/>
            <a:ext cx="2368296" cy="274320"/>
          </a:xfrm>
          <a:prstGeom prst="rect">
            <a:avLst/>
          </a:prstGeom>
          <a:noFill/>
          <a:ln/>
        </p:spPr>
        <p:txBody>
          <a:bodyPr wrap="square" lIns="0" tIns="0" rIns="0" bIns="0" rtlCol="0" anchor="ctr"/>
          <a:lstStyle/>
          <a:p>
            <a:pPr marL="0" indent="0">
              <a:buNone/>
            </a:pPr>
            <a:r>
              <a:rPr lang="en-US" sz="1100" b="1" kern="0" spc="150" dirty="0">
                <a:solidFill>
                  <a:srgbClr val="1E88E5"/>
                </a:solidFill>
                <a:latin typeface="Calibri" pitchFamily="34" charset="0"/>
                <a:ea typeface="Calibri" pitchFamily="34" charset="-122"/>
                <a:cs typeface="Calibri" pitchFamily="34" charset="-120"/>
              </a:rPr>
              <a:t>WHY IT WINS</a:t>
            </a:r>
            <a:endParaRPr lang="en-US" sz="1100" dirty="0"/>
          </a:p>
        </p:txBody>
      </p:sp>
      <p:sp>
        <p:nvSpPr>
          <p:cNvPr id="18" name="Shape 15"/>
          <p:cNvSpPr/>
          <p:nvPr/>
        </p:nvSpPr>
        <p:spPr>
          <a:xfrm>
            <a:off x="8805672" y="1938528"/>
            <a:ext cx="2368296" cy="0"/>
          </a:xfrm>
          <a:prstGeom prst="line">
            <a:avLst/>
          </a:prstGeom>
          <a:noFill/>
          <a:ln w="12700">
            <a:solidFill>
              <a:srgbClr val="DCE3EC"/>
            </a:solidFill>
            <a:prstDash val="solid"/>
          </a:ln>
        </p:spPr>
      </p:sp>
      <p:sp>
        <p:nvSpPr>
          <p:cNvPr id="19" name="Text 16"/>
          <p:cNvSpPr/>
          <p:nvPr/>
        </p:nvSpPr>
        <p:spPr>
          <a:xfrm>
            <a:off x="8805672" y="2084832"/>
            <a:ext cx="2368296" cy="4069080"/>
          </a:xfrm>
          <a:prstGeom prst="rect">
            <a:avLst/>
          </a:prstGeom>
          <a:noFill/>
          <a:ln/>
        </p:spPr>
        <p:txBody>
          <a:bodyPr wrap="square" lIns="0" tIns="0" rIns="0" bIns="0" rtlCol="0" anchor="t"/>
          <a:lstStyle/>
          <a:p>
            <a:pPr marL="0" indent="0">
              <a:lnSpc>
                <a:spcPct val="122000"/>
              </a:lnSpc>
              <a:buNone/>
            </a:pPr>
            <a:r>
              <a:rPr lang="en-US" sz="1200" dirty="0">
                <a:solidFill>
                  <a:srgbClr val="081A38"/>
                </a:solidFill>
                <a:latin typeface="Calibri" pitchFamily="34" charset="0"/>
                <a:ea typeface="Calibri" pitchFamily="34" charset="-122"/>
                <a:cs typeface="Calibri" pitchFamily="34" charset="-120"/>
              </a:rPr>
              <a:t>A managed BaaS layer replaces what would otherwise be three fragile self-hosted services (auth server, database, file server) - lower infrastructure cost, faster iteration, enterprise-grade security from launch.</a:t>
            </a:r>
            <a:endParaRPr lang="en-US" sz="1200" dirty="0"/>
          </a:p>
        </p:txBody>
      </p:sp>
      <p:sp>
        <p:nvSpPr>
          <p:cNvPr id="20" name="Text 17"/>
          <p:cNvSpPr/>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896AF05-F3A0-22C4-427B-9BA2C09A2E81}"/>
              </a:ext>
            </a:extLst>
          </p:cNvPr>
          <p:cNvPicPr>
            <a:picLocks noChangeAspect="1"/>
          </p:cNvPicPr>
          <p:nvPr/>
        </p:nvPicPr>
        <p:blipFill>
          <a:blip r:embed="rId2"/>
          <a:stretch>
            <a:fillRect/>
          </a:stretch>
        </p:blipFill>
        <p:spPr>
          <a:xfrm>
            <a:off x="3282905" y="300251"/>
            <a:ext cx="5626190" cy="6441743"/>
          </a:xfrm>
          <a:prstGeom prst="rect">
            <a:avLst/>
          </a:prstGeom>
        </p:spPr>
      </p:pic>
    </p:spTree>
    <p:extLst>
      <p:ext uri="{BB962C8B-B14F-4D97-AF65-F5344CB8AC3E}">
        <p14:creationId xmlns:p14="http://schemas.microsoft.com/office/powerpoint/2010/main" val="8674103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081A38"/>
        </a:solidFill>
        <a:effectLst/>
      </p:bgPr>
    </p:bg>
    <p:spTree>
      <p:nvGrpSpPr>
        <p:cNvPr id="1" name=""/>
        <p:cNvGrpSpPr/>
        <p:nvPr/>
      </p:nvGrpSpPr>
      <p:grpSpPr>
        <a:xfrm>
          <a:off x="0" y="0"/>
          <a:ext cx="0" cy="0"/>
          <a:chOff x="0" y="0"/>
          <a:chExt cx="0" cy="0"/>
        </a:xfrm>
      </p:grpSpPr>
      <p:sp>
        <p:nvSpPr>
          <p:cNvPr id="2" name="Shape 0"/>
          <p:cNvSpPr/>
          <p:nvPr/>
        </p:nvSpPr>
        <p:spPr>
          <a:xfrm>
            <a:off x="9326880" y="-2377440"/>
            <a:ext cx="5486400" cy="5486400"/>
          </a:xfrm>
          <a:prstGeom prst="ellipse">
            <a:avLst/>
          </a:prstGeom>
          <a:solidFill>
            <a:srgbClr val="0D2B55">
              <a:alpha val="60000"/>
            </a:srgbClr>
          </a:solidFill>
          <a:ln/>
        </p:spPr>
      </p:sp>
      <p:sp>
        <p:nvSpPr>
          <p:cNvPr id="3" name="Text 1"/>
          <p:cNvSpPr/>
          <p:nvPr/>
        </p:nvSpPr>
        <p:spPr>
          <a:xfrm>
            <a:off x="640080" y="457200"/>
            <a:ext cx="7315200" cy="274320"/>
          </a:xfrm>
          <a:prstGeom prst="rect">
            <a:avLst/>
          </a:prstGeom>
          <a:noFill/>
          <a:ln/>
        </p:spPr>
        <p:txBody>
          <a:bodyPr wrap="square" lIns="0" tIns="0" rIns="0" bIns="0" rtlCol="0" anchor="ctr"/>
          <a:lstStyle/>
          <a:p>
            <a:pPr marL="0" indent="0">
              <a:buNone/>
            </a:pPr>
            <a:r>
              <a:rPr lang="en-US" sz="1200" b="1" kern="0" spc="200" dirty="0">
                <a:solidFill>
                  <a:srgbClr val="26C6DA"/>
                </a:solidFill>
                <a:latin typeface="Calibri" pitchFamily="34" charset="0"/>
                <a:ea typeface="Calibri" pitchFamily="34" charset="-122"/>
                <a:cs typeface="Calibri" pitchFamily="34" charset="-120"/>
              </a:rPr>
              <a:t>BUILDING A SUSTAINABLE MODEL</a:t>
            </a:r>
            <a:endParaRPr lang="en-US" sz="1200" dirty="0"/>
          </a:p>
        </p:txBody>
      </p:sp>
      <p:sp>
        <p:nvSpPr>
          <p:cNvPr id="4" name="Text 2"/>
          <p:cNvSpPr/>
          <p:nvPr/>
        </p:nvSpPr>
        <p:spPr>
          <a:xfrm>
            <a:off x="640080" y="731520"/>
            <a:ext cx="10607040" cy="6400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How EduStream Sustains and Scales</a:t>
            </a:r>
            <a:endParaRPr lang="en-US" sz="2800" dirty="0"/>
          </a:p>
        </p:txBody>
      </p:sp>
      <p:sp>
        <p:nvSpPr>
          <p:cNvPr id="5" name="Shape 3"/>
          <p:cNvSpPr/>
          <p:nvPr/>
        </p:nvSpPr>
        <p:spPr>
          <a:xfrm>
            <a:off x="640080" y="1691640"/>
            <a:ext cx="5257800" cy="1965960"/>
          </a:xfrm>
          <a:prstGeom prst="roundRect">
            <a:avLst>
              <a:gd name="adj" fmla="val 4186"/>
            </a:avLst>
          </a:prstGeom>
          <a:solidFill>
            <a:srgbClr val="0D2B55"/>
          </a:solidFill>
          <a:ln/>
        </p:spPr>
      </p:sp>
      <p:sp>
        <p:nvSpPr>
          <p:cNvPr id="6" name="Shape 4"/>
          <p:cNvSpPr/>
          <p:nvPr/>
        </p:nvSpPr>
        <p:spPr>
          <a:xfrm>
            <a:off x="914400" y="1965960"/>
            <a:ext cx="566928" cy="566928"/>
          </a:xfrm>
          <a:prstGeom prst="ellipse">
            <a:avLst/>
          </a:prstGeom>
          <a:solidFill>
            <a:srgbClr val="1E88E5"/>
          </a:solidFill>
          <a:ln/>
        </p:spPr>
      </p:sp>
      <p:pic>
        <p:nvPicPr>
          <p:cNvPr id="7" name="Image 0" descr="icons/revenue_white.png"/>
          <p:cNvPicPr>
            <a:picLocks noChangeAspect="1"/>
          </p:cNvPicPr>
          <p:nvPr/>
        </p:nvPicPr>
        <p:blipFill>
          <a:blip r:embed="rId3"/>
          <a:stretch>
            <a:fillRect/>
          </a:stretch>
        </p:blipFill>
        <p:spPr>
          <a:xfrm>
            <a:off x="993770" y="2045330"/>
            <a:ext cx="408188" cy="408188"/>
          </a:xfrm>
          <a:prstGeom prst="rect">
            <a:avLst/>
          </a:prstGeom>
        </p:spPr>
      </p:pic>
      <p:sp>
        <p:nvSpPr>
          <p:cNvPr id="8" name="Text 5"/>
          <p:cNvSpPr/>
          <p:nvPr/>
        </p:nvSpPr>
        <p:spPr>
          <a:xfrm>
            <a:off x="1645920" y="1947672"/>
            <a:ext cx="4023360" cy="502920"/>
          </a:xfrm>
          <a:prstGeom prst="rect">
            <a:avLst/>
          </a:prstGeom>
          <a:noFill/>
          <a:ln/>
        </p:spPr>
        <p:txBody>
          <a:bodyPr wrap="square" lIns="0" tIns="0" rIns="0" bIns="0" rtlCol="0" anchor="t"/>
          <a:lstStyle/>
          <a:p>
            <a:pPr marL="0" indent="0">
              <a:buNone/>
            </a:pPr>
            <a:r>
              <a:rPr lang="en-US" sz="1550" b="1" dirty="0">
                <a:solidFill>
                  <a:srgbClr val="FFFFFF"/>
                </a:solidFill>
                <a:latin typeface="Cambria" pitchFamily="34" charset="0"/>
                <a:ea typeface="Cambria" pitchFamily="34" charset="-122"/>
                <a:cs typeface="Cambria" pitchFamily="34" charset="-120"/>
              </a:rPr>
              <a:t>Institutional SaaS Licensing</a:t>
            </a:r>
            <a:endParaRPr lang="en-US" sz="1550" dirty="0"/>
          </a:p>
        </p:txBody>
      </p:sp>
      <p:sp>
        <p:nvSpPr>
          <p:cNvPr id="9" name="Text 6"/>
          <p:cNvSpPr/>
          <p:nvPr/>
        </p:nvSpPr>
        <p:spPr>
          <a:xfrm>
            <a:off x="914400" y="2560320"/>
            <a:ext cx="4709160" cy="1005840"/>
          </a:xfrm>
          <a:prstGeom prst="rect">
            <a:avLst/>
          </a:prstGeom>
          <a:noFill/>
          <a:ln/>
        </p:spPr>
        <p:txBody>
          <a:bodyPr wrap="square" lIns="0" tIns="0" rIns="0" bIns="0" rtlCol="0" anchor="ctr"/>
          <a:lstStyle/>
          <a:p>
            <a:pPr marL="0" indent="0">
              <a:lnSpc>
                <a:spcPct val="120000"/>
              </a:lnSpc>
              <a:buNone/>
            </a:pPr>
            <a:r>
              <a:rPr lang="en-US" sz="1150" dirty="0">
                <a:solidFill>
                  <a:srgbClr val="C9D6E8"/>
                </a:solidFill>
                <a:latin typeface="Calibri" pitchFamily="34" charset="0"/>
                <a:ea typeface="Calibri" pitchFamily="34" charset="-122"/>
                <a:cs typeface="Calibri" pitchFamily="34" charset="-120"/>
              </a:rPr>
              <a:t>Tiered per-active-student pricing for universities - Starter, Growth, Enterprise - covering hosting, analytics and support.</a:t>
            </a:r>
            <a:endParaRPr lang="en-US" sz="1150" dirty="0"/>
          </a:p>
        </p:txBody>
      </p:sp>
      <p:sp>
        <p:nvSpPr>
          <p:cNvPr id="10" name="Shape 7"/>
          <p:cNvSpPr/>
          <p:nvPr/>
        </p:nvSpPr>
        <p:spPr>
          <a:xfrm>
            <a:off x="6172200" y="1691640"/>
            <a:ext cx="5257800" cy="1965960"/>
          </a:xfrm>
          <a:prstGeom prst="roundRect">
            <a:avLst>
              <a:gd name="adj" fmla="val 4186"/>
            </a:avLst>
          </a:prstGeom>
          <a:solidFill>
            <a:srgbClr val="0D2B55"/>
          </a:solidFill>
          <a:ln/>
        </p:spPr>
      </p:sp>
      <p:sp>
        <p:nvSpPr>
          <p:cNvPr id="11" name="Shape 8"/>
          <p:cNvSpPr/>
          <p:nvPr/>
        </p:nvSpPr>
        <p:spPr>
          <a:xfrm>
            <a:off x="6446520" y="1965960"/>
            <a:ext cx="566928" cy="566928"/>
          </a:xfrm>
          <a:prstGeom prst="ellipse">
            <a:avLst/>
          </a:prstGeom>
          <a:solidFill>
            <a:srgbClr val="1E88E5"/>
          </a:solidFill>
          <a:ln/>
        </p:spPr>
      </p:sp>
      <p:pic>
        <p:nvPicPr>
          <p:cNvPr id="12" name="Image 1" descr="icons/school_white.png"/>
          <p:cNvPicPr>
            <a:picLocks noChangeAspect="1"/>
          </p:cNvPicPr>
          <p:nvPr/>
        </p:nvPicPr>
        <p:blipFill>
          <a:blip r:embed="rId4"/>
          <a:stretch>
            <a:fillRect/>
          </a:stretch>
        </p:blipFill>
        <p:spPr>
          <a:xfrm>
            <a:off x="6525890" y="2045330"/>
            <a:ext cx="408188" cy="408188"/>
          </a:xfrm>
          <a:prstGeom prst="rect">
            <a:avLst/>
          </a:prstGeom>
        </p:spPr>
      </p:pic>
      <p:sp>
        <p:nvSpPr>
          <p:cNvPr id="13" name="Text 9"/>
          <p:cNvSpPr/>
          <p:nvPr/>
        </p:nvSpPr>
        <p:spPr>
          <a:xfrm>
            <a:off x="7178040" y="1947672"/>
            <a:ext cx="4023360" cy="502920"/>
          </a:xfrm>
          <a:prstGeom prst="rect">
            <a:avLst/>
          </a:prstGeom>
          <a:noFill/>
          <a:ln/>
        </p:spPr>
        <p:txBody>
          <a:bodyPr wrap="square" lIns="0" tIns="0" rIns="0" bIns="0" rtlCol="0" anchor="t"/>
          <a:lstStyle/>
          <a:p>
            <a:pPr marL="0" indent="0">
              <a:buNone/>
            </a:pPr>
            <a:r>
              <a:rPr lang="en-US" sz="1550" b="1" dirty="0">
                <a:solidFill>
                  <a:srgbClr val="FFFFFF"/>
                </a:solidFill>
                <a:latin typeface="Cambria" pitchFamily="34" charset="0"/>
                <a:ea typeface="Cambria" pitchFamily="34" charset="-122"/>
                <a:cs typeface="Cambria" pitchFamily="34" charset="-120"/>
              </a:rPr>
              <a:t>Freemium for Educators</a:t>
            </a:r>
            <a:endParaRPr lang="en-US" sz="1550" dirty="0"/>
          </a:p>
        </p:txBody>
      </p:sp>
      <p:sp>
        <p:nvSpPr>
          <p:cNvPr id="14" name="Text 10"/>
          <p:cNvSpPr/>
          <p:nvPr/>
        </p:nvSpPr>
        <p:spPr>
          <a:xfrm>
            <a:off x="6446520" y="2560320"/>
            <a:ext cx="4709160" cy="1005840"/>
          </a:xfrm>
          <a:prstGeom prst="rect">
            <a:avLst/>
          </a:prstGeom>
          <a:noFill/>
          <a:ln/>
        </p:spPr>
        <p:txBody>
          <a:bodyPr wrap="square" lIns="0" tIns="0" rIns="0" bIns="0" rtlCol="0" anchor="ctr"/>
          <a:lstStyle/>
          <a:p>
            <a:pPr marL="0" indent="0">
              <a:lnSpc>
                <a:spcPct val="120000"/>
              </a:lnSpc>
              <a:buNone/>
            </a:pPr>
            <a:r>
              <a:rPr lang="en-US" sz="1150" dirty="0">
                <a:solidFill>
                  <a:srgbClr val="C9D6E8"/>
                </a:solidFill>
                <a:latin typeface="Calibri" pitchFamily="34" charset="0"/>
                <a:ea typeface="Calibri" pitchFamily="34" charset="-122"/>
                <a:cs typeface="Calibri" pitchFamily="34" charset="-120"/>
              </a:rPr>
              <a:t>Individual instructors and small schools use core delivery free; paid upgrade unlocks analytics, QoE reporting and admin tooling.</a:t>
            </a:r>
            <a:endParaRPr lang="en-US" sz="1150" dirty="0"/>
          </a:p>
        </p:txBody>
      </p:sp>
      <p:sp>
        <p:nvSpPr>
          <p:cNvPr id="15" name="Shape 11"/>
          <p:cNvSpPr/>
          <p:nvPr/>
        </p:nvSpPr>
        <p:spPr>
          <a:xfrm>
            <a:off x="640080" y="3931920"/>
            <a:ext cx="5257800" cy="1965960"/>
          </a:xfrm>
          <a:prstGeom prst="roundRect">
            <a:avLst>
              <a:gd name="adj" fmla="val 4186"/>
            </a:avLst>
          </a:prstGeom>
          <a:solidFill>
            <a:srgbClr val="0D2B55"/>
          </a:solidFill>
          <a:ln/>
        </p:spPr>
      </p:sp>
      <p:sp>
        <p:nvSpPr>
          <p:cNvPr id="16" name="Shape 12"/>
          <p:cNvSpPr/>
          <p:nvPr/>
        </p:nvSpPr>
        <p:spPr>
          <a:xfrm>
            <a:off x="914400" y="4206240"/>
            <a:ext cx="566928" cy="566928"/>
          </a:xfrm>
          <a:prstGeom prst="ellipse">
            <a:avLst/>
          </a:prstGeom>
          <a:solidFill>
            <a:srgbClr val="1E88E5"/>
          </a:solidFill>
          <a:ln/>
        </p:spPr>
      </p:sp>
      <p:pic>
        <p:nvPicPr>
          <p:cNvPr id="17" name="Image 2" descr="icons/partner_white.png"/>
          <p:cNvPicPr>
            <a:picLocks noChangeAspect="1"/>
          </p:cNvPicPr>
          <p:nvPr/>
        </p:nvPicPr>
        <p:blipFill>
          <a:blip r:embed="rId5"/>
          <a:stretch>
            <a:fillRect/>
          </a:stretch>
        </p:blipFill>
        <p:spPr>
          <a:xfrm>
            <a:off x="993770" y="4285610"/>
            <a:ext cx="408188" cy="408188"/>
          </a:xfrm>
          <a:prstGeom prst="rect">
            <a:avLst/>
          </a:prstGeom>
        </p:spPr>
      </p:pic>
      <p:sp>
        <p:nvSpPr>
          <p:cNvPr id="18" name="Text 13"/>
          <p:cNvSpPr/>
          <p:nvPr/>
        </p:nvSpPr>
        <p:spPr>
          <a:xfrm>
            <a:off x="1645920" y="4187952"/>
            <a:ext cx="4023360" cy="502920"/>
          </a:xfrm>
          <a:prstGeom prst="rect">
            <a:avLst/>
          </a:prstGeom>
          <a:noFill/>
          <a:ln/>
        </p:spPr>
        <p:txBody>
          <a:bodyPr wrap="square" lIns="0" tIns="0" rIns="0" bIns="0" rtlCol="0" anchor="t"/>
          <a:lstStyle/>
          <a:p>
            <a:pPr marL="0" indent="0">
              <a:buNone/>
            </a:pPr>
            <a:r>
              <a:rPr lang="en-US" sz="1550" b="1" dirty="0">
                <a:solidFill>
                  <a:srgbClr val="FFFFFF"/>
                </a:solidFill>
                <a:latin typeface="Cambria" pitchFamily="34" charset="0"/>
                <a:ea typeface="Cambria" pitchFamily="34" charset="-122"/>
                <a:cs typeface="Cambria" pitchFamily="34" charset="-120"/>
              </a:rPr>
              <a:t>Digital-Inclusion Partnerships</a:t>
            </a:r>
            <a:endParaRPr lang="en-US" sz="1550" dirty="0"/>
          </a:p>
        </p:txBody>
      </p:sp>
      <p:sp>
        <p:nvSpPr>
          <p:cNvPr id="19" name="Text 14"/>
          <p:cNvSpPr/>
          <p:nvPr/>
        </p:nvSpPr>
        <p:spPr>
          <a:xfrm>
            <a:off x="914400" y="4800600"/>
            <a:ext cx="4709160" cy="1005840"/>
          </a:xfrm>
          <a:prstGeom prst="rect">
            <a:avLst/>
          </a:prstGeom>
          <a:noFill/>
          <a:ln/>
        </p:spPr>
        <p:txBody>
          <a:bodyPr wrap="square" lIns="0" tIns="0" rIns="0" bIns="0" rtlCol="0" anchor="ctr"/>
          <a:lstStyle/>
          <a:p>
            <a:pPr marL="0" indent="0">
              <a:lnSpc>
                <a:spcPct val="120000"/>
              </a:lnSpc>
              <a:buNone/>
            </a:pPr>
            <a:r>
              <a:rPr lang="en-US" sz="1150" dirty="0">
                <a:solidFill>
                  <a:srgbClr val="C9D6E8"/>
                </a:solidFill>
                <a:latin typeface="Calibri" pitchFamily="34" charset="0"/>
                <a:ea typeface="Calibri" pitchFamily="34" charset="-122"/>
                <a:cs typeface="Calibri" pitchFamily="34" charset="-120"/>
              </a:rPr>
              <a:t>Anonymized, aggregate network-quality insights licensed to ISPs, regulators and NGOs tracking connectivity and access gaps.</a:t>
            </a:r>
            <a:endParaRPr lang="en-US" sz="1150" dirty="0"/>
          </a:p>
        </p:txBody>
      </p:sp>
      <p:sp>
        <p:nvSpPr>
          <p:cNvPr id="20" name="Shape 15"/>
          <p:cNvSpPr/>
          <p:nvPr/>
        </p:nvSpPr>
        <p:spPr>
          <a:xfrm>
            <a:off x="6172200" y="3931920"/>
            <a:ext cx="5257800" cy="1965960"/>
          </a:xfrm>
          <a:prstGeom prst="roundRect">
            <a:avLst>
              <a:gd name="adj" fmla="val 4186"/>
            </a:avLst>
          </a:prstGeom>
          <a:solidFill>
            <a:srgbClr val="0D2B55"/>
          </a:solidFill>
          <a:ln/>
        </p:spPr>
      </p:sp>
      <p:sp>
        <p:nvSpPr>
          <p:cNvPr id="21" name="Shape 16"/>
          <p:cNvSpPr/>
          <p:nvPr/>
        </p:nvSpPr>
        <p:spPr>
          <a:xfrm>
            <a:off x="6446520" y="4206240"/>
            <a:ext cx="566928" cy="566928"/>
          </a:xfrm>
          <a:prstGeom prst="ellipse">
            <a:avLst/>
          </a:prstGeom>
          <a:solidFill>
            <a:srgbClr val="1E88E5"/>
          </a:solidFill>
          <a:ln/>
        </p:spPr>
      </p:sp>
      <p:pic>
        <p:nvPicPr>
          <p:cNvPr id="22" name="Image 3" descr="icons/money_white.png"/>
          <p:cNvPicPr>
            <a:picLocks noChangeAspect="1"/>
          </p:cNvPicPr>
          <p:nvPr/>
        </p:nvPicPr>
        <p:blipFill>
          <a:blip r:embed="rId6"/>
          <a:stretch>
            <a:fillRect/>
          </a:stretch>
        </p:blipFill>
        <p:spPr>
          <a:xfrm>
            <a:off x="6525890" y="4285610"/>
            <a:ext cx="408188" cy="408188"/>
          </a:xfrm>
          <a:prstGeom prst="rect">
            <a:avLst/>
          </a:prstGeom>
        </p:spPr>
      </p:pic>
      <p:sp>
        <p:nvSpPr>
          <p:cNvPr id="23" name="Text 17"/>
          <p:cNvSpPr/>
          <p:nvPr/>
        </p:nvSpPr>
        <p:spPr>
          <a:xfrm>
            <a:off x="7178040" y="4187952"/>
            <a:ext cx="4023360" cy="502920"/>
          </a:xfrm>
          <a:prstGeom prst="rect">
            <a:avLst/>
          </a:prstGeom>
          <a:noFill/>
          <a:ln/>
        </p:spPr>
        <p:txBody>
          <a:bodyPr wrap="square" lIns="0" tIns="0" rIns="0" bIns="0" rtlCol="0" anchor="t"/>
          <a:lstStyle/>
          <a:p>
            <a:pPr marL="0" indent="0">
              <a:buNone/>
            </a:pPr>
            <a:r>
              <a:rPr lang="en-US" sz="1550" b="1" dirty="0">
                <a:solidFill>
                  <a:srgbClr val="FFFFFF"/>
                </a:solidFill>
                <a:latin typeface="Cambria" pitchFamily="34" charset="0"/>
                <a:ea typeface="Cambria" pitchFamily="34" charset="-122"/>
                <a:cs typeface="Cambria" pitchFamily="34" charset="-120"/>
              </a:rPr>
              <a:t>Grants &amp; Development Funding</a:t>
            </a:r>
            <a:endParaRPr lang="en-US" sz="1550" dirty="0"/>
          </a:p>
        </p:txBody>
      </p:sp>
      <p:sp>
        <p:nvSpPr>
          <p:cNvPr id="24" name="Text 18"/>
          <p:cNvSpPr/>
          <p:nvPr/>
        </p:nvSpPr>
        <p:spPr>
          <a:xfrm>
            <a:off x="6446520" y="4800600"/>
            <a:ext cx="4709160" cy="1005840"/>
          </a:xfrm>
          <a:prstGeom prst="rect">
            <a:avLst/>
          </a:prstGeom>
          <a:noFill/>
          <a:ln/>
        </p:spPr>
        <p:txBody>
          <a:bodyPr wrap="square" lIns="0" tIns="0" rIns="0" bIns="0" rtlCol="0" anchor="ctr"/>
          <a:lstStyle/>
          <a:p>
            <a:pPr marL="0" indent="0">
              <a:lnSpc>
                <a:spcPct val="120000"/>
              </a:lnSpc>
              <a:buNone/>
            </a:pPr>
            <a:r>
              <a:rPr lang="en-US" sz="1150" dirty="0">
                <a:solidFill>
                  <a:srgbClr val="C9D6E8"/>
                </a:solidFill>
                <a:latin typeface="Calibri" pitchFamily="34" charset="0"/>
                <a:ea typeface="Calibri" pitchFamily="34" charset="-122"/>
                <a:cs typeface="Calibri" pitchFamily="34" charset="-120"/>
              </a:rPr>
              <a:t>Alignment with World Bank, UNESCO and GPE digital-education inclusion funding streams and government EdTech subsidies.</a:t>
            </a:r>
            <a:endParaRPr lang="en-US" sz="1150" dirty="0"/>
          </a:p>
        </p:txBody>
      </p:sp>
      <p:sp>
        <p:nvSpPr>
          <p:cNvPr id="25" name="Text 19"/>
          <p:cNvSpPr/>
          <p:nvPr/>
        </p:nvSpPr>
        <p:spPr>
          <a:xfrm>
            <a:off x="640080" y="5989320"/>
            <a:ext cx="10881360" cy="548640"/>
          </a:xfrm>
          <a:prstGeom prst="rect">
            <a:avLst/>
          </a:prstGeom>
          <a:noFill/>
          <a:ln/>
        </p:spPr>
        <p:txBody>
          <a:bodyPr wrap="square" lIns="0" tIns="0" rIns="0" bIns="0" rtlCol="0" anchor="ctr"/>
          <a:lstStyle/>
          <a:p>
            <a:pPr marL="0" indent="0">
              <a:buNone/>
            </a:pPr>
            <a:r>
              <a:rPr lang="en-US" sz="1350" i="1" dirty="0">
                <a:solidFill>
                  <a:srgbClr val="26C6DA"/>
                </a:solidFill>
                <a:latin typeface="Cambria" pitchFamily="34" charset="0"/>
                <a:ea typeface="Cambria" pitchFamily="34" charset="-122"/>
                <a:cs typeface="Cambria" pitchFamily="34" charset="-120"/>
              </a:rPr>
              <a:t>Near term: land 3-5 partner faculties at University of Buea as a reference deployment, prove QoE-driven retention gains, then license to peer institutions across the region.</a:t>
            </a:r>
            <a:endParaRPr lang="en-US" sz="1350" dirty="0"/>
          </a:p>
        </p:txBody>
      </p:sp>
      <p:sp>
        <p:nvSpPr>
          <p:cNvPr id="26" name="Text 20"/>
          <p:cNvSpPr/>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E57C1-5C51-EEBF-D2D5-934E403B1C29}"/>
            </a:ext>
          </a:extLst>
        </p:cNvPr>
        <p:cNvGrpSpPr/>
        <p:nvPr/>
      </p:nvGrpSpPr>
      <p:grpSpPr>
        <a:xfrm>
          <a:off x="0" y="0"/>
          <a:ext cx="0" cy="0"/>
          <a:chOff x="0" y="0"/>
          <a:chExt cx="0" cy="0"/>
        </a:xfrm>
      </p:grpSpPr>
      <p:sp>
        <p:nvSpPr>
          <p:cNvPr id="22" name="Shape 0">
            <a:extLst>
              <a:ext uri="{FF2B5EF4-FFF2-40B4-BE49-F238E27FC236}">
                <a16:creationId xmlns:a16="http://schemas.microsoft.com/office/drawing/2014/main" id="{2CDCCEA6-07A3-572F-DE16-575FEE504B53}"/>
              </a:ext>
            </a:extLst>
          </p:cNvPr>
          <p:cNvSpPr/>
          <p:nvPr/>
        </p:nvSpPr>
        <p:spPr>
          <a:xfrm>
            <a:off x="2842053" y="0"/>
            <a:ext cx="6054811" cy="6858000"/>
          </a:xfrm>
          <a:prstGeom prst="rect">
            <a:avLst/>
          </a:prstGeom>
          <a:solidFill>
            <a:srgbClr val="0D2B55"/>
          </a:solidFill>
          <a:ln/>
        </p:spPr>
        <p:txBody>
          <a:bodyPr/>
          <a:lstStyle/>
          <a:p>
            <a:pPr algn="ctr"/>
            <a:endParaRPr lang="en-US" sz="4400" b="1" dirty="0">
              <a:latin typeface="Arial Black" panose="020B0A04020102020204" pitchFamily="34" charset="0"/>
            </a:endParaRPr>
          </a:p>
          <a:p>
            <a:pPr algn="ctr"/>
            <a:endParaRPr lang="en-US" sz="4400" b="1" dirty="0">
              <a:latin typeface="Arial Black" panose="020B0A04020102020204" pitchFamily="34" charset="0"/>
            </a:endParaRPr>
          </a:p>
          <a:p>
            <a:pPr algn="ctr"/>
            <a:endParaRPr lang="en-US" sz="4400" b="1" dirty="0">
              <a:latin typeface="Arial Black" panose="020B0A04020102020204" pitchFamily="34" charset="0"/>
            </a:endParaRPr>
          </a:p>
          <a:p>
            <a:pPr algn="ctr">
              <a:lnSpc>
                <a:spcPct val="200000"/>
              </a:lnSpc>
            </a:pPr>
            <a:endParaRPr lang="en-US" sz="4400" b="1" i="1" dirty="0">
              <a:latin typeface="Times New Roman" panose="02020603050405020304" pitchFamily="18" charset="0"/>
              <a:cs typeface="Times New Roman" panose="02020603050405020304" pitchFamily="18" charset="0"/>
            </a:endParaRPr>
          </a:p>
          <a:p>
            <a:pPr algn="ctr">
              <a:lnSpc>
                <a:spcPct val="200000"/>
              </a:lnSpc>
            </a:pPr>
            <a:r>
              <a:rPr lang="en-US" sz="4400" b="1" i="1" dirty="0">
                <a:latin typeface="Times New Roman" panose="02020603050405020304" pitchFamily="18" charset="0"/>
                <a:cs typeface="Times New Roman" panose="02020603050405020304" pitchFamily="18" charset="0"/>
              </a:rPr>
              <a:t>THANKS FOR YOUR KEEN ATTENTION!!!</a:t>
            </a:r>
            <a:endParaRPr lang="en-CM" sz="4400" b="1" i="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BCAFFD5-8E04-A992-DEBD-74DB0F6EFDBD}"/>
              </a:ext>
            </a:extLst>
          </p:cNvPr>
          <p:cNvPicPr>
            <a:picLocks noChangeAspect="1"/>
          </p:cNvPicPr>
          <p:nvPr/>
        </p:nvPicPr>
        <p:blipFill>
          <a:blip r:embed="rId3">
            <a:extLst>
              <a:ext uri="{28A0092B-C50C-407E-A947-70E740481C1C}">
                <a14:useLocalDpi xmlns:a14="http://schemas.microsoft.com/office/drawing/2010/main" val="0"/>
              </a:ext>
            </a:extLst>
          </a:blip>
          <a:srcRect t="6132" r="25010" b="13984"/>
          <a:stretch>
            <a:fillRect/>
          </a:stretch>
        </p:blipFill>
        <p:spPr>
          <a:xfrm>
            <a:off x="3572337" y="1506413"/>
            <a:ext cx="4594242" cy="1199718"/>
          </a:xfrm>
          <a:prstGeom prst="rect">
            <a:avLst/>
          </a:prstGeom>
        </p:spPr>
      </p:pic>
    </p:spTree>
    <p:extLst>
      <p:ext uri="{BB962C8B-B14F-4D97-AF65-F5344CB8AC3E}">
        <p14:creationId xmlns:p14="http://schemas.microsoft.com/office/powerpoint/2010/main" val="36508278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127</TotalTime>
  <Words>1338</Words>
  <Application>Microsoft Office PowerPoint</Application>
  <PresentationFormat>Widescreen</PresentationFormat>
  <Paragraphs>166</Paragraphs>
  <Slides>14</Slides>
  <Notes>11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EduStream - Adaptive Mobile E-Learning Platform</dc:title>
  <dc:subject>PptxGenJS Presentation</dc:subject>
  <dc:creator>Group 21</dc:creator>
  <cp:lastModifiedBy>Makane Thanks</cp:lastModifiedBy>
  <cp:revision>6</cp:revision>
  <dcterms:created xsi:type="dcterms:W3CDTF">2026-07-04T08:25:29Z</dcterms:created>
  <dcterms:modified xsi:type="dcterms:W3CDTF">2026-07-04T15:15:17Z</dcterms:modified>
</cp:coreProperties>
</file>