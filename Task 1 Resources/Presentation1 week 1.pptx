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4" d="100"/>
          <a:sy n="74" d="100"/>
        </p:scale>
        <p:origin x="57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9902F46C-AB16-4976-9083-30C6621DD5F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222956-A4E7-4E83-8809-34694EAA932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902F46C-AB16-4976-9083-30C6621DD5F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222956-A4E7-4E83-8809-34694EAA932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902F46C-AB16-4976-9083-30C6621DD5F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222956-A4E7-4E83-8809-34694EAA932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9902F46C-AB16-4976-9083-30C6621DD5F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222956-A4E7-4E83-8809-34694EAA932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9902F46C-AB16-4976-9083-30C6621DD5F6}"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222956-A4E7-4E83-8809-34694EAA932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9902F46C-AB16-4976-9083-30C6621DD5F6}"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222956-A4E7-4E83-8809-34694EAA932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02F46C-AB16-4976-9083-30C6621DD5F6}"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222956-A4E7-4E83-8809-34694EAA932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902F46C-AB16-4976-9083-30C6621DD5F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222956-A4E7-4E83-8809-34694EAA932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902F46C-AB16-4976-9083-30C6621DD5F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222956-A4E7-4E83-8809-34694EAA932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902F46C-AB16-4976-9083-30C6621DD5F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222956-A4E7-4E83-8809-34694EAA932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902F46C-AB16-4976-9083-30C6621DD5F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222956-A4E7-4E83-8809-34694EAA932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02F46C-AB16-4976-9083-30C6621DD5F6}"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222956-A4E7-4E83-8809-34694EAA9323}"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normAutofit/>
          </a:bodyPr>
          <a:lstStyle/>
          <a:p>
            <a:r>
              <a:rPr lang="en-US" sz="2800" b="1" dirty="0"/>
              <a:t>TASK 1 PRESENTATION BY GROUP 21</a:t>
            </a:r>
            <a:endParaRPr lang="en-US" sz="2800" b="1" dirty="0"/>
          </a:p>
          <a:p>
            <a:r>
              <a:rPr lang="en-US" sz="2800" b="1" dirty="0"/>
              <a:t>CEF 440 </a:t>
            </a:r>
            <a:endParaRPr lang="en-US" sz="2800" b="1" dirty="0"/>
          </a:p>
          <a:p>
            <a:r>
              <a:rPr lang="en-US" sz="2800" b="1" dirty="0"/>
              <a:t>Dr </a:t>
            </a:r>
            <a:r>
              <a:rPr lang="en-US" sz="2800" b="1" dirty="0" err="1"/>
              <a:t>Nkemeni</a:t>
            </a:r>
            <a:r>
              <a:rPr lang="en-US" sz="2800" b="1" dirty="0"/>
              <a:t> Valery</a:t>
            </a:r>
            <a:endParaRPr lang="en-US" sz="2800" b="1"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92162" y="1122363"/>
            <a:ext cx="2845765" cy="17515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Objectives:</a:t>
            </a:r>
            <a:endParaRPr lang="en-US" b="1" u="sng" dirty="0"/>
          </a:p>
        </p:txBody>
      </p:sp>
      <p:sp>
        <p:nvSpPr>
          <p:cNvPr id="3" name="Content Placeholder 2"/>
          <p:cNvSpPr>
            <a:spLocks noGrp="1"/>
          </p:cNvSpPr>
          <p:nvPr>
            <p:ph idx="1"/>
          </p:nvPr>
        </p:nvSpPr>
        <p:spPr/>
        <p:txBody>
          <a:bodyPr/>
          <a:lstStyle/>
          <a:p>
            <a:r>
              <a:rPr lang="en-US" sz="3200" dirty="0"/>
              <a:t>Completely understand the “Mobile app development process” , by studying:</a:t>
            </a:r>
            <a:endParaRPr lang="en-US" sz="3200" dirty="0"/>
          </a:p>
          <a:p>
            <a:pPr>
              <a:buFont typeface="Wingdings" panose="05000000000000000000" pitchFamily="2" charset="2"/>
              <a:buChar char="ü"/>
            </a:pPr>
            <a:r>
              <a:rPr lang="en-US" dirty="0"/>
              <a:t> The various types</a:t>
            </a:r>
            <a:endParaRPr lang="en-US" dirty="0"/>
          </a:p>
          <a:p>
            <a:pPr>
              <a:buFont typeface="Wingdings" panose="05000000000000000000" pitchFamily="2" charset="2"/>
              <a:buChar char="ü"/>
            </a:pPr>
            <a:r>
              <a:rPr lang="en-US" dirty="0"/>
              <a:t>Some different frameworks and programming languages </a:t>
            </a:r>
            <a:endParaRPr lang="en-US" dirty="0"/>
          </a:p>
          <a:p>
            <a:pPr>
              <a:buFont typeface="Wingdings" panose="05000000000000000000" pitchFamily="2" charset="2"/>
              <a:buChar char="ü"/>
            </a:pPr>
            <a:r>
              <a:rPr lang="en-US" dirty="0"/>
              <a:t>The requirement engineering process</a:t>
            </a:r>
            <a:endParaRPr lang="en-US" dirty="0"/>
          </a:p>
          <a:p>
            <a:pPr>
              <a:buFont typeface="Wingdings" panose="05000000000000000000" pitchFamily="2" charset="2"/>
              <a:buChar char="ü"/>
            </a:pPr>
            <a:r>
              <a:rPr lang="en-US" dirty="0"/>
              <a:t>The various architectures and design patterns as well as…</a:t>
            </a:r>
            <a:endParaRPr lang="en-US" dirty="0"/>
          </a:p>
          <a:p>
            <a:pPr>
              <a:buFont typeface="Wingdings" panose="05000000000000000000" pitchFamily="2" charset="2"/>
              <a:buChar char="ü"/>
            </a:pPr>
            <a:r>
              <a:rPr lang="en-US" dirty="0"/>
              <a:t>The entire development cost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0735"/>
          </a:xfrm>
        </p:spPr>
        <p:txBody>
          <a:bodyPr/>
          <a:lstStyle/>
          <a:p>
            <a:r>
              <a:rPr lang="en-US" b="1" dirty="0"/>
              <a:t>Mobile Applications</a:t>
            </a:r>
            <a:endParaRPr lang="en-US" b="1" dirty="0"/>
          </a:p>
        </p:txBody>
      </p:sp>
      <p:sp>
        <p:nvSpPr>
          <p:cNvPr id="3" name="Content Placeholder 2"/>
          <p:cNvSpPr>
            <a:spLocks noGrp="1"/>
          </p:cNvSpPr>
          <p:nvPr>
            <p:ph idx="1"/>
          </p:nvPr>
        </p:nvSpPr>
        <p:spPr>
          <a:xfrm>
            <a:off x="838200" y="1165860"/>
            <a:ext cx="10515600" cy="5011103"/>
          </a:xfrm>
        </p:spPr>
        <p:txBody>
          <a:bodyPr>
            <a:normAutofit fontScale="92500"/>
          </a:bodyPr>
          <a:lstStyle/>
          <a:p>
            <a:r>
              <a:rPr lang="en-US" dirty="0"/>
              <a:t>They are simply software programs designed to run on smartphones or tablets which could be either Android or iOS devices.</a:t>
            </a:r>
            <a:endParaRPr lang="en-US" dirty="0"/>
          </a:p>
          <a:p>
            <a:endParaRPr lang="en-US" dirty="0"/>
          </a:p>
          <a:p>
            <a:r>
              <a:rPr lang="en-US" dirty="0"/>
              <a:t>This programs are created to solve 1 or more of the problems faced by different individuals in the world</a:t>
            </a:r>
            <a:endParaRPr lang="en-US" dirty="0"/>
          </a:p>
          <a:p>
            <a:endParaRPr lang="en-US" dirty="0"/>
          </a:p>
          <a:p>
            <a:r>
              <a:rPr lang="en-US" dirty="0"/>
              <a:t>They are considered to be better than websites for some basic reasons:</a:t>
            </a:r>
            <a:endParaRPr lang="en-US" dirty="0"/>
          </a:p>
          <a:p>
            <a:pPr>
              <a:buFont typeface="Wingdings" panose="05000000000000000000" pitchFamily="2" charset="2"/>
              <a:buChar char="q"/>
            </a:pPr>
            <a:r>
              <a:rPr lang="en-US" dirty="0"/>
              <a:t>Offline functionalities</a:t>
            </a:r>
            <a:endParaRPr lang="en-US" dirty="0"/>
          </a:p>
          <a:p>
            <a:pPr>
              <a:buFont typeface="Wingdings" panose="05000000000000000000" pitchFamily="2" charset="2"/>
              <a:buChar char="q"/>
            </a:pPr>
            <a:r>
              <a:rPr lang="en-US" dirty="0"/>
              <a:t>Better performance and responsiveness</a:t>
            </a:r>
            <a:endParaRPr lang="en-US" dirty="0"/>
          </a:p>
          <a:p>
            <a:pPr>
              <a:buFont typeface="Wingdings" panose="05000000000000000000" pitchFamily="2" charset="2"/>
              <a:buChar char="q"/>
            </a:pPr>
            <a:r>
              <a:rPr lang="en-US" dirty="0"/>
              <a:t> Improved security and sandboxing(apps isolated from one another through out the operating system)</a:t>
            </a:r>
            <a:endParaRPr lang="en-US" dirty="0"/>
          </a:p>
        </p:txBody>
      </p:sp>
      <p:pic>
        <p:nvPicPr>
          <p:cNvPr id="4" name="Picture 3"/>
          <p:cNvPicPr>
            <a:picLocks noChangeAspect="1"/>
          </p:cNvPicPr>
          <p:nvPr/>
        </p:nvPicPr>
        <p:blipFill>
          <a:blip r:embed="rId1"/>
          <a:stretch>
            <a:fillRect/>
          </a:stretch>
        </p:blipFill>
        <p:spPr>
          <a:xfrm>
            <a:off x="6999605" y="4140200"/>
            <a:ext cx="2762250" cy="12096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Types of Applications</a:t>
            </a:r>
            <a:endParaRPr lang="en-US" b="1" u="sng" dirty="0"/>
          </a:p>
        </p:txBody>
      </p:sp>
      <p:sp>
        <p:nvSpPr>
          <p:cNvPr id="3" name="Content Placeholder 2"/>
          <p:cNvSpPr>
            <a:spLocks noGrp="1"/>
          </p:cNvSpPr>
          <p:nvPr>
            <p:ph idx="1"/>
          </p:nvPr>
        </p:nvSpPr>
        <p:spPr/>
        <p:txBody>
          <a:bodyPr>
            <a:normAutofit lnSpcReduction="10000"/>
          </a:bodyPr>
          <a:lstStyle/>
          <a:p>
            <a:endParaRPr lang="en-US" dirty="0"/>
          </a:p>
          <a:p>
            <a:endParaRPr lang="en-US" dirty="0"/>
          </a:p>
          <a:p>
            <a:endParaRPr lang="en-US" dirty="0"/>
          </a:p>
          <a:p>
            <a:endParaRPr lang="en-US" dirty="0"/>
          </a:p>
          <a:p>
            <a:r>
              <a:rPr lang="en-US" dirty="0"/>
              <a:t>Some companies may decide to create both a mobile application and website for the following reasons:</a:t>
            </a:r>
            <a:endParaRPr lang="en-US" dirty="0"/>
          </a:p>
          <a:p>
            <a:r>
              <a:rPr lang="en-US" dirty="0"/>
              <a:t>Easy access anytime and anywhere</a:t>
            </a:r>
            <a:endParaRPr lang="en-US" dirty="0"/>
          </a:p>
          <a:p>
            <a:r>
              <a:rPr lang="en-US" dirty="0"/>
              <a:t>Better user experience</a:t>
            </a:r>
            <a:endParaRPr lang="en-US" dirty="0"/>
          </a:p>
          <a:p>
            <a:r>
              <a:rPr lang="en-US" dirty="0"/>
              <a:t>Easy discovery</a:t>
            </a:r>
            <a:endParaRPr lang="en-US" dirty="0"/>
          </a:p>
          <a:p>
            <a:endParaRPr lang="en-US" dirty="0"/>
          </a:p>
        </p:txBody>
      </p:sp>
      <p:sp>
        <p:nvSpPr>
          <p:cNvPr id="4" name="Rectangle: Rounded Corners 3"/>
          <p:cNvSpPr/>
          <p:nvPr/>
        </p:nvSpPr>
        <p:spPr>
          <a:xfrm>
            <a:off x="502920" y="2080260"/>
            <a:ext cx="2537460" cy="10515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Native applications</a:t>
            </a:r>
            <a:endParaRPr lang="en-US" dirty="0"/>
          </a:p>
          <a:p>
            <a:pPr algn="ctr"/>
            <a:r>
              <a:rPr lang="en-US" dirty="0"/>
              <a:t>E.g. </a:t>
            </a:r>
            <a:r>
              <a:rPr lang="en-US" dirty="0" err="1"/>
              <a:t>Whatsapp</a:t>
            </a:r>
            <a:endParaRPr lang="en-US" dirty="0"/>
          </a:p>
        </p:txBody>
      </p:sp>
      <p:sp>
        <p:nvSpPr>
          <p:cNvPr id="5" name="Rectangle: Rounded Corners 4"/>
          <p:cNvSpPr/>
          <p:nvPr/>
        </p:nvSpPr>
        <p:spPr>
          <a:xfrm>
            <a:off x="8816340" y="2080260"/>
            <a:ext cx="2537460" cy="10515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Web applications</a:t>
            </a:r>
            <a:endParaRPr lang="en-US" dirty="0"/>
          </a:p>
          <a:p>
            <a:pPr algn="ctr"/>
            <a:r>
              <a:rPr lang="en-US" dirty="0"/>
              <a:t>Gmail(web version)</a:t>
            </a:r>
            <a:endParaRPr lang="en-US" dirty="0"/>
          </a:p>
        </p:txBody>
      </p:sp>
      <p:sp>
        <p:nvSpPr>
          <p:cNvPr id="6" name="Rectangle: Rounded Corners 5"/>
          <p:cNvSpPr/>
          <p:nvPr/>
        </p:nvSpPr>
        <p:spPr>
          <a:xfrm>
            <a:off x="4373880" y="2606040"/>
            <a:ext cx="2537460" cy="10515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Hybrid applications</a:t>
            </a:r>
            <a:endParaRPr lang="en-US" dirty="0"/>
          </a:p>
          <a:p>
            <a:pPr algn="ctr"/>
            <a:r>
              <a:rPr lang="en-US" dirty="0" err="1"/>
              <a:t>E.g.Instagram</a:t>
            </a:r>
            <a:endParaRPr lang="en-US" dirty="0"/>
          </a:p>
        </p:txBody>
      </p:sp>
      <p:cxnSp>
        <p:nvCxnSpPr>
          <p:cNvPr id="8" name="Straight Arrow Connector 7"/>
          <p:cNvCxnSpPr/>
          <p:nvPr/>
        </p:nvCxnSpPr>
        <p:spPr>
          <a:xfrm>
            <a:off x="3067050" y="2737485"/>
            <a:ext cx="1139190" cy="2628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7225665" y="2606040"/>
            <a:ext cx="1583055" cy="5257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Mobile App Programming Languages</a:t>
            </a:r>
            <a:endParaRPr lang="en-US" b="1" u="sng" dirty="0"/>
          </a:p>
        </p:txBody>
      </p:sp>
      <p:sp>
        <p:nvSpPr>
          <p:cNvPr id="3" name="Content Placeholder 2"/>
          <p:cNvSpPr>
            <a:spLocks noGrp="1"/>
          </p:cNvSpPr>
          <p:nvPr>
            <p:ph idx="1"/>
          </p:nvPr>
        </p:nvSpPr>
        <p:spPr>
          <a:xfrm>
            <a:off x="838200" y="1508760"/>
            <a:ext cx="10515600" cy="4668203"/>
          </a:xfrm>
        </p:spPr>
        <p:txBody>
          <a:bodyPr/>
          <a:lstStyle/>
          <a:p>
            <a:r>
              <a:rPr lang="en-GB" dirty="0"/>
              <a:t>Choosing the right programming language is important because it affects the performance, scalability, and overall user experience of the application.</a:t>
            </a:r>
            <a:endParaRPr lang="en-GB" dirty="0"/>
          </a:p>
          <a:p>
            <a:endParaRPr lang="en-US" dirty="0"/>
          </a:p>
        </p:txBody>
      </p:sp>
      <p:sp>
        <p:nvSpPr>
          <p:cNvPr id="5" name="Oval 4"/>
          <p:cNvSpPr/>
          <p:nvPr/>
        </p:nvSpPr>
        <p:spPr>
          <a:xfrm>
            <a:off x="403860" y="2766218"/>
            <a:ext cx="3665220" cy="13255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Android development</a:t>
            </a:r>
            <a:endParaRPr lang="en-US" dirty="0"/>
          </a:p>
        </p:txBody>
      </p:sp>
      <p:sp>
        <p:nvSpPr>
          <p:cNvPr id="6" name="Oval 5"/>
          <p:cNvSpPr/>
          <p:nvPr/>
        </p:nvSpPr>
        <p:spPr>
          <a:xfrm>
            <a:off x="4286250" y="2766058"/>
            <a:ext cx="3665220" cy="13255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Ios Development</a:t>
            </a:r>
            <a:endParaRPr lang="en-US" dirty="0"/>
          </a:p>
        </p:txBody>
      </p:sp>
      <p:sp>
        <p:nvSpPr>
          <p:cNvPr id="7" name="Oval 6"/>
          <p:cNvSpPr/>
          <p:nvPr/>
        </p:nvSpPr>
        <p:spPr>
          <a:xfrm>
            <a:off x="8168640" y="2720339"/>
            <a:ext cx="3665220" cy="13255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Cross-Platform Development(both Android and iOS)</a:t>
            </a:r>
            <a:endParaRPr lang="en-US" dirty="0"/>
          </a:p>
          <a:p>
            <a:pPr algn="ctr"/>
            <a:endParaRPr lang="en-US" dirty="0"/>
          </a:p>
        </p:txBody>
      </p:sp>
      <p:sp>
        <p:nvSpPr>
          <p:cNvPr id="8" name="Rectangle: Folded Corner 7"/>
          <p:cNvSpPr/>
          <p:nvPr/>
        </p:nvSpPr>
        <p:spPr>
          <a:xfrm>
            <a:off x="645017" y="4305880"/>
            <a:ext cx="2796540" cy="2186995"/>
          </a:xfrm>
          <a:prstGeom prst="foldedCorne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Using </a:t>
            </a:r>
            <a:r>
              <a:rPr lang="en-US" b="1" u="sng" dirty="0"/>
              <a:t>Java</a:t>
            </a:r>
            <a:r>
              <a:rPr lang="en-US" dirty="0"/>
              <a:t>:</a:t>
            </a:r>
            <a:r>
              <a:rPr lang="en-GB" dirty="0"/>
              <a:t>stability, large community support, and strong performance</a:t>
            </a:r>
            <a:endParaRPr lang="en-GB" dirty="0"/>
          </a:p>
          <a:p>
            <a:pPr algn="ctr"/>
            <a:endParaRPr lang="en-US" dirty="0"/>
          </a:p>
          <a:p>
            <a:pPr algn="ctr"/>
            <a:r>
              <a:rPr lang="en-US" dirty="0"/>
              <a:t>Using </a:t>
            </a:r>
            <a:r>
              <a:rPr lang="en-US" b="1" u="sng" dirty="0"/>
              <a:t>Kotlin</a:t>
            </a:r>
            <a:r>
              <a:rPr lang="en-US" dirty="0"/>
              <a:t>: simpler and more concise</a:t>
            </a:r>
            <a:endParaRPr lang="en-US" dirty="0"/>
          </a:p>
          <a:p>
            <a:pPr algn="ctr"/>
            <a:endParaRPr lang="en-US" dirty="0"/>
          </a:p>
        </p:txBody>
      </p:sp>
      <p:sp>
        <p:nvSpPr>
          <p:cNvPr id="9" name="Rectangle: Folded Corner 8"/>
          <p:cNvSpPr/>
          <p:nvPr/>
        </p:nvSpPr>
        <p:spPr>
          <a:xfrm>
            <a:off x="4503420" y="4305880"/>
            <a:ext cx="2796540" cy="2186995"/>
          </a:xfrm>
          <a:prstGeom prst="foldedCorne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u="sng" dirty="0"/>
              <a:t>Swift</a:t>
            </a:r>
            <a:r>
              <a:rPr lang="en-US" dirty="0"/>
              <a:t>:</a:t>
            </a:r>
            <a:r>
              <a:rPr lang="en-GB" dirty="0"/>
              <a:t> It is faster in performance, easier to read and write</a:t>
            </a:r>
            <a:endParaRPr lang="en-GB" dirty="0"/>
          </a:p>
          <a:p>
            <a:pPr algn="ctr"/>
            <a:endParaRPr lang="en-US" dirty="0"/>
          </a:p>
          <a:p>
            <a:pPr algn="ctr"/>
            <a:r>
              <a:rPr lang="en-US" b="1" u="sng" dirty="0"/>
              <a:t>Objective-C</a:t>
            </a:r>
            <a:r>
              <a:rPr lang="en-US" dirty="0"/>
              <a:t>: is the older language</a:t>
            </a:r>
            <a:endParaRPr lang="en-US" dirty="0"/>
          </a:p>
          <a:p>
            <a:pPr algn="ctr"/>
            <a:endParaRPr lang="en-US" dirty="0"/>
          </a:p>
        </p:txBody>
      </p:sp>
      <p:sp>
        <p:nvSpPr>
          <p:cNvPr id="10" name="Rectangle: Folded Corner 9"/>
          <p:cNvSpPr/>
          <p:nvPr/>
        </p:nvSpPr>
        <p:spPr>
          <a:xfrm>
            <a:off x="8602980" y="4091621"/>
            <a:ext cx="2796540" cy="2796272"/>
          </a:xfrm>
          <a:prstGeom prst="foldedCorne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u="sng" dirty="0"/>
              <a:t>JavaScript</a:t>
            </a:r>
            <a:r>
              <a:rPr lang="en-US" dirty="0"/>
              <a:t>: </a:t>
            </a:r>
            <a:r>
              <a:rPr lang="en-GB" dirty="0"/>
              <a:t>enables developers to create mobile apps using web development skills</a:t>
            </a:r>
            <a:endParaRPr lang="en-GB" dirty="0"/>
          </a:p>
          <a:p>
            <a:pPr algn="ctr"/>
            <a:endParaRPr lang="en-US" dirty="0"/>
          </a:p>
          <a:p>
            <a:pPr algn="ctr"/>
            <a:r>
              <a:rPr lang="en-US" b="1" u="sng" dirty="0"/>
              <a:t>Dart</a:t>
            </a:r>
            <a:r>
              <a:rPr lang="en-US" dirty="0"/>
              <a:t>: </a:t>
            </a:r>
            <a:r>
              <a:rPr lang="en-GB" dirty="0"/>
              <a:t>allows for fast and visually appealing application development</a:t>
            </a:r>
            <a:endParaRPr lang="en-GB" dirty="0"/>
          </a:p>
          <a:p>
            <a:pPr algn="ct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29335"/>
          </a:xfrm>
        </p:spPr>
        <p:txBody>
          <a:bodyPr>
            <a:normAutofit fontScale="90000"/>
          </a:bodyPr>
          <a:lstStyle/>
          <a:p>
            <a:r>
              <a:rPr lang="en-US" b="1" dirty="0"/>
              <a:t>Mobile App Development Frameworks:</a:t>
            </a:r>
            <a:br>
              <a:rPr lang="en-US" b="1" dirty="0"/>
            </a:br>
            <a:endParaRPr lang="en-US" dirty="0"/>
          </a:p>
        </p:txBody>
      </p:sp>
      <p:sp>
        <p:nvSpPr>
          <p:cNvPr id="3" name="Content Placeholder 2"/>
          <p:cNvSpPr>
            <a:spLocks noGrp="1"/>
          </p:cNvSpPr>
          <p:nvPr>
            <p:ph idx="1"/>
          </p:nvPr>
        </p:nvSpPr>
        <p:spPr>
          <a:xfrm>
            <a:off x="838200" y="1211580"/>
            <a:ext cx="10515600" cy="4965383"/>
          </a:xfrm>
        </p:spPr>
        <p:txBody>
          <a:bodyPr/>
          <a:lstStyle/>
          <a:p>
            <a:r>
              <a:rPr lang="en-GB" dirty="0"/>
              <a:t>Mobile app development frameworks are important tools that help developers build applications faster and more efficiently</a:t>
            </a:r>
            <a:endParaRPr lang="en-GB" dirty="0"/>
          </a:p>
          <a:p>
            <a:endParaRPr lang="en-US" dirty="0"/>
          </a:p>
        </p:txBody>
      </p:sp>
      <p:sp>
        <p:nvSpPr>
          <p:cNvPr id="4" name="Flowchart: Document 3"/>
          <p:cNvSpPr/>
          <p:nvPr/>
        </p:nvSpPr>
        <p:spPr>
          <a:xfrm>
            <a:off x="342900" y="2240915"/>
            <a:ext cx="4732020" cy="3204527"/>
          </a:xfrm>
          <a:prstGeom prst="flowChartDocument">
            <a:avLst/>
          </a:prstGeom>
        </p:spPr>
        <p:style>
          <a:lnRef idx="1">
            <a:schemeClr val="accent3"/>
          </a:lnRef>
          <a:fillRef idx="3">
            <a:schemeClr val="accent3"/>
          </a:fillRef>
          <a:effectRef idx="2">
            <a:schemeClr val="accent3"/>
          </a:effectRef>
          <a:fontRef idx="minor">
            <a:schemeClr val="lt1"/>
          </a:fontRef>
        </p:style>
        <p:txBody>
          <a:bodyPr rtlCol="0" anchor="ctr"/>
          <a:lstStyle/>
          <a:p>
            <a:endParaRPr lang="en-GB" sz="2800" b="1" dirty="0">
              <a:solidFill>
                <a:schemeClr val="tx1">
                  <a:lumMod val="95000"/>
                  <a:lumOff val="5000"/>
                </a:schemeClr>
              </a:solidFill>
            </a:endParaRPr>
          </a:p>
          <a:p>
            <a:endParaRPr lang="en-GB" sz="2800" b="1" dirty="0">
              <a:solidFill>
                <a:schemeClr val="tx1">
                  <a:lumMod val="95000"/>
                  <a:lumOff val="5000"/>
                </a:schemeClr>
              </a:solidFill>
            </a:endParaRPr>
          </a:p>
          <a:p>
            <a:r>
              <a:rPr lang="en-GB" sz="2800" b="1" dirty="0">
                <a:solidFill>
                  <a:schemeClr val="tx1">
                    <a:lumMod val="95000"/>
                    <a:lumOff val="5000"/>
                  </a:schemeClr>
                </a:solidFill>
              </a:rPr>
              <a:t>Flutter</a:t>
            </a:r>
            <a:endParaRPr lang="en-GB" sz="2800" b="1" dirty="0">
              <a:solidFill>
                <a:schemeClr val="tx1">
                  <a:lumMod val="95000"/>
                  <a:lumOff val="5000"/>
                </a:schemeClr>
              </a:solidFill>
            </a:endParaRPr>
          </a:p>
          <a:p>
            <a:pPr marL="342900" indent="-342900">
              <a:buFont typeface="Wingdings" panose="05000000000000000000" pitchFamily="2" charset="2"/>
              <a:buChar char="§"/>
            </a:pPr>
            <a:r>
              <a:rPr lang="en-GB" sz="2000" i="1" dirty="0">
                <a:solidFill>
                  <a:schemeClr val="tx1">
                    <a:lumMod val="95000"/>
                    <a:lumOff val="5000"/>
                  </a:schemeClr>
                </a:solidFill>
              </a:rPr>
              <a:t>Primary Language: Dart</a:t>
            </a:r>
            <a:endParaRPr lang="en-GB" sz="2000" dirty="0">
              <a:solidFill>
                <a:schemeClr val="tx1">
                  <a:lumMod val="95000"/>
                  <a:lumOff val="5000"/>
                </a:schemeClr>
              </a:solidFill>
            </a:endParaRPr>
          </a:p>
          <a:p>
            <a:pPr marL="342900" indent="-342900">
              <a:buFont typeface="Wingdings" panose="05000000000000000000" pitchFamily="2" charset="2"/>
              <a:buChar char="§"/>
            </a:pPr>
            <a:r>
              <a:rPr lang="en-GB" sz="2000" i="1" dirty="0">
                <a:solidFill>
                  <a:schemeClr val="tx1">
                    <a:lumMod val="95000"/>
                    <a:lumOff val="5000"/>
                  </a:schemeClr>
                </a:solidFill>
              </a:rPr>
              <a:t>Platforms: Android, iOS</a:t>
            </a:r>
            <a:endParaRPr lang="en-GB" sz="2000" i="1" dirty="0">
              <a:solidFill>
                <a:schemeClr val="tx1">
                  <a:lumMod val="95000"/>
                  <a:lumOff val="5000"/>
                </a:schemeClr>
              </a:solidFill>
            </a:endParaRPr>
          </a:p>
          <a:p>
            <a:pPr marL="342900" indent="-342900">
              <a:buFont typeface="Wingdings" panose="05000000000000000000" pitchFamily="2" charset="2"/>
              <a:buChar char="§"/>
            </a:pPr>
            <a:r>
              <a:rPr lang="en-GB" sz="2000" dirty="0">
                <a:solidFill>
                  <a:schemeClr val="tx1">
                    <a:lumMod val="95000"/>
                    <a:lumOff val="5000"/>
                  </a:schemeClr>
                </a:solidFill>
              </a:rPr>
              <a:t>One of its main advantages is its speed, especially with features like “hot reload,” which allows developers to see changes instantly while working on the app</a:t>
            </a:r>
            <a:endParaRPr lang="en-GB" sz="2000" dirty="0">
              <a:solidFill>
                <a:schemeClr val="tx1">
                  <a:lumMod val="95000"/>
                  <a:lumOff val="5000"/>
                </a:schemeClr>
              </a:solidFill>
            </a:endParaRPr>
          </a:p>
          <a:p>
            <a:endParaRPr lang="en-GB" sz="2000" dirty="0">
              <a:solidFill>
                <a:schemeClr val="tx1">
                  <a:lumMod val="95000"/>
                  <a:lumOff val="5000"/>
                </a:schemeClr>
              </a:solidFill>
            </a:endParaRPr>
          </a:p>
          <a:p>
            <a:pPr algn="ctr"/>
            <a:endParaRPr lang="en-US" dirty="0"/>
          </a:p>
        </p:txBody>
      </p:sp>
      <p:sp>
        <p:nvSpPr>
          <p:cNvPr id="5" name="Flowchart: Document 4"/>
          <p:cNvSpPr/>
          <p:nvPr/>
        </p:nvSpPr>
        <p:spPr>
          <a:xfrm>
            <a:off x="6096000" y="3744912"/>
            <a:ext cx="4732020" cy="2747963"/>
          </a:xfrm>
          <a:prstGeom prst="flowChartDocument">
            <a:avLst/>
          </a:prstGeom>
        </p:spPr>
        <p:style>
          <a:lnRef idx="1">
            <a:schemeClr val="accent3"/>
          </a:lnRef>
          <a:fillRef idx="2">
            <a:schemeClr val="accent3"/>
          </a:fillRef>
          <a:effectRef idx="1">
            <a:schemeClr val="accent3"/>
          </a:effectRef>
          <a:fontRef idx="minor">
            <a:schemeClr val="dk1"/>
          </a:fontRef>
        </p:style>
        <p:txBody>
          <a:bodyPr rtlCol="0" anchor="ctr"/>
          <a:lstStyle/>
          <a:p>
            <a:endParaRPr lang="en-GB" b="1" dirty="0"/>
          </a:p>
          <a:p>
            <a:endParaRPr lang="en-GB" b="1" dirty="0"/>
          </a:p>
          <a:p>
            <a:endParaRPr lang="en-GB" b="1" dirty="0"/>
          </a:p>
          <a:p>
            <a:endParaRPr lang="en-GB" b="1" dirty="0"/>
          </a:p>
          <a:p>
            <a:r>
              <a:rPr lang="en-GB" sz="2800" b="1" dirty="0"/>
              <a:t>React Native</a:t>
            </a:r>
            <a:endParaRPr lang="en-GB" sz="2800" b="1" dirty="0"/>
          </a:p>
          <a:p>
            <a:pPr marL="285750" indent="-285750">
              <a:buFont typeface="Wingdings" panose="05000000000000000000" pitchFamily="2" charset="2"/>
              <a:buChar char="§"/>
            </a:pPr>
            <a:r>
              <a:rPr lang="en-GB" i="1" dirty="0"/>
              <a:t>Primary Language: JavaScript</a:t>
            </a:r>
            <a:endParaRPr lang="en-GB" dirty="0"/>
          </a:p>
          <a:p>
            <a:pPr marL="285750" indent="-285750">
              <a:buFont typeface="Wingdings" panose="05000000000000000000" pitchFamily="2" charset="2"/>
              <a:buChar char="§"/>
            </a:pPr>
            <a:r>
              <a:rPr lang="en-GB" i="1" dirty="0"/>
              <a:t>Platforms: Android, iOS</a:t>
            </a:r>
            <a:endParaRPr lang="en-GB" i="1" dirty="0"/>
          </a:p>
          <a:p>
            <a:pPr marL="285750" indent="-285750">
              <a:buFont typeface="Wingdings" panose="05000000000000000000" pitchFamily="2" charset="2"/>
              <a:buChar char="§"/>
            </a:pPr>
            <a:r>
              <a:rPr lang="en-GB" dirty="0"/>
              <a:t>One key benefit is that developers can reuse components, which helps reduce development time</a:t>
            </a:r>
            <a:endParaRPr lang="en-GB" dirty="0"/>
          </a:p>
          <a:p>
            <a:endParaRPr lang="en-GB" i="1" dirty="0"/>
          </a:p>
          <a:p>
            <a:endParaRPr lang="en-GB" dirty="0"/>
          </a:p>
          <a:p>
            <a:pPr algn="ctr"/>
            <a:endParaRPr lang="en-US" dirty="0"/>
          </a:p>
        </p:txBody>
      </p:sp>
      <p:pic>
        <p:nvPicPr>
          <p:cNvPr id="6" name="Picture 5"/>
          <p:cNvPicPr>
            <a:picLocks noChangeAspect="1"/>
          </p:cNvPicPr>
          <p:nvPr/>
        </p:nvPicPr>
        <p:blipFill>
          <a:blip r:embed="rId1"/>
          <a:stretch>
            <a:fillRect/>
          </a:stretch>
        </p:blipFill>
        <p:spPr>
          <a:xfrm>
            <a:off x="2390140" y="5597525"/>
            <a:ext cx="1676400" cy="895350"/>
          </a:xfrm>
          <a:prstGeom prst="rect">
            <a:avLst/>
          </a:prstGeom>
        </p:spPr>
      </p:pic>
      <p:pic>
        <p:nvPicPr>
          <p:cNvPr id="7" name="Picture 6"/>
          <p:cNvPicPr>
            <a:picLocks noChangeAspect="1"/>
          </p:cNvPicPr>
          <p:nvPr/>
        </p:nvPicPr>
        <p:blipFill>
          <a:blip r:embed="rId2"/>
          <a:stretch>
            <a:fillRect/>
          </a:stretch>
        </p:blipFill>
        <p:spPr>
          <a:xfrm>
            <a:off x="10944860" y="4038600"/>
            <a:ext cx="1095375" cy="1219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838200" y="663575"/>
            <a:ext cx="5257800" cy="3176905"/>
          </a:xfrm>
          <a:prstGeom prst="flowChartDocument">
            <a:avLst/>
          </a:prstGeom>
        </p:spPr>
        <p:style>
          <a:lnRef idx="1">
            <a:schemeClr val="accent6"/>
          </a:lnRef>
          <a:fillRef idx="2">
            <a:schemeClr val="accent6"/>
          </a:fillRef>
          <a:effectRef idx="1">
            <a:schemeClr val="accent6"/>
          </a:effectRef>
          <a:fontRef idx="minor">
            <a:schemeClr val="dk1"/>
          </a:fontRef>
        </p:style>
        <p:txBody>
          <a:bodyPr rtlCol="0" anchor="ctr">
            <a:normAutofit fontScale="70000" lnSpcReduction="20000"/>
          </a:bodyPr>
          <a:lstStyle/>
          <a:p>
            <a:endParaRPr lang="en-GB" sz="2800" b="1" dirty="0">
              <a:solidFill>
                <a:schemeClr val="tx1">
                  <a:lumMod val="95000"/>
                  <a:lumOff val="5000"/>
                </a:schemeClr>
              </a:solidFill>
            </a:endParaRPr>
          </a:p>
          <a:p>
            <a:endParaRPr lang="en-GB" sz="2800" b="1" dirty="0">
              <a:solidFill>
                <a:schemeClr val="tx1">
                  <a:lumMod val="95000"/>
                  <a:lumOff val="5000"/>
                </a:schemeClr>
              </a:solidFill>
            </a:endParaRPr>
          </a:p>
          <a:p>
            <a:pPr marL="0" indent="0">
              <a:buNone/>
            </a:pPr>
            <a:r>
              <a:rPr lang="en-GB" sz="4000" b="1" dirty="0"/>
              <a:t>Xamarin</a:t>
            </a:r>
            <a:endParaRPr lang="en-GB" sz="4000" dirty="0"/>
          </a:p>
          <a:p>
            <a:pPr>
              <a:buFont typeface="Wingdings" panose="05000000000000000000" pitchFamily="2" charset="2"/>
              <a:buChar char="§"/>
            </a:pPr>
            <a:r>
              <a:rPr lang="en-GB" i="1" dirty="0"/>
              <a:t>Primary Language: C#</a:t>
            </a:r>
            <a:endParaRPr lang="en-GB" dirty="0"/>
          </a:p>
          <a:p>
            <a:pPr>
              <a:buFont typeface="Wingdings" panose="05000000000000000000" pitchFamily="2" charset="2"/>
              <a:buChar char="§"/>
            </a:pPr>
            <a:r>
              <a:rPr lang="en-GB" i="1" dirty="0"/>
              <a:t>Platforms: Android, iOS</a:t>
            </a:r>
            <a:endParaRPr lang="en-GB" dirty="0"/>
          </a:p>
          <a:p>
            <a:pPr>
              <a:buFont typeface="Wingdings" panose="05000000000000000000" pitchFamily="2" charset="2"/>
              <a:buChar char="§"/>
            </a:pPr>
            <a:r>
              <a:rPr lang="en-GB" dirty="0"/>
              <a:t>It allows developers to create cross-platform apps with performance that is close to native apps</a:t>
            </a:r>
            <a:endParaRPr lang="en-GB" dirty="0"/>
          </a:p>
          <a:p>
            <a:endParaRPr lang="en-GB" sz="2000" dirty="0">
              <a:solidFill>
                <a:schemeClr val="tx1">
                  <a:lumMod val="95000"/>
                  <a:lumOff val="5000"/>
                </a:schemeClr>
              </a:solidFill>
            </a:endParaRPr>
          </a:p>
          <a:p>
            <a:pPr algn="ctr"/>
            <a:endParaRPr lang="en-US" dirty="0"/>
          </a:p>
        </p:txBody>
      </p:sp>
      <p:sp>
        <p:nvSpPr>
          <p:cNvPr id="5" name="Flowchart: Document 4"/>
          <p:cNvSpPr/>
          <p:nvPr/>
        </p:nvSpPr>
        <p:spPr>
          <a:xfrm>
            <a:off x="6096000" y="3428999"/>
            <a:ext cx="5608320" cy="2930843"/>
          </a:xfrm>
          <a:prstGeom prst="flowChartDocument">
            <a:avLst/>
          </a:prstGeom>
        </p:spPr>
        <p:style>
          <a:lnRef idx="1">
            <a:schemeClr val="accent6"/>
          </a:lnRef>
          <a:fillRef idx="2">
            <a:schemeClr val="accent6"/>
          </a:fillRef>
          <a:effectRef idx="1">
            <a:schemeClr val="accent6"/>
          </a:effectRef>
          <a:fontRef idx="minor">
            <a:schemeClr val="dk1"/>
          </a:fontRef>
        </p:style>
        <p:txBody>
          <a:bodyPr rtlCol="0" anchor="ctr"/>
          <a:lstStyle/>
          <a:p>
            <a:r>
              <a:rPr lang="en-GB" sz="2800" b="1" dirty="0"/>
              <a:t>Ionic</a:t>
            </a:r>
            <a:endParaRPr lang="en-GB" sz="2800" dirty="0"/>
          </a:p>
          <a:p>
            <a:pPr marL="285750" indent="-285750">
              <a:buFont typeface="Wingdings" panose="05000000000000000000" pitchFamily="2" charset="2"/>
              <a:buChar char="§"/>
            </a:pPr>
            <a:r>
              <a:rPr lang="en-GB" i="1" dirty="0"/>
              <a:t>Primary Language: HTML, CSS, JavaScript</a:t>
            </a:r>
            <a:endParaRPr lang="en-GB" dirty="0"/>
          </a:p>
          <a:p>
            <a:pPr marL="285750" indent="-285750">
              <a:buFont typeface="Wingdings" panose="05000000000000000000" pitchFamily="2" charset="2"/>
              <a:buChar char="§"/>
            </a:pPr>
            <a:r>
              <a:rPr lang="en-GB" i="1" dirty="0"/>
              <a:t>Platforms: Android, iOS</a:t>
            </a:r>
            <a:endParaRPr lang="en-GB" sz="2800" b="1" dirty="0">
              <a:solidFill>
                <a:schemeClr val="tx1">
                  <a:lumMod val="95000"/>
                  <a:lumOff val="5000"/>
                </a:schemeClr>
              </a:solidFill>
            </a:endParaRPr>
          </a:p>
          <a:p>
            <a:pPr marL="285750" indent="-285750">
              <a:buFont typeface="Wingdings" panose="05000000000000000000" pitchFamily="2" charset="2"/>
              <a:buChar char="§"/>
            </a:pPr>
            <a:r>
              <a:rPr lang="en-GB" dirty="0"/>
              <a:t>Ionic makes it easy to create simple and functional apps quickly, although it may not perform as well as fully native apps in more complex situations.</a:t>
            </a:r>
            <a:endParaRPr lang="en-GB" dirty="0"/>
          </a:p>
          <a:p>
            <a:pPr algn="ctr"/>
            <a:endParaRPr lang="en-US" dirty="0"/>
          </a:p>
        </p:txBody>
      </p:sp>
      <p:pic>
        <p:nvPicPr>
          <p:cNvPr id="2" name="Picture 1"/>
          <p:cNvPicPr>
            <a:picLocks noChangeAspect="1"/>
          </p:cNvPicPr>
          <p:nvPr/>
        </p:nvPicPr>
        <p:blipFill>
          <a:blip r:embed="rId1"/>
          <a:stretch>
            <a:fillRect/>
          </a:stretch>
        </p:blipFill>
        <p:spPr>
          <a:xfrm>
            <a:off x="838200" y="4029710"/>
            <a:ext cx="4110990" cy="1285875"/>
          </a:xfrm>
          <a:prstGeom prst="rect">
            <a:avLst/>
          </a:prstGeom>
        </p:spPr>
      </p:pic>
      <p:pic>
        <p:nvPicPr>
          <p:cNvPr id="6" name="Picture 5"/>
          <p:cNvPicPr>
            <a:picLocks noChangeAspect="1"/>
          </p:cNvPicPr>
          <p:nvPr/>
        </p:nvPicPr>
        <p:blipFill>
          <a:blip r:embed="rId2"/>
          <a:stretch>
            <a:fillRect/>
          </a:stretch>
        </p:blipFill>
        <p:spPr>
          <a:xfrm>
            <a:off x="7059930" y="1480820"/>
            <a:ext cx="3855720" cy="15430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7895"/>
          </a:xfrm>
        </p:spPr>
        <p:txBody>
          <a:bodyPr>
            <a:normAutofit fontScale="90000"/>
          </a:bodyPr>
          <a:lstStyle/>
          <a:p>
            <a:r>
              <a:rPr lang="en-GB" b="1" dirty="0"/>
              <a:t>Mobile App Architectures and Design Patterns:</a:t>
            </a:r>
            <a:br>
              <a:rPr lang="en-GB" dirty="0"/>
            </a:br>
            <a:endParaRPr lang="en-US" dirty="0"/>
          </a:p>
        </p:txBody>
      </p:sp>
      <p:sp>
        <p:nvSpPr>
          <p:cNvPr id="3" name="Content Placeholder 2"/>
          <p:cNvSpPr>
            <a:spLocks noGrp="1"/>
          </p:cNvSpPr>
          <p:nvPr>
            <p:ph idx="1"/>
          </p:nvPr>
        </p:nvSpPr>
        <p:spPr>
          <a:xfrm>
            <a:off x="838200" y="862886"/>
            <a:ext cx="10515600" cy="5314078"/>
          </a:xfrm>
        </p:spPr>
        <p:txBody>
          <a:bodyPr>
            <a:normAutofit fontScale="70000" lnSpcReduction="20000"/>
          </a:bodyPr>
          <a:lstStyle/>
          <a:p>
            <a:pPr marL="0" indent="0">
              <a:buNone/>
            </a:pPr>
            <a:r>
              <a:rPr lang="en-GB" dirty="0">
                <a:latin typeface="Times New Roman" panose="02020603050405020304" pitchFamily="18" charset="0"/>
                <a:cs typeface="Times New Roman" panose="02020603050405020304" pitchFamily="18" charset="0"/>
              </a:rPr>
              <a:t>         It refers to the way developers organize code into structured components in order to make applications maintainable, scalable, testable, and easy to update.</a:t>
            </a: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They main types include:</a:t>
            </a:r>
            <a:endParaRPr lang="en-GB" dirty="0">
              <a:latin typeface="Times New Roman" panose="02020603050405020304" pitchFamily="18" charset="0"/>
              <a:cs typeface="Times New Roman" panose="02020603050405020304" pitchFamily="18" charset="0"/>
            </a:endParaRPr>
          </a:p>
          <a:p>
            <a:pPr marL="0" indent="0">
              <a:buNone/>
            </a:pPr>
            <a:endParaRPr lang="en-GB"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GB" b="1" dirty="0">
                <a:latin typeface="Times New Roman" panose="02020603050405020304" pitchFamily="18" charset="0"/>
                <a:cs typeface="Times New Roman" panose="02020603050405020304" pitchFamily="18" charset="0"/>
              </a:rPr>
              <a:t>MVC(Model-View-Controller): </a:t>
            </a:r>
            <a:r>
              <a:rPr lang="en-GB" dirty="0">
                <a:latin typeface="Times New Roman" panose="02020603050405020304" pitchFamily="18" charset="0"/>
                <a:cs typeface="Times New Roman" panose="02020603050405020304" pitchFamily="18" charset="0"/>
              </a:rPr>
              <a:t>In this architecture, the Model is responsible for handling data and business logic, the View is responsible for displaying the user interface, and the Controller manages user input while updating both the Model and the View. </a:t>
            </a:r>
            <a:endParaRPr lang="en-GB" dirty="0">
              <a:latin typeface="Times New Roman" panose="02020603050405020304" pitchFamily="18" charset="0"/>
              <a:cs typeface="Times New Roman" panose="02020603050405020304" pitchFamily="18" charset="0"/>
            </a:endParaRPr>
          </a:p>
          <a:p>
            <a:pPr marL="0" indent="0">
              <a:buNone/>
            </a:pPr>
            <a:endParaRPr lang="en-GB"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GB" b="1" dirty="0">
                <a:latin typeface="Times New Roman" panose="02020603050405020304" pitchFamily="18" charset="0"/>
                <a:cs typeface="Times New Roman" panose="02020603050405020304" pitchFamily="18" charset="0"/>
              </a:rPr>
              <a:t>MVP(Model–View–Presenter): </a:t>
            </a:r>
            <a:r>
              <a:rPr lang="en-GB" dirty="0">
                <a:latin typeface="Times New Roman" panose="02020603050405020304" pitchFamily="18" charset="0"/>
                <a:cs typeface="Times New Roman" panose="02020603050405020304" pitchFamily="18" charset="0"/>
              </a:rPr>
              <a:t>It</a:t>
            </a:r>
            <a:r>
              <a:rPr lang="en-GB" b="1"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is a UI architectural pattern that separates an application into three components to improve testability, maintainability, and separation of concerns. </a:t>
            </a:r>
            <a:endParaRPr lang="en-GB" dirty="0">
              <a:latin typeface="Times New Roman" panose="02020603050405020304" pitchFamily="18" charset="0"/>
              <a:cs typeface="Times New Roman" panose="02020603050405020304" pitchFamily="18" charset="0"/>
            </a:endParaRPr>
          </a:p>
          <a:p>
            <a:pPr marL="0" indent="0">
              <a:buNone/>
            </a:pPr>
            <a:endParaRPr lang="en-GB"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GB" b="1" dirty="0">
                <a:latin typeface="Times New Roman" panose="02020603050405020304" pitchFamily="18" charset="0"/>
                <a:cs typeface="Times New Roman" panose="02020603050405020304" pitchFamily="18" charset="0"/>
              </a:rPr>
              <a:t>MVVM(Model–View–</a:t>
            </a:r>
            <a:r>
              <a:rPr lang="en-GB" b="1" dirty="0" err="1">
                <a:latin typeface="Times New Roman" panose="02020603050405020304" pitchFamily="18" charset="0"/>
                <a:cs typeface="Times New Roman" panose="02020603050405020304" pitchFamily="18" charset="0"/>
              </a:rPr>
              <a:t>ViewModel</a:t>
            </a:r>
            <a:r>
              <a:rPr lang="en-GB" b="1"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It is a design pattern for structuring user-interface code that improves separation of concerns, testability, and maintainability.</a:t>
            </a:r>
            <a:endParaRPr lang="en-GB" dirty="0">
              <a:latin typeface="Times New Roman" panose="02020603050405020304" pitchFamily="18" charset="0"/>
              <a:cs typeface="Times New Roman" panose="02020603050405020304" pitchFamily="18" charset="0"/>
            </a:endParaRPr>
          </a:p>
          <a:p>
            <a:pPr marL="0" indent="0">
              <a:buNone/>
            </a:pPr>
            <a:endParaRPr lang="en-GB"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GB" b="1" dirty="0">
                <a:latin typeface="Times New Roman" panose="02020603050405020304" pitchFamily="18" charset="0"/>
                <a:cs typeface="Times New Roman" panose="02020603050405020304" pitchFamily="18" charset="0"/>
              </a:rPr>
              <a:t>Clean Architecture: </a:t>
            </a:r>
            <a:r>
              <a:rPr lang="en-GB" dirty="0">
                <a:latin typeface="Times New Roman" panose="02020603050405020304" pitchFamily="18" charset="0"/>
                <a:cs typeface="Times New Roman" panose="02020603050405020304" pitchFamily="18" charset="0"/>
              </a:rPr>
              <a:t>Which mainly organizes code to be independent of frameworks, UI, databases, and external agencies. The goal is maintainability, testability, and the ability to change implementation details (UI, DB, external services) without changing business rules.</a:t>
            </a:r>
            <a:endParaRPr lang="en-GB" dirty="0">
              <a:latin typeface="Times New Roman" panose="02020603050405020304" pitchFamily="18" charset="0"/>
              <a:cs typeface="Times New Roman" panose="02020603050405020304" pitchFamily="18" charset="0"/>
            </a:endParaRPr>
          </a:p>
          <a:p>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69315"/>
          </a:xfrm>
        </p:spPr>
        <p:txBody>
          <a:bodyPr>
            <a:normAutofit fontScale="90000"/>
          </a:bodyPr>
          <a:lstStyle/>
          <a:p>
            <a:r>
              <a:rPr lang="en-US" b="1" dirty="0"/>
              <a:t>Requirement Engineering Process</a:t>
            </a:r>
            <a:br>
              <a:rPr lang="en-US" dirty="0"/>
            </a:br>
            <a:endParaRPr lang="en-US" dirty="0"/>
          </a:p>
        </p:txBody>
      </p:sp>
      <p:sp>
        <p:nvSpPr>
          <p:cNvPr id="3" name="Content Placeholder 2"/>
          <p:cNvSpPr>
            <a:spLocks noGrp="1"/>
          </p:cNvSpPr>
          <p:nvPr>
            <p:ph idx="1"/>
          </p:nvPr>
        </p:nvSpPr>
        <p:spPr>
          <a:xfrm>
            <a:off x="838200" y="3177529"/>
            <a:ext cx="10515600" cy="525791"/>
          </a:xfrm>
        </p:spPr>
        <p:txBody>
          <a:bodyPr/>
          <a:lstStyle/>
          <a:p>
            <a:pPr marL="0" indent="0">
              <a:buNone/>
            </a:pPr>
            <a:r>
              <a:rPr lang="en-US" b="1" dirty="0"/>
              <a:t>The various Phases of requirement Engineering include</a:t>
            </a:r>
            <a:r>
              <a:rPr lang="en-US" dirty="0"/>
              <a:t>:</a:t>
            </a:r>
            <a:endParaRPr lang="en-US" dirty="0"/>
          </a:p>
        </p:txBody>
      </p:sp>
      <p:sp>
        <p:nvSpPr>
          <p:cNvPr id="4" name="Rectangle: Top Corners Rounded 3"/>
          <p:cNvSpPr/>
          <p:nvPr/>
        </p:nvSpPr>
        <p:spPr>
          <a:xfrm>
            <a:off x="838200" y="982980"/>
            <a:ext cx="10515600" cy="1920240"/>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GB" b="1" dirty="0"/>
              <a:t> </a:t>
            </a:r>
            <a:r>
              <a:rPr lang="en-GB" sz="2400" dirty="0">
                <a:latin typeface="Times New Roman" panose="02020603050405020304" pitchFamily="18" charset="0"/>
                <a:cs typeface="Times New Roman" panose="02020603050405020304" pitchFamily="18" charset="0"/>
              </a:rPr>
              <a:t>Requirement Engineering is a systematic and structured process of identifying, analysing, documenting, validating, and managing the requirements of a software system to ensure that it meets stakeholder needs and operates within defined constraints.</a:t>
            </a:r>
            <a:endParaRPr lang="en-GB" sz="2400" dirty="0">
              <a:latin typeface="Times New Roman" panose="02020603050405020304" pitchFamily="18" charset="0"/>
              <a:cs typeface="Times New Roman" panose="02020603050405020304" pitchFamily="18" charset="0"/>
            </a:endParaRPr>
          </a:p>
          <a:p>
            <a:pPr algn="ctr"/>
            <a:endParaRPr lang="en-US" dirty="0"/>
          </a:p>
        </p:txBody>
      </p:sp>
      <p:sp>
        <p:nvSpPr>
          <p:cNvPr id="5" name="Rectangle: Rounded Corners 4"/>
          <p:cNvSpPr/>
          <p:nvPr/>
        </p:nvSpPr>
        <p:spPr>
          <a:xfrm>
            <a:off x="838200" y="3703321"/>
            <a:ext cx="10515600" cy="2789554"/>
          </a:xfrm>
          <a:prstGeom prst="roundRect">
            <a:avLst/>
          </a:prstGeom>
          <a:ln>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457200" indent="-457200" algn="ctr">
              <a:buAutoNum type="alphaLcPeriod"/>
            </a:pPr>
            <a:r>
              <a:rPr lang="en-US" sz="2400" b="1" dirty="0">
                <a:latin typeface="Times New Roman" panose="02020603050405020304" pitchFamily="18" charset="0"/>
                <a:cs typeface="Times New Roman" panose="02020603050405020304" pitchFamily="18" charset="0"/>
              </a:rPr>
              <a:t>Stakeholder identification and classification:</a:t>
            </a:r>
            <a:endParaRPr lang="en-US" sz="2400" b="1" dirty="0">
              <a:latin typeface="Times New Roman" panose="02020603050405020304" pitchFamily="18" charset="0"/>
              <a:cs typeface="Times New Roman" panose="02020603050405020304" pitchFamily="18" charset="0"/>
            </a:endParaRPr>
          </a:p>
          <a:p>
            <a:pPr algn="ctr"/>
            <a:r>
              <a:rPr lang="en-GB" sz="2000" dirty="0"/>
              <a:t>The objective is to identify everyone who influences or is affected by the system</a:t>
            </a:r>
            <a:endParaRPr lang="en-GB" sz="2000" dirty="0"/>
          </a:p>
          <a:p>
            <a:pPr lvl="0"/>
            <a:r>
              <a:rPr lang="en-GB" sz="2000" b="1" u="sng" dirty="0"/>
              <a:t>Primary stakeholders: </a:t>
            </a:r>
            <a:r>
              <a:rPr lang="en-GB" sz="2000" dirty="0"/>
              <a:t>These are the end users if the product i.e. customers, students, staffs, etc.</a:t>
            </a:r>
            <a:endParaRPr lang="en-GB" sz="2000" dirty="0"/>
          </a:p>
          <a:p>
            <a:pPr lvl="0"/>
            <a:endParaRPr lang="en-GB" sz="2000" dirty="0"/>
          </a:p>
          <a:p>
            <a:pPr lvl="0"/>
            <a:r>
              <a:rPr lang="en-GB" sz="2000" b="1" u="sng" dirty="0"/>
              <a:t>Secondary stakeholders</a:t>
            </a:r>
            <a:r>
              <a:rPr lang="en-GB" sz="2000" dirty="0"/>
              <a:t>: These includes the admins, managers and support staffs of the system.</a:t>
            </a:r>
            <a:endParaRPr lang="en-GB" sz="2000" dirty="0"/>
          </a:p>
          <a:p>
            <a:pPr lvl="0"/>
            <a:endParaRPr lang="en-GB" sz="2000" dirty="0"/>
          </a:p>
          <a:p>
            <a:pPr lvl="0"/>
            <a:r>
              <a:rPr lang="en-GB" sz="2000" b="1" u="sng" dirty="0"/>
              <a:t>Tertiary Stakeholders: </a:t>
            </a:r>
            <a:r>
              <a:rPr lang="en-GB" sz="2000" dirty="0"/>
              <a:t>These are the developers, testers and regulatory bodies of the system.</a:t>
            </a:r>
            <a:endParaRPr lang="en-GB" sz="2000" dirty="0"/>
          </a:p>
          <a:p>
            <a:pPr algn="ctr"/>
            <a:endParaRPr lang="en-US" sz="2400" b="1" dirty="0">
              <a:latin typeface="Times New Roman" panose="02020603050405020304" pitchFamily="18" charset="0"/>
              <a:cs typeface="Times New Roman" panose="02020603050405020304" pitchFamily="18" charset="0"/>
            </a:endParaRPr>
          </a:p>
          <a:p>
            <a:pPr algn="ct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p:cNvSpPr/>
          <p:nvPr/>
        </p:nvSpPr>
        <p:spPr>
          <a:xfrm>
            <a:off x="437989" y="228603"/>
            <a:ext cx="10515600" cy="1417319"/>
          </a:xfrm>
          <a:prstGeom prst="roundRect">
            <a:avLst/>
          </a:prstGeom>
          <a:ln>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 </a:t>
            </a:r>
            <a:r>
              <a:rPr lang="en-GB" b="1" dirty="0"/>
              <a:t>Problem definition and scope framing: </a:t>
            </a:r>
            <a:endParaRPr lang="en-GB" dirty="0"/>
          </a:p>
          <a:p>
            <a:pPr algn="ctr"/>
            <a:r>
              <a:rPr lang="en-US" dirty="0"/>
              <a:t>We are required to answer the following questions:</a:t>
            </a:r>
            <a:endParaRPr lang="en-US" dirty="0"/>
          </a:p>
          <a:p>
            <a:r>
              <a:rPr lang="en-GB" dirty="0"/>
              <a:t> </a:t>
            </a:r>
            <a:r>
              <a:rPr lang="en-GB" b="1" dirty="0"/>
              <a:t>What is the current problem?      Who experiences it?       Why does it matter?                        </a:t>
            </a:r>
            <a:endParaRPr lang="en-GB" b="1" dirty="0"/>
          </a:p>
          <a:p>
            <a:r>
              <a:rPr lang="en-GB" dirty="0"/>
              <a:t>                         </a:t>
            </a:r>
            <a:r>
              <a:rPr lang="en-GB" b="1" dirty="0"/>
              <a:t>What is included or excluded (the scope of the project)?     What is the possible risk?</a:t>
            </a:r>
            <a:endParaRPr lang="en-US" b="1" dirty="0"/>
          </a:p>
        </p:txBody>
      </p:sp>
      <p:sp>
        <p:nvSpPr>
          <p:cNvPr id="5" name="Content Placeholder 4"/>
          <p:cNvSpPr>
            <a:spLocks noGrp="1"/>
          </p:cNvSpPr>
          <p:nvPr>
            <p:ph idx="1"/>
          </p:nvPr>
        </p:nvSpPr>
        <p:spPr>
          <a:xfrm>
            <a:off x="541020" y="1828801"/>
            <a:ext cx="10515600" cy="1068945"/>
          </a:xfrm>
          <a:prstGeom prst="roundRect">
            <a:avLst/>
          </a:prstGeom>
          <a:ln>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normAutofit fontScale="85000" lnSpcReduction="20000"/>
          </a:bodyPr>
          <a:lstStyle/>
          <a:p>
            <a:pPr marL="0" indent="0" algn="ctr">
              <a:buNone/>
            </a:pPr>
            <a:r>
              <a:rPr lang="en-US" dirty="0"/>
              <a:t>c. </a:t>
            </a:r>
            <a:r>
              <a:rPr lang="en-US" sz="2400" b="1" dirty="0"/>
              <a:t>Requirement extraction phase</a:t>
            </a:r>
            <a:r>
              <a:rPr lang="en-US" b="1" dirty="0"/>
              <a:t>:</a:t>
            </a:r>
            <a:endParaRPr lang="en-US" dirty="0"/>
          </a:p>
          <a:p>
            <a:pPr marL="0" indent="0" algn="ctr">
              <a:buNone/>
            </a:pPr>
            <a:r>
              <a:rPr lang="en-US" sz="2400" dirty="0"/>
              <a:t>The various ways used to obtain requirements from stakeholders, maybe through Surveys, brainstorming sessions, interviews, </a:t>
            </a:r>
            <a:r>
              <a:rPr lang="en-US" sz="2400" dirty="0" err="1"/>
              <a:t>etc</a:t>
            </a:r>
            <a:endParaRPr lang="en-US" sz="2400" dirty="0"/>
          </a:p>
        </p:txBody>
      </p:sp>
      <p:sp>
        <p:nvSpPr>
          <p:cNvPr id="8" name="Content Placeholder 4"/>
          <p:cNvSpPr txBox="1"/>
          <p:nvPr/>
        </p:nvSpPr>
        <p:spPr>
          <a:xfrm>
            <a:off x="437989" y="3080625"/>
            <a:ext cx="10515600" cy="1417320"/>
          </a:xfrm>
          <a:prstGeom prst="roundRect">
            <a:avLst/>
          </a:prstGeom>
          <a:ln w="12700" cap="flat" cmpd="sng" algn="ctr">
            <a:solidFill>
              <a:schemeClr val="accent2">
                <a:lumMod val="75000"/>
              </a:schemeClr>
            </a:solidFill>
            <a:prstDash val="solid"/>
            <a:miter lim="800000"/>
          </a:ln>
        </p:spPr>
        <p:style>
          <a:lnRef idx="2">
            <a:schemeClr val="accent6"/>
          </a:lnRef>
          <a:fillRef idx="1">
            <a:schemeClr val="lt1"/>
          </a:fillRef>
          <a:effectRef idx="0">
            <a:schemeClr val="accent6"/>
          </a:effectRef>
          <a:fontRef idx="minor">
            <a:schemeClr val="dk1"/>
          </a:fontRef>
        </p:style>
        <p:txBody>
          <a:bodyPr vert="horz" lIns="91440" tIns="45720" rIns="91440" bIns="45720" rtlCol="0" anchor="ct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None/>
            </a:pPr>
            <a:r>
              <a:rPr lang="en-US" sz="3300" b="1" dirty="0"/>
              <a:t>d. Documentation:</a:t>
            </a:r>
            <a:endParaRPr lang="en-US" sz="3300" b="1" dirty="0"/>
          </a:p>
          <a:p>
            <a:pPr marL="0" indent="0" algn="ctr">
              <a:buNone/>
            </a:pPr>
            <a:r>
              <a:rPr lang="en-GB" dirty="0"/>
              <a:t> Converting raw input into organized, readable format in an SRS (structured requirement specifications) documents which includes what the project is about the functional requirements and non-functional requirements</a:t>
            </a:r>
            <a:r>
              <a:rPr lang="en-US" dirty="0"/>
              <a:t> </a:t>
            </a:r>
            <a:endParaRPr lang="en-US" dirty="0"/>
          </a:p>
        </p:txBody>
      </p:sp>
      <p:sp>
        <p:nvSpPr>
          <p:cNvPr id="9" name="Content Placeholder 4"/>
          <p:cNvSpPr txBox="1"/>
          <p:nvPr/>
        </p:nvSpPr>
        <p:spPr>
          <a:xfrm>
            <a:off x="541020" y="4846319"/>
            <a:ext cx="10515600" cy="1760219"/>
          </a:xfrm>
          <a:prstGeom prst="roundRect">
            <a:avLst/>
          </a:prstGeom>
          <a:ln w="12700" cap="flat" cmpd="sng" algn="ctr">
            <a:solidFill>
              <a:schemeClr val="accent2">
                <a:lumMod val="75000"/>
              </a:schemeClr>
            </a:solidFill>
            <a:prstDash val="solid"/>
            <a:miter lim="800000"/>
          </a:ln>
        </p:spPr>
        <p:style>
          <a:lnRef idx="2">
            <a:schemeClr val="accent6"/>
          </a:lnRef>
          <a:fillRef idx="1">
            <a:schemeClr val="lt1"/>
          </a:fillRef>
          <a:effectRef idx="0">
            <a:schemeClr val="accent6"/>
          </a:effectRef>
          <a:fontRef idx="minor">
            <a:schemeClr val="dk1"/>
          </a:fontRef>
        </p:style>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None/>
            </a:pPr>
            <a:r>
              <a:rPr lang="en-US" dirty="0"/>
              <a:t>e. </a:t>
            </a:r>
            <a:r>
              <a:rPr lang="en-US" b="1" dirty="0"/>
              <a:t>Requirement Validation:</a:t>
            </a:r>
            <a:endParaRPr lang="en-US" b="1" dirty="0"/>
          </a:p>
          <a:p>
            <a:pPr marL="0" indent="0" algn="ctr">
              <a:buNone/>
            </a:pPr>
            <a:r>
              <a:rPr lang="en-GB" dirty="0"/>
              <a:t>Ensures stakeholders agree with the requirements. They check if the requirements are clear, testable and realistic</a:t>
            </a:r>
            <a:endParaRPr lang="en-GB" dirty="0"/>
          </a:p>
          <a:p>
            <a:pPr marL="0" indent="0" algn="ct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Mobile App Development Cost Estimation:</a:t>
            </a:r>
            <a:br>
              <a:rPr lang="en-GB" dirty="0"/>
            </a:br>
            <a:endParaRPr lang="en-US" dirty="0"/>
          </a:p>
        </p:txBody>
      </p:sp>
      <p:sp>
        <p:nvSpPr>
          <p:cNvPr id="3" name="Content Placeholder 2"/>
          <p:cNvSpPr>
            <a:spLocks noGrp="1"/>
          </p:cNvSpPr>
          <p:nvPr>
            <p:ph idx="1"/>
          </p:nvPr>
        </p:nvSpPr>
        <p:spPr>
          <a:xfrm>
            <a:off x="838200" y="1143001"/>
            <a:ext cx="10515600" cy="1600200"/>
          </a:xfrm>
        </p:spPr>
        <p:txBody>
          <a:bodyPr/>
          <a:lstStyle/>
          <a:p>
            <a:r>
              <a:rPr lang="en-GB" dirty="0"/>
              <a:t> It provides a detailed estimation of the cost required to develop a mobile application, identifying key cost drivers, estimation techniques, sample calculations, hidden costs, and strategic insights.</a:t>
            </a:r>
            <a:endParaRPr lang="en-US" dirty="0"/>
          </a:p>
        </p:txBody>
      </p:sp>
      <p:sp>
        <p:nvSpPr>
          <p:cNvPr id="4" name="Oval 3"/>
          <p:cNvSpPr/>
          <p:nvPr/>
        </p:nvSpPr>
        <p:spPr>
          <a:xfrm>
            <a:off x="548640" y="2697480"/>
            <a:ext cx="4183380" cy="75438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Cost drivers</a:t>
            </a:r>
            <a:endParaRPr lang="en-US" sz="2800" b="1" dirty="0"/>
          </a:p>
        </p:txBody>
      </p:sp>
      <p:sp>
        <p:nvSpPr>
          <p:cNvPr id="5" name="TextBox 4"/>
          <p:cNvSpPr txBox="1"/>
          <p:nvPr/>
        </p:nvSpPr>
        <p:spPr>
          <a:xfrm>
            <a:off x="1051560" y="3794760"/>
            <a:ext cx="10035540" cy="3108543"/>
          </a:xfrm>
          <a:prstGeom prst="rect">
            <a:avLst/>
          </a:prstGeom>
          <a:noFill/>
        </p:spPr>
        <p:txBody>
          <a:bodyPr wrap="square" rtlCol="0">
            <a:spAutoFit/>
          </a:bodyPr>
          <a:lstStyle/>
          <a:p>
            <a:pPr marL="342900" indent="-342900">
              <a:buAutoNum type="arabicPeriod"/>
            </a:pPr>
            <a:r>
              <a:rPr lang="en-US" sz="2800" dirty="0"/>
              <a:t>App complexity</a:t>
            </a:r>
            <a:endParaRPr lang="en-US" sz="2800" dirty="0"/>
          </a:p>
          <a:p>
            <a:pPr marL="342900" indent="-342900">
              <a:buAutoNum type="arabicPeriod"/>
            </a:pPr>
            <a:r>
              <a:rPr lang="en-US" sz="2800" dirty="0"/>
              <a:t>Platform choice</a:t>
            </a:r>
            <a:endParaRPr lang="en-US" sz="2800" dirty="0"/>
          </a:p>
          <a:p>
            <a:pPr marL="342900" indent="-342900">
              <a:buAutoNum type="arabicPeriod"/>
            </a:pPr>
            <a:r>
              <a:rPr lang="en-US" sz="2800" dirty="0"/>
              <a:t>Features the application may contain:</a:t>
            </a:r>
            <a:endParaRPr lang="en-US" sz="2800" dirty="0"/>
          </a:p>
          <a:p>
            <a:r>
              <a:rPr lang="en-US" sz="2800" dirty="0"/>
              <a:t>       User Authentication, Payment Integration, Chat/Messaging system, </a:t>
            </a:r>
            <a:r>
              <a:rPr lang="en-US" sz="2800" dirty="0" err="1"/>
              <a:t>etc</a:t>
            </a:r>
            <a:endParaRPr lang="en-US" sz="2800" dirty="0"/>
          </a:p>
          <a:p>
            <a:r>
              <a:rPr lang="en-US" sz="2800" dirty="0"/>
              <a:t>4. Team structure </a:t>
            </a:r>
            <a:endParaRPr lang="en-US" sz="2800" dirty="0"/>
          </a:p>
          <a:p>
            <a:r>
              <a:rPr lang="en-US" sz="2800" dirty="0"/>
              <a:t>5. Development time: Time is directly proportional to cost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5790" y="1714499"/>
            <a:ext cx="9475470" cy="2290763"/>
          </a:xfrm>
        </p:spPr>
        <p:txBody>
          <a:bodyPr>
            <a:normAutofit fontScale="92500" lnSpcReduction="10000"/>
          </a:bodyPr>
          <a:lstStyle/>
          <a:p>
            <a:pPr marL="514350" indent="-514350">
              <a:buAutoNum type="alphaLcPeriod"/>
            </a:pPr>
            <a:r>
              <a:rPr lang="en-US" dirty="0"/>
              <a:t>Expert Judgment: Usually when someone who has done it before and with a high success rate.</a:t>
            </a:r>
            <a:endParaRPr lang="en-US" dirty="0"/>
          </a:p>
          <a:p>
            <a:pPr marL="514350" indent="-514350">
              <a:buAutoNum type="alphaLcPeriod"/>
            </a:pPr>
            <a:r>
              <a:rPr lang="en-US" dirty="0"/>
              <a:t>Analogous Estimation: Comparing it to similar already existing apps.</a:t>
            </a:r>
            <a:endParaRPr lang="en-US" dirty="0"/>
          </a:p>
          <a:p>
            <a:pPr marL="514350" indent="-514350">
              <a:buAutoNum type="alphaLcPeriod"/>
            </a:pPr>
            <a:r>
              <a:rPr lang="en-US" dirty="0"/>
              <a:t>Bottom-Up Estimation: Breaking the project into smaller components and estimating each part independently.  </a:t>
            </a:r>
            <a:endParaRPr lang="en-US" dirty="0"/>
          </a:p>
        </p:txBody>
      </p:sp>
      <p:sp>
        <p:nvSpPr>
          <p:cNvPr id="4" name="Oval 3"/>
          <p:cNvSpPr/>
          <p:nvPr/>
        </p:nvSpPr>
        <p:spPr>
          <a:xfrm>
            <a:off x="297180" y="594360"/>
            <a:ext cx="4183380" cy="75438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Estimation Techniques</a:t>
            </a:r>
            <a:endParaRPr lang="en-US" sz="2800" b="1" dirty="0"/>
          </a:p>
        </p:txBody>
      </p:sp>
      <p:sp>
        <p:nvSpPr>
          <p:cNvPr id="5" name="Oval 4"/>
          <p:cNvSpPr/>
          <p:nvPr/>
        </p:nvSpPr>
        <p:spPr>
          <a:xfrm>
            <a:off x="6440725" y="4094321"/>
            <a:ext cx="4183380" cy="75438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Hidden Costs</a:t>
            </a:r>
            <a:endParaRPr lang="en-US" sz="2800" b="1" dirty="0"/>
          </a:p>
        </p:txBody>
      </p:sp>
      <p:sp>
        <p:nvSpPr>
          <p:cNvPr id="6" name="TextBox 5"/>
          <p:cNvSpPr txBox="1"/>
          <p:nvPr/>
        </p:nvSpPr>
        <p:spPr>
          <a:xfrm>
            <a:off x="1508760" y="4937760"/>
            <a:ext cx="8572500" cy="1200329"/>
          </a:xfrm>
          <a:prstGeom prst="rect">
            <a:avLst/>
          </a:prstGeom>
          <a:noFill/>
        </p:spPr>
        <p:txBody>
          <a:bodyPr wrap="square" rtlCol="0">
            <a:spAutoFit/>
          </a:bodyPr>
          <a:lstStyle/>
          <a:p>
            <a:r>
              <a:rPr lang="en-US" dirty="0"/>
              <a:t>This are the indirect cost experienced throughout the Lifecycle of the project</a:t>
            </a:r>
            <a:endParaRPr lang="en-US" dirty="0"/>
          </a:p>
          <a:p>
            <a:pPr marL="285750" indent="-285750">
              <a:buFont typeface="Wingdings" panose="05000000000000000000" pitchFamily="2" charset="2"/>
              <a:buChar char="ü"/>
            </a:pPr>
            <a:r>
              <a:rPr lang="en-US" dirty="0"/>
              <a:t>Maintenance</a:t>
            </a:r>
            <a:endParaRPr lang="en-US" dirty="0"/>
          </a:p>
          <a:p>
            <a:pPr marL="285750" indent="-285750">
              <a:buFont typeface="Wingdings" panose="05000000000000000000" pitchFamily="2" charset="2"/>
              <a:buChar char="ü"/>
            </a:pPr>
            <a:r>
              <a:rPr lang="en-US" dirty="0"/>
              <a:t>Server hosting</a:t>
            </a:r>
            <a:endParaRPr lang="en-US" dirty="0"/>
          </a:p>
          <a:p>
            <a:pPr marL="285750" indent="-285750">
              <a:buFont typeface="Wingdings" panose="05000000000000000000" pitchFamily="2" charset="2"/>
              <a:buChar char="ü"/>
            </a:pPr>
            <a:r>
              <a:rPr lang="en-US" dirty="0"/>
              <a:t>App store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61350"/>
            <a:ext cx="10515600" cy="1325563"/>
          </a:xfrm>
        </p:spPr>
        <p:txBody>
          <a:bodyPr/>
          <a:lstStyle/>
          <a:p>
            <a:r>
              <a:rPr lang="en-US" dirty="0">
                <a:solidFill>
                  <a:srgbClr val="C00000"/>
                </a:solidFill>
                <a:effectLst>
                  <a:outerShdw blurRad="38100" dist="38100" dir="2700000" algn="tl">
                    <a:srgbClr val="000000">
                      <a:alpha val="43137"/>
                    </a:srgbClr>
                  </a:outerShdw>
                </a:effectLst>
              </a:rPr>
              <a:t>Thank you for your keen attention…</a:t>
            </a:r>
            <a:endParaRPr lang="en-US"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6185</Words>
  <Application>WPS Presentation</Application>
  <PresentationFormat>Widescreen</PresentationFormat>
  <Paragraphs>183</Paragraphs>
  <Slides>13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Arial</vt:lpstr>
      <vt:lpstr>SimSun</vt:lpstr>
      <vt:lpstr>Wingdings</vt:lpstr>
      <vt:lpstr>Times New Roman</vt:lpstr>
      <vt:lpstr>Calibri Light</vt:lpstr>
      <vt:lpstr>Calibri</vt:lpstr>
      <vt:lpstr>Microsoft YaHei</vt:lpstr>
      <vt:lpstr>Arial Unicode MS</vt:lpstr>
      <vt:lpstr>Office Theme</vt:lpstr>
      <vt:lpstr>PowerPoint 演示文稿</vt:lpstr>
      <vt:lpstr>Objectives:</vt:lpstr>
      <vt:lpstr>Mobile Applications</vt:lpstr>
      <vt:lpstr>Types of Applications</vt:lpstr>
      <vt:lpstr>Mobile App Programming Languages</vt:lpstr>
      <vt:lpstr>Mobile App Development Frameworks: </vt:lpstr>
      <vt:lpstr>PowerPoint 演示文稿</vt:lpstr>
      <vt:lpstr>Mobile App Architectures and Design Patterns: </vt:lpstr>
      <vt:lpstr>Requirement Engineering Process </vt:lpstr>
      <vt:lpstr>PowerPoint 演示文稿</vt:lpstr>
      <vt:lpstr>Mobile App Development Cost Estimation: </vt:lpstr>
      <vt:lpstr>PowerPoint 演示文稿</vt:lpstr>
      <vt:lpstr>Thank you for your keen attention…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ECHUNDIP EBENETA</dc:creator>
  <cp:lastModifiedBy>ebene</cp:lastModifiedBy>
  <cp:revision>3</cp:revision>
  <dcterms:created xsi:type="dcterms:W3CDTF">2026-04-07T01:57:00Z</dcterms:created>
  <dcterms:modified xsi:type="dcterms:W3CDTF">2026-04-07T02:14:02Z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EB425C6D94EB48DEAC6466DDD98B9735_12</vt:lpwstr>
  </property>
  <property fmtid="{D5CDD505-2E9C-101B-9397-08002B2CF9AE}" pid="3" name="KSOProductBuildVer">
    <vt:lpwstr>2057-12.2.0.23196</vt:lpwstr>
  </property>
</Properties>
</file>